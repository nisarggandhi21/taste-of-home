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57"/>
  </p:notesMasterIdLst>
  <p:sldIdLst>
    <p:sldId id="256" r:id="rId9"/>
    <p:sldId id="257" r:id="rId10"/>
    <p:sldId id="285" r:id="rId11"/>
    <p:sldId id="284" r:id="rId12"/>
    <p:sldId id="259" r:id="rId13"/>
    <p:sldId id="260" r:id="rId14"/>
    <p:sldId id="303" r:id="rId15"/>
    <p:sldId id="261" r:id="rId16"/>
    <p:sldId id="288" r:id="rId17"/>
    <p:sldId id="287" r:id="rId18"/>
    <p:sldId id="289" r:id="rId19"/>
    <p:sldId id="286" r:id="rId20"/>
    <p:sldId id="263" r:id="rId21"/>
    <p:sldId id="264" r:id="rId22"/>
    <p:sldId id="265" r:id="rId23"/>
    <p:sldId id="272" r:id="rId24"/>
    <p:sldId id="266" r:id="rId25"/>
    <p:sldId id="267" r:id="rId26"/>
    <p:sldId id="268" r:id="rId27"/>
    <p:sldId id="269" r:id="rId28"/>
    <p:sldId id="275" r:id="rId29"/>
    <p:sldId id="276" r:id="rId30"/>
    <p:sldId id="297" r:id="rId31"/>
    <p:sldId id="298" r:id="rId32"/>
    <p:sldId id="299" r:id="rId33"/>
    <p:sldId id="300" r:id="rId34"/>
    <p:sldId id="304" r:id="rId35"/>
    <p:sldId id="305" r:id="rId36"/>
    <p:sldId id="306" r:id="rId37"/>
    <p:sldId id="307" r:id="rId38"/>
    <p:sldId id="308" r:id="rId39"/>
    <p:sldId id="309" r:id="rId40"/>
    <p:sldId id="310" r:id="rId41"/>
    <p:sldId id="311" r:id="rId42"/>
    <p:sldId id="312" r:id="rId43"/>
    <p:sldId id="313" r:id="rId44"/>
    <p:sldId id="314" r:id="rId45"/>
    <p:sldId id="315" r:id="rId46"/>
    <p:sldId id="316" r:id="rId47"/>
    <p:sldId id="317" r:id="rId48"/>
    <p:sldId id="318" r:id="rId49"/>
    <p:sldId id="319" r:id="rId50"/>
    <p:sldId id="320" r:id="rId51"/>
    <p:sldId id="290" r:id="rId52"/>
    <p:sldId id="301" r:id="rId53"/>
    <p:sldId id="321" r:id="rId54"/>
    <p:sldId id="322" r:id="rId55"/>
    <p:sldId id="271" r:id="rId56"/>
  </p:sldIdLst>
  <p:sldSz cx="19010313" cy="10693400"/>
  <p:notesSz cx="7556500" cy="10693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8" roundtripDataSignature="AMtx7mjn1jvKmrymfdZTSoBjtkdAZ6/ov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0C9CE97-CE7F-44E7-8DA9-80F1B485C8E6}">
  <a:tblStyle styleId="{20C9CE97-CE7F-44E7-8DA9-80F1B485C8E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17" autoAdjust="0"/>
    <p:restoredTop sz="60261" autoAdjust="0"/>
  </p:normalViewPr>
  <p:slideViewPr>
    <p:cSldViewPr snapToGrid="0">
      <p:cViewPr varScale="1">
        <p:scale>
          <a:sx n="31" d="100"/>
          <a:sy n="31" d="100"/>
        </p:scale>
        <p:origin x="43" y="7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9" Type="http://schemas.openxmlformats.org/officeDocument/2006/relationships/slide" Target="slides/slide31.xml"/><Relationship Id="rId21" Type="http://schemas.openxmlformats.org/officeDocument/2006/relationships/slide" Target="slides/slide13.xml"/><Relationship Id="rId34" Type="http://schemas.openxmlformats.org/officeDocument/2006/relationships/slide" Target="slides/slide26.xml"/><Relationship Id="rId42" Type="http://schemas.openxmlformats.org/officeDocument/2006/relationships/slide" Target="slides/slide34.xml"/><Relationship Id="rId47" Type="http://schemas.openxmlformats.org/officeDocument/2006/relationships/slide" Target="slides/slide39.xml"/><Relationship Id="rId50" Type="http://schemas.openxmlformats.org/officeDocument/2006/relationships/slide" Target="slides/slide42.xml"/><Relationship Id="rId55" Type="http://schemas.openxmlformats.org/officeDocument/2006/relationships/slide" Target="slides/slide47.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customschemas.google.com/relationships/presentationmetadata" Target="metadata"/><Relationship Id="rId5" Type="http://schemas.openxmlformats.org/officeDocument/2006/relationships/slideMaster" Target="slideMasters/slideMaster5.xml"/><Relationship Id="rId61" Type="http://schemas.openxmlformats.org/officeDocument/2006/relationships/theme" Target="theme/theme1.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8" Type="http://schemas.openxmlformats.org/officeDocument/2006/relationships/slideMaster" Target="slideMasters/slideMaster8.xml"/><Relationship Id="rId51" Type="http://schemas.openxmlformats.org/officeDocument/2006/relationships/slide" Target="slides/slide43.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presProps" Target="presProps.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notesMaster" Target="notesMasters/notesMaster1.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000" y="812520"/>
            <a:ext cx="7127280" cy="40089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756000" y="5078520"/>
            <a:ext cx="6047640" cy="481104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5" name="Google Shape;5;n"/>
          <p:cNvSpPr txBox="1">
            <a:spLocks noGrp="1"/>
          </p:cNvSpPr>
          <p:nvPr>
            <p:ph type="hdr" idx="3"/>
          </p:nvPr>
        </p:nvSpPr>
        <p:spPr>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6" name="Google Shape;6;n"/>
          <p:cNvSpPr txBox="1">
            <a:spLocks noGrp="1"/>
          </p:cNvSpPr>
          <p:nvPr>
            <p:ph type="dt" idx="10"/>
          </p:nvPr>
        </p:nvSpPr>
        <p:spPr>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SzPts val="1400"/>
              <a:buFont typeface="Times New Roman"/>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SzPts val="1400"/>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a:latin typeface="Times New Roman"/>
                <a:ea typeface="Times New Roman"/>
                <a:cs typeface="Times New Roman"/>
                <a:sym typeface="Times New Roman"/>
              </a:rPr>
              <a:t>‹#›</a:t>
            </a:fld>
            <a:endParaRPr sz="1400" b="0" i="0" u="none" strike="noStrike" cap="none">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1:notes"/>
          <p:cNvSpPr>
            <a:spLocks noGrp="1" noRot="1" noChangeAspect="1"/>
          </p:cNvSpPr>
          <p:nvPr>
            <p:ph type="sldImg" idx="2"/>
          </p:nvPr>
        </p:nvSpPr>
        <p:spPr>
          <a:xfrm>
            <a:off x="571500" y="1336675"/>
            <a:ext cx="6413500" cy="36068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9" name="Google Shape;569;p1:notes"/>
          <p:cNvSpPr txBox="1">
            <a:spLocks noGrp="1"/>
          </p:cNvSpPr>
          <p:nvPr>
            <p:ph type="body" idx="1"/>
          </p:nvPr>
        </p:nvSpPr>
        <p:spPr>
          <a:xfrm>
            <a:off x="755640" y="5146560"/>
            <a:ext cx="6044400" cy="420948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endParaRPr sz="2000" b="0" strike="noStrike" dirty="0">
              <a:latin typeface="Arial"/>
              <a:ea typeface="Arial"/>
              <a:cs typeface="Arial"/>
              <a:sym typeface="Arial"/>
            </a:endParaRPr>
          </a:p>
        </p:txBody>
      </p:sp>
      <p:sp>
        <p:nvSpPr>
          <p:cNvPr id="570" name="Google Shape;570;p1:notes"/>
          <p:cNvSpPr txBox="1">
            <a:spLocks noGrp="1"/>
          </p:cNvSpPr>
          <p:nvPr>
            <p:ph type="sldNum" idx="12"/>
          </p:nvPr>
        </p:nvSpPr>
        <p:spPr>
          <a:xfrm>
            <a:off x="4280040" y="10156680"/>
            <a:ext cx="3274200" cy="5356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SzPts val="1200"/>
              <a:buFont typeface="Times New Roman"/>
              <a:buNone/>
            </a:pPr>
            <a:fld id="{00000000-1234-1234-1234-123412341234}" type="slidenum">
              <a:rPr lang="en-US" sz="1200" b="0" i="0" u="none" strike="noStrike" cap="none">
                <a:latin typeface="Times New Roman"/>
                <a:ea typeface="Times New Roman"/>
                <a:cs typeface="Times New Roman"/>
                <a:sym typeface="Times New Roman"/>
              </a:rPr>
              <a:t>1</a:t>
            </a:fld>
            <a:endParaRPr sz="1200" b="0" i="0" u="none" strike="noStrike" cap="none">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p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Intro</a:t>
            </a:r>
          </a:p>
          <a:p>
            <a:pPr marL="0" lvl="0" indent="0" algn="l" rtl="0">
              <a:spcBef>
                <a:spcPts val="0"/>
              </a:spcBef>
              <a:spcAft>
                <a:spcPts val="0"/>
              </a:spcAft>
              <a:buNone/>
            </a:pPr>
            <a:r>
              <a:rPr lang="en-IN" dirty="0"/>
              <a:t>Key features </a:t>
            </a:r>
          </a:p>
          <a:p>
            <a:pPr marL="0" lvl="0" indent="0" algn="l" rtl="0">
              <a:spcBef>
                <a:spcPts val="0"/>
              </a:spcBef>
              <a:spcAft>
                <a:spcPts val="0"/>
              </a:spcAft>
              <a:buNone/>
            </a:pPr>
            <a:r>
              <a:rPr lang="en-IN" dirty="0"/>
              <a:t>Aims – reduce food waste and contribute to local economies since it supply on demand model</a:t>
            </a:r>
            <a:endParaRPr dirty="0"/>
          </a:p>
        </p:txBody>
      </p:sp>
      <p:sp>
        <p:nvSpPr>
          <p:cNvPr id="588" name="Google Shape;588;p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p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limited connectivity</a:t>
            </a:r>
          </a:p>
          <a:p>
            <a:pPr marL="0" lvl="0" indent="0" algn="l" rtl="0">
              <a:spcBef>
                <a:spcPts val="0"/>
              </a:spcBef>
              <a:spcAft>
                <a:spcPts val="0"/>
              </a:spcAft>
              <a:buNone/>
            </a:pPr>
            <a:r>
              <a:rPr lang="en-IN" dirty="0"/>
              <a:t>Underutilized culinary talents</a:t>
            </a:r>
          </a:p>
          <a:p>
            <a:pPr marL="0" lvl="0" indent="0" algn="l" rtl="0">
              <a:spcBef>
                <a:spcPts val="0"/>
              </a:spcBef>
              <a:spcAft>
                <a:spcPts val="0"/>
              </a:spcAft>
              <a:buNone/>
            </a:pPr>
            <a:r>
              <a:rPr lang="en-IN" dirty="0"/>
              <a:t>Food waste in traditional supply chain</a:t>
            </a:r>
            <a:endParaRPr dirty="0"/>
          </a:p>
        </p:txBody>
      </p:sp>
      <p:sp>
        <p:nvSpPr>
          <p:cNvPr id="601" name="Google Shape;601;p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48363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r>
              <a:rPr lang="en-IN" dirty="0"/>
              <a:t>Digital bridge and connectivity</a:t>
            </a:r>
          </a:p>
          <a:p>
            <a:r>
              <a:rPr lang="en-IN" dirty="0"/>
              <a:t>Supply on demand model</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smtClean="0">
                <a:latin typeface="Times New Roman"/>
                <a:ea typeface="Times New Roman"/>
                <a:cs typeface="Times New Roman"/>
                <a:sym typeface="Times New Roman"/>
              </a:rPr>
              <a:t>4</a:t>
            </a:fld>
            <a:endParaRPr lang="en-US" sz="1400" b="0" i="0" u="none" strike="noStrike" cap="none">
              <a:latin typeface="Times New Roman"/>
              <a:ea typeface="Times New Roman"/>
              <a:cs typeface="Times New Roman"/>
              <a:sym typeface="Times New Roman"/>
            </a:endParaRPr>
          </a:p>
        </p:txBody>
      </p:sp>
    </p:spTree>
    <p:extLst>
      <p:ext uri="{BB962C8B-B14F-4D97-AF65-F5344CB8AC3E}">
        <p14:creationId xmlns:p14="http://schemas.microsoft.com/office/powerpoint/2010/main" val="30921920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p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4" name="Google Shape;614;p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Ecosystem and promoting local culinary talents</a:t>
            </a:r>
          </a:p>
          <a:p>
            <a:pPr marL="0" lvl="0" indent="0" algn="l" rtl="0">
              <a:spcBef>
                <a:spcPts val="0"/>
              </a:spcBef>
              <a:spcAft>
                <a:spcPts val="0"/>
              </a:spcAft>
              <a:buNone/>
            </a:pPr>
            <a:r>
              <a:rPr lang="en-IN" dirty="0"/>
              <a:t>And address critical issues</a:t>
            </a:r>
            <a:endParaRPr dirty="0"/>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survey</a:t>
            </a:r>
            <a:endParaRPr dirty="0"/>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35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Food delivery</a:t>
            </a:r>
          </a:p>
          <a:p>
            <a:pPr marL="0" lvl="0" indent="0" algn="l" rtl="0">
              <a:spcBef>
                <a:spcPts val="0"/>
              </a:spcBef>
              <a:spcAft>
                <a:spcPts val="0"/>
              </a:spcAft>
              <a:buNone/>
            </a:pPr>
            <a:r>
              <a:rPr lang="en-IN" dirty="0"/>
              <a:t>Need of nutritious and healthy food options</a:t>
            </a:r>
          </a:p>
          <a:p>
            <a:pPr marL="0" lvl="0" indent="0" algn="l" rtl="0">
              <a:spcBef>
                <a:spcPts val="0"/>
              </a:spcBef>
              <a:spcAft>
                <a:spcPts val="0"/>
              </a:spcAft>
              <a:buNone/>
            </a:pPr>
            <a:r>
              <a:rPr lang="en-IN" dirty="0"/>
              <a:t>Purpose – web service that aims to offer quality food at reasonable price</a:t>
            </a:r>
          </a:p>
          <a:p>
            <a:pPr marL="0" lvl="0" indent="0" algn="l" rtl="0">
              <a:spcBef>
                <a:spcPts val="0"/>
              </a:spcBef>
              <a:spcAft>
                <a:spcPts val="0"/>
              </a:spcAft>
              <a:buNone/>
            </a:pPr>
            <a:r>
              <a:rPr lang="en-IN" dirty="0"/>
              <a:t>System include – database </a:t>
            </a:r>
            <a:r>
              <a:rPr lang="en-IN" dirty="0" err="1"/>
              <a:t>design,user</a:t>
            </a:r>
            <a:r>
              <a:rPr lang="en-IN" dirty="0"/>
              <a:t> interface, payment </a:t>
            </a:r>
            <a:r>
              <a:rPr lang="en-IN" dirty="0" err="1"/>
              <a:t>methods,order</a:t>
            </a:r>
            <a:r>
              <a:rPr lang="en-IN" dirty="0"/>
              <a:t> </a:t>
            </a:r>
            <a:r>
              <a:rPr lang="en-IN" dirty="0" err="1"/>
              <a:t>tracking,process</a:t>
            </a:r>
            <a:r>
              <a:rPr lang="en-IN" dirty="0"/>
              <a:t> diagram</a:t>
            </a: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Food ordering website using </a:t>
            </a:r>
            <a:r>
              <a:rPr lang="en-IN" dirty="0" err="1"/>
              <a:t>mern</a:t>
            </a:r>
            <a:r>
              <a:rPr lang="en-IN" dirty="0"/>
              <a:t> stack</a:t>
            </a:r>
          </a:p>
          <a:p>
            <a:pPr marL="0" lvl="0" indent="0" algn="l" rtl="0">
              <a:spcBef>
                <a:spcPts val="0"/>
              </a:spcBef>
              <a:spcAft>
                <a:spcPts val="0"/>
              </a:spcAft>
              <a:buNone/>
            </a:pPr>
            <a:r>
              <a:rPr lang="en-IN" dirty="0"/>
              <a:t>Digital platform for home makers and restaurant owners</a:t>
            </a:r>
          </a:p>
          <a:p>
            <a:pPr marL="0" lvl="0" indent="0" algn="l" rtl="0">
              <a:spcBef>
                <a:spcPts val="0"/>
              </a:spcBef>
              <a:spcAft>
                <a:spcPts val="0"/>
              </a:spcAft>
              <a:buNone/>
            </a:pPr>
            <a:r>
              <a:rPr lang="en-IN" dirty="0"/>
              <a:t>Design and implementation of website</a:t>
            </a:r>
          </a:p>
          <a:p>
            <a:pPr marL="0" lvl="0" indent="0" algn="l" rtl="0">
              <a:spcBef>
                <a:spcPts val="0"/>
              </a:spcBef>
              <a:spcAft>
                <a:spcPts val="0"/>
              </a:spcAft>
              <a:buNone/>
            </a:pPr>
            <a:r>
              <a:rPr lang="en-IN" dirty="0"/>
              <a:t>Customer payment </a:t>
            </a:r>
            <a:r>
              <a:rPr lang="en-IN" dirty="0" err="1"/>
              <a:t>gateway,order</a:t>
            </a:r>
            <a:r>
              <a:rPr lang="en-IN" dirty="0"/>
              <a:t> management and generating </a:t>
            </a:r>
            <a:r>
              <a:rPr lang="en-IN" dirty="0" err="1"/>
              <a:t>biilss</a:t>
            </a:r>
            <a:r>
              <a:rPr lang="en-IN" dirty="0"/>
              <a:t> and invoice</a:t>
            </a: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80970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dirty="0"/>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0725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55971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68375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8: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66" name="Google Shape;666;p8: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p9: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81" name="Google Shape;681;p9: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634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1: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1" name="Google Shape;711;p11: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1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5" name="Google Shape;725;p1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0" name="Google Shape;740;p1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81297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0308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86606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5624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20084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5549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05269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1340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636786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68561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78956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55368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2264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48767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10665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66067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26763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94908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9787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43265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75513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95708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99361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796280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11617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29989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27427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1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3" name="Google Shape;783;p1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4"/>
        <p:cNvGrpSpPr/>
        <p:nvPr/>
      </p:nvGrpSpPr>
      <p:grpSpPr>
        <a:xfrm>
          <a:off x="0" y="0"/>
          <a:ext cx="0" cy="0"/>
          <a:chOff x="0" y="0"/>
          <a:chExt cx="0" cy="0"/>
        </a:xfrm>
      </p:grpSpPr>
      <p:sp>
        <p:nvSpPr>
          <p:cNvPr id="25" name="Google Shape;25;p3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
        <p:cNvGrpSpPr/>
        <p:nvPr/>
      </p:nvGrpSpPr>
      <p:grpSpPr>
        <a:xfrm>
          <a:off x="0" y="0"/>
          <a:ext cx="0" cy="0"/>
          <a:chOff x="0" y="0"/>
          <a:chExt cx="0" cy="0"/>
        </a:xfrm>
      </p:grpSpPr>
      <p:sp>
        <p:nvSpPr>
          <p:cNvPr id="28" name="Google Shape;28;p3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0"/>
        <p:cNvGrpSpPr/>
        <p:nvPr/>
      </p:nvGrpSpPr>
      <p:grpSpPr>
        <a:xfrm>
          <a:off x="0" y="0"/>
          <a:ext cx="0" cy="0"/>
          <a:chOff x="0" y="0"/>
          <a:chExt cx="0" cy="0"/>
        </a:xfrm>
      </p:grpSpPr>
      <p:sp>
        <p:nvSpPr>
          <p:cNvPr id="31" name="Google Shape;31;p3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3" name="Google Shape;33;p3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6"/>
        <p:cNvGrpSpPr/>
        <p:nvPr/>
      </p:nvGrpSpPr>
      <p:grpSpPr>
        <a:xfrm>
          <a:off x="0" y="0"/>
          <a:ext cx="0" cy="0"/>
          <a:chOff x="0" y="0"/>
          <a:chExt cx="0" cy="0"/>
        </a:xfrm>
      </p:grpSpPr>
      <p:sp>
        <p:nvSpPr>
          <p:cNvPr id="37" name="Google Shape;37;p39"/>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8"/>
        <p:cNvGrpSpPr/>
        <p:nvPr/>
      </p:nvGrpSpPr>
      <p:grpSpPr>
        <a:xfrm>
          <a:off x="0" y="0"/>
          <a:ext cx="0" cy="0"/>
          <a:chOff x="0" y="0"/>
          <a:chExt cx="0" cy="0"/>
        </a:xfrm>
      </p:grpSpPr>
      <p:sp>
        <p:nvSpPr>
          <p:cNvPr id="39" name="Google Shape;39;p4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4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4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 name="Google Shape;42;p4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3"/>
        <p:cNvGrpSpPr/>
        <p:nvPr/>
      </p:nvGrpSpPr>
      <p:grpSpPr>
        <a:xfrm>
          <a:off x="0" y="0"/>
          <a:ext cx="0" cy="0"/>
          <a:chOff x="0" y="0"/>
          <a:chExt cx="0" cy="0"/>
        </a:xfrm>
      </p:grpSpPr>
      <p:sp>
        <p:nvSpPr>
          <p:cNvPr id="44" name="Google Shape;44;p4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4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4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41"/>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
        <p:cNvGrpSpPr/>
        <p:nvPr/>
      </p:nvGrpSpPr>
      <p:grpSpPr>
        <a:xfrm>
          <a:off x="0" y="0"/>
          <a:ext cx="0" cy="0"/>
          <a:chOff x="0" y="0"/>
          <a:chExt cx="0" cy="0"/>
        </a:xfrm>
      </p:grpSpPr>
      <p:sp>
        <p:nvSpPr>
          <p:cNvPr id="49" name="Google Shape;49;p4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4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1" name="Google Shape;51;p4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2" name="Google Shape;52;p42"/>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53"/>
        <p:cNvGrpSpPr/>
        <p:nvPr/>
      </p:nvGrpSpPr>
      <p:grpSpPr>
        <a:xfrm>
          <a:off x="0" y="0"/>
          <a:ext cx="0" cy="0"/>
          <a:chOff x="0" y="0"/>
          <a:chExt cx="0" cy="0"/>
        </a:xfrm>
      </p:grpSpPr>
      <p:sp>
        <p:nvSpPr>
          <p:cNvPr id="54" name="Google Shape;54;p4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43"/>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6" name="Google Shape;56;p43"/>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7"/>
        <p:cNvGrpSpPr/>
        <p:nvPr/>
      </p:nvGrpSpPr>
      <p:grpSpPr>
        <a:xfrm>
          <a:off x="0" y="0"/>
          <a:ext cx="0" cy="0"/>
          <a:chOff x="0" y="0"/>
          <a:chExt cx="0" cy="0"/>
        </a:xfrm>
      </p:grpSpPr>
      <p:sp>
        <p:nvSpPr>
          <p:cNvPr id="58" name="Google Shape;58;p4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0" name="Google Shape;60;p4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1" name="Google Shape;61;p4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2" name="Google Shape;62;p44"/>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63"/>
        <p:cNvGrpSpPr/>
        <p:nvPr/>
      </p:nvGrpSpPr>
      <p:grpSpPr>
        <a:xfrm>
          <a:off x="0" y="0"/>
          <a:ext cx="0" cy="0"/>
          <a:chOff x="0" y="0"/>
          <a:chExt cx="0" cy="0"/>
        </a:xfrm>
      </p:grpSpPr>
      <p:sp>
        <p:nvSpPr>
          <p:cNvPr id="64" name="Google Shape;64;p4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45"/>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6" name="Google Shape;66;p45"/>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7" name="Google Shape;67;p45"/>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8" name="Google Shape;68;p45"/>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9" name="Google Shape;69;p45"/>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70" name="Google Shape;70;p45"/>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5"/>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6"/>
        <p:cNvGrpSpPr/>
        <p:nvPr/>
      </p:nvGrpSpPr>
      <p:grpSpPr>
        <a:xfrm>
          <a:off x="0" y="0"/>
          <a:ext cx="0" cy="0"/>
          <a:chOff x="0" y="0"/>
          <a:chExt cx="0" cy="0"/>
        </a:xfrm>
      </p:grpSpPr>
      <p:sp>
        <p:nvSpPr>
          <p:cNvPr id="87" name="Google Shape;87;p4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6"/>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89"/>
        <p:cNvGrpSpPr/>
        <p:nvPr/>
      </p:nvGrpSpPr>
      <p:grpSpPr>
        <a:xfrm>
          <a:off x="0" y="0"/>
          <a:ext cx="0" cy="0"/>
          <a:chOff x="0" y="0"/>
          <a:chExt cx="0" cy="0"/>
        </a:xfrm>
      </p:grpSpPr>
      <p:sp>
        <p:nvSpPr>
          <p:cNvPr id="90" name="Google Shape;90;p4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4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2"/>
        <p:cNvGrpSpPr/>
        <p:nvPr/>
      </p:nvGrpSpPr>
      <p:grpSpPr>
        <a:xfrm>
          <a:off x="0" y="0"/>
          <a:ext cx="0" cy="0"/>
          <a:chOff x="0" y="0"/>
          <a:chExt cx="0" cy="0"/>
        </a:xfrm>
      </p:grpSpPr>
      <p:sp>
        <p:nvSpPr>
          <p:cNvPr id="93" name="Google Shape;93;p4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4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95" name="Google Shape;95;p48"/>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6"/>
        <p:cNvGrpSpPr/>
        <p:nvPr/>
      </p:nvGrpSpPr>
      <p:grpSpPr>
        <a:xfrm>
          <a:off x="0" y="0"/>
          <a:ext cx="0" cy="0"/>
          <a:chOff x="0" y="0"/>
          <a:chExt cx="0" cy="0"/>
        </a:xfrm>
      </p:grpSpPr>
      <p:sp>
        <p:nvSpPr>
          <p:cNvPr id="97" name="Google Shape;97;p4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98"/>
        <p:cNvGrpSpPr/>
        <p:nvPr/>
      </p:nvGrpSpPr>
      <p:grpSpPr>
        <a:xfrm>
          <a:off x="0" y="0"/>
          <a:ext cx="0" cy="0"/>
          <a:chOff x="0" y="0"/>
          <a:chExt cx="0" cy="0"/>
        </a:xfrm>
      </p:grpSpPr>
      <p:sp>
        <p:nvSpPr>
          <p:cNvPr id="99" name="Google Shape;99;p50"/>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0"/>
        <p:cNvGrpSpPr/>
        <p:nvPr/>
      </p:nvGrpSpPr>
      <p:grpSpPr>
        <a:xfrm>
          <a:off x="0" y="0"/>
          <a:ext cx="0" cy="0"/>
          <a:chOff x="0" y="0"/>
          <a:chExt cx="0" cy="0"/>
        </a:xfrm>
      </p:grpSpPr>
      <p:sp>
        <p:nvSpPr>
          <p:cNvPr id="101" name="Google Shape;101;p5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2" name="Google Shape;102;p5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3" name="Google Shape;103;p5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4" name="Google Shape;104;p5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05"/>
        <p:cNvGrpSpPr/>
        <p:nvPr/>
      </p:nvGrpSpPr>
      <p:grpSpPr>
        <a:xfrm>
          <a:off x="0" y="0"/>
          <a:ext cx="0" cy="0"/>
          <a:chOff x="0" y="0"/>
          <a:chExt cx="0" cy="0"/>
        </a:xfrm>
      </p:grpSpPr>
      <p:sp>
        <p:nvSpPr>
          <p:cNvPr id="106" name="Google Shape;106;p5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5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8" name="Google Shape;108;p5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9" name="Google Shape;109;p52"/>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10"/>
        <p:cNvGrpSpPr/>
        <p:nvPr/>
      </p:nvGrpSpPr>
      <p:grpSpPr>
        <a:xfrm>
          <a:off x="0" y="0"/>
          <a:ext cx="0" cy="0"/>
          <a:chOff x="0" y="0"/>
          <a:chExt cx="0" cy="0"/>
        </a:xfrm>
      </p:grpSpPr>
      <p:sp>
        <p:nvSpPr>
          <p:cNvPr id="111" name="Google Shape;111;p5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5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3" name="Google Shape;113;p5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4" name="Google Shape;114;p53"/>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15"/>
        <p:cNvGrpSpPr/>
        <p:nvPr/>
      </p:nvGrpSpPr>
      <p:grpSpPr>
        <a:xfrm>
          <a:off x="0" y="0"/>
          <a:ext cx="0" cy="0"/>
          <a:chOff x="0" y="0"/>
          <a:chExt cx="0" cy="0"/>
        </a:xfrm>
      </p:grpSpPr>
      <p:sp>
        <p:nvSpPr>
          <p:cNvPr id="116" name="Google Shape;116;p5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54"/>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8" name="Google Shape;118;p54"/>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19"/>
        <p:cNvGrpSpPr/>
        <p:nvPr/>
      </p:nvGrpSpPr>
      <p:grpSpPr>
        <a:xfrm>
          <a:off x="0" y="0"/>
          <a:ext cx="0" cy="0"/>
          <a:chOff x="0" y="0"/>
          <a:chExt cx="0" cy="0"/>
        </a:xfrm>
      </p:grpSpPr>
      <p:sp>
        <p:nvSpPr>
          <p:cNvPr id="120" name="Google Shape;120;p5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5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2" name="Google Shape;122;p5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3" name="Google Shape;123;p5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4" name="Google Shape;124;p55"/>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25"/>
        <p:cNvGrpSpPr/>
        <p:nvPr/>
      </p:nvGrpSpPr>
      <p:grpSpPr>
        <a:xfrm>
          <a:off x="0" y="0"/>
          <a:ext cx="0" cy="0"/>
          <a:chOff x="0" y="0"/>
          <a:chExt cx="0" cy="0"/>
        </a:xfrm>
      </p:grpSpPr>
      <p:sp>
        <p:nvSpPr>
          <p:cNvPr id="126" name="Google Shape;126;p5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p56"/>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8" name="Google Shape;128;p56"/>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9" name="Google Shape;129;p56"/>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0" name="Google Shape;130;p56"/>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1" name="Google Shape;131;p56"/>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2" name="Google Shape;132;p56"/>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7"/>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48"/>
        <p:cNvGrpSpPr/>
        <p:nvPr/>
      </p:nvGrpSpPr>
      <p:grpSpPr>
        <a:xfrm>
          <a:off x="0" y="0"/>
          <a:ext cx="0" cy="0"/>
          <a:chOff x="0" y="0"/>
          <a:chExt cx="0" cy="0"/>
        </a:xfrm>
      </p:grpSpPr>
      <p:sp>
        <p:nvSpPr>
          <p:cNvPr id="149" name="Google Shape;149;p5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0" name="Google Shape;150;p57"/>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1"/>
        <p:cNvGrpSpPr/>
        <p:nvPr/>
      </p:nvGrpSpPr>
      <p:grpSpPr>
        <a:xfrm>
          <a:off x="0" y="0"/>
          <a:ext cx="0" cy="0"/>
          <a:chOff x="0" y="0"/>
          <a:chExt cx="0" cy="0"/>
        </a:xfrm>
      </p:grpSpPr>
      <p:sp>
        <p:nvSpPr>
          <p:cNvPr id="152" name="Google Shape;152;p5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58"/>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4"/>
        <p:cNvGrpSpPr/>
        <p:nvPr/>
      </p:nvGrpSpPr>
      <p:grpSpPr>
        <a:xfrm>
          <a:off x="0" y="0"/>
          <a:ext cx="0" cy="0"/>
          <a:chOff x="0" y="0"/>
          <a:chExt cx="0" cy="0"/>
        </a:xfrm>
      </p:grpSpPr>
      <p:sp>
        <p:nvSpPr>
          <p:cNvPr id="155" name="Google Shape;155;p5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6" name="Google Shape;156;p59"/>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57" name="Google Shape;157;p59"/>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8"/>
        <p:cNvGrpSpPr/>
        <p:nvPr/>
      </p:nvGrpSpPr>
      <p:grpSpPr>
        <a:xfrm>
          <a:off x="0" y="0"/>
          <a:ext cx="0" cy="0"/>
          <a:chOff x="0" y="0"/>
          <a:chExt cx="0" cy="0"/>
        </a:xfrm>
      </p:grpSpPr>
      <p:sp>
        <p:nvSpPr>
          <p:cNvPr id="159" name="Google Shape;159;p6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0"/>
        <p:cNvGrpSpPr/>
        <p:nvPr/>
      </p:nvGrpSpPr>
      <p:grpSpPr>
        <a:xfrm>
          <a:off x="0" y="0"/>
          <a:ext cx="0" cy="0"/>
          <a:chOff x="0" y="0"/>
          <a:chExt cx="0" cy="0"/>
        </a:xfrm>
      </p:grpSpPr>
      <p:sp>
        <p:nvSpPr>
          <p:cNvPr id="161" name="Google Shape;161;p61"/>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2"/>
        <p:cNvGrpSpPr/>
        <p:nvPr/>
      </p:nvGrpSpPr>
      <p:grpSpPr>
        <a:xfrm>
          <a:off x="0" y="0"/>
          <a:ext cx="0" cy="0"/>
          <a:chOff x="0" y="0"/>
          <a:chExt cx="0" cy="0"/>
        </a:xfrm>
      </p:grpSpPr>
      <p:sp>
        <p:nvSpPr>
          <p:cNvPr id="163" name="Google Shape;163;p6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p6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5" name="Google Shape;165;p6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6" name="Google Shape;166;p62"/>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67"/>
        <p:cNvGrpSpPr/>
        <p:nvPr/>
      </p:nvGrpSpPr>
      <p:grpSpPr>
        <a:xfrm>
          <a:off x="0" y="0"/>
          <a:ext cx="0" cy="0"/>
          <a:chOff x="0" y="0"/>
          <a:chExt cx="0" cy="0"/>
        </a:xfrm>
      </p:grpSpPr>
      <p:sp>
        <p:nvSpPr>
          <p:cNvPr id="168" name="Google Shape;168;p6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p6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0" name="Google Shape;170;p6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1" name="Google Shape;171;p63"/>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2"/>
        <p:cNvGrpSpPr/>
        <p:nvPr/>
      </p:nvGrpSpPr>
      <p:grpSpPr>
        <a:xfrm>
          <a:off x="0" y="0"/>
          <a:ext cx="0" cy="0"/>
          <a:chOff x="0" y="0"/>
          <a:chExt cx="0" cy="0"/>
        </a:xfrm>
      </p:grpSpPr>
      <p:sp>
        <p:nvSpPr>
          <p:cNvPr id="173" name="Google Shape;173;p6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4" name="Google Shape;174;p6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5" name="Google Shape;175;p6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6" name="Google Shape;176;p64"/>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77"/>
        <p:cNvGrpSpPr/>
        <p:nvPr/>
      </p:nvGrpSpPr>
      <p:grpSpPr>
        <a:xfrm>
          <a:off x="0" y="0"/>
          <a:ext cx="0" cy="0"/>
          <a:chOff x="0" y="0"/>
          <a:chExt cx="0" cy="0"/>
        </a:xfrm>
      </p:grpSpPr>
      <p:sp>
        <p:nvSpPr>
          <p:cNvPr id="178" name="Google Shape;178;p6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65"/>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0" name="Google Shape;180;p65"/>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1"/>
        <p:cNvGrpSpPr/>
        <p:nvPr/>
      </p:nvGrpSpPr>
      <p:grpSpPr>
        <a:xfrm>
          <a:off x="0" y="0"/>
          <a:ext cx="0" cy="0"/>
          <a:chOff x="0" y="0"/>
          <a:chExt cx="0" cy="0"/>
        </a:xfrm>
      </p:grpSpPr>
      <p:sp>
        <p:nvSpPr>
          <p:cNvPr id="182" name="Google Shape;182;p6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3" name="Google Shape;183;p6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4" name="Google Shape;184;p6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5" name="Google Shape;185;p6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6" name="Google Shape;186;p66"/>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87"/>
        <p:cNvGrpSpPr/>
        <p:nvPr/>
      </p:nvGrpSpPr>
      <p:grpSpPr>
        <a:xfrm>
          <a:off x="0" y="0"/>
          <a:ext cx="0" cy="0"/>
          <a:chOff x="0" y="0"/>
          <a:chExt cx="0" cy="0"/>
        </a:xfrm>
      </p:grpSpPr>
      <p:sp>
        <p:nvSpPr>
          <p:cNvPr id="188" name="Google Shape;188;p6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p67"/>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0" name="Google Shape;190;p67"/>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1" name="Google Shape;191;p67"/>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2" name="Google Shape;192;p67"/>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3" name="Google Shape;193;p67"/>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4" name="Google Shape;194;p67"/>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0"/>
        <p:cNvGrpSpPr/>
        <p:nvPr/>
      </p:nvGrpSpPr>
      <p:grpSpPr>
        <a:xfrm>
          <a:off x="0" y="0"/>
          <a:ext cx="0" cy="0"/>
          <a:chOff x="0" y="0"/>
          <a:chExt cx="0" cy="0"/>
        </a:xfrm>
      </p:grpSpPr>
      <p:sp>
        <p:nvSpPr>
          <p:cNvPr id="211" name="Google Shape;211;p6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2" name="Google Shape;212;p68"/>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3"/>
        <p:cNvGrpSpPr/>
        <p:nvPr/>
      </p:nvGrpSpPr>
      <p:grpSpPr>
        <a:xfrm>
          <a:off x="0" y="0"/>
          <a:ext cx="0" cy="0"/>
          <a:chOff x="0" y="0"/>
          <a:chExt cx="0" cy="0"/>
        </a:xfrm>
      </p:grpSpPr>
      <p:sp>
        <p:nvSpPr>
          <p:cNvPr id="214" name="Google Shape;214;p6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5" name="Google Shape;215;p6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6"/>
        <p:cNvGrpSpPr/>
        <p:nvPr/>
      </p:nvGrpSpPr>
      <p:grpSpPr>
        <a:xfrm>
          <a:off x="0" y="0"/>
          <a:ext cx="0" cy="0"/>
          <a:chOff x="0" y="0"/>
          <a:chExt cx="0" cy="0"/>
        </a:xfrm>
      </p:grpSpPr>
      <p:sp>
        <p:nvSpPr>
          <p:cNvPr id="217" name="Google Shape;217;p7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70"/>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19" name="Google Shape;219;p7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0"/>
        <p:cNvGrpSpPr/>
        <p:nvPr/>
      </p:nvGrpSpPr>
      <p:grpSpPr>
        <a:xfrm>
          <a:off x="0" y="0"/>
          <a:ext cx="0" cy="0"/>
          <a:chOff x="0" y="0"/>
          <a:chExt cx="0" cy="0"/>
        </a:xfrm>
      </p:grpSpPr>
      <p:sp>
        <p:nvSpPr>
          <p:cNvPr id="221" name="Google Shape;221;p7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2"/>
        <p:cNvGrpSpPr/>
        <p:nvPr/>
      </p:nvGrpSpPr>
      <p:grpSpPr>
        <a:xfrm>
          <a:off x="0" y="0"/>
          <a:ext cx="0" cy="0"/>
          <a:chOff x="0" y="0"/>
          <a:chExt cx="0" cy="0"/>
        </a:xfrm>
      </p:grpSpPr>
      <p:sp>
        <p:nvSpPr>
          <p:cNvPr id="223" name="Google Shape;223;p72"/>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4"/>
        <p:cNvGrpSpPr/>
        <p:nvPr/>
      </p:nvGrpSpPr>
      <p:grpSpPr>
        <a:xfrm>
          <a:off x="0" y="0"/>
          <a:ext cx="0" cy="0"/>
          <a:chOff x="0" y="0"/>
          <a:chExt cx="0" cy="0"/>
        </a:xfrm>
      </p:grpSpPr>
      <p:sp>
        <p:nvSpPr>
          <p:cNvPr id="225" name="Google Shape;225;p7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6" name="Google Shape;226;p7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7" name="Google Shape;227;p7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8" name="Google Shape;228;p73"/>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29"/>
        <p:cNvGrpSpPr/>
        <p:nvPr/>
      </p:nvGrpSpPr>
      <p:grpSpPr>
        <a:xfrm>
          <a:off x="0" y="0"/>
          <a:ext cx="0" cy="0"/>
          <a:chOff x="0" y="0"/>
          <a:chExt cx="0" cy="0"/>
        </a:xfrm>
      </p:grpSpPr>
      <p:sp>
        <p:nvSpPr>
          <p:cNvPr id="230" name="Google Shape;230;p7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1" name="Google Shape;231;p7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2" name="Google Shape;232;p7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3" name="Google Shape;233;p74"/>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4"/>
        <p:cNvGrpSpPr/>
        <p:nvPr/>
      </p:nvGrpSpPr>
      <p:grpSpPr>
        <a:xfrm>
          <a:off x="0" y="0"/>
          <a:ext cx="0" cy="0"/>
          <a:chOff x="0" y="0"/>
          <a:chExt cx="0" cy="0"/>
        </a:xfrm>
      </p:grpSpPr>
      <p:sp>
        <p:nvSpPr>
          <p:cNvPr id="235" name="Google Shape;235;p7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7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7" name="Google Shape;237;p7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8" name="Google Shape;238;p75"/>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39"/>
        <p:cNvGrpSpPr/>
        <p:nvPr/>
      </p:nvGrpSpPr>
      <p:grpSpPr>
        <a:xfrm>
          <a:off x="0" y="0"/>
          <a:ext cx="0" cy="0"/>
          <a:chOff x="0" y="0"/>
          <a:chExt cx="0" cy="0"/>
        </a:xfrm>
      </p:grpSpPr>
      <p:sp>
        <p:nvSpPr>
          <p:cNvPr id="240" name="Google Shape;240;p7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76"/>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2" name="Google Shape;242;p76"/>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3"/>
        <p:cNvGrpSpPr/>
        <p:nvPr/>
      </p:nvGrpSpPr>
      <p:grpSpPr>
        <a:xfrm>
          <a:off x="0" y="0"/>
          <a:ext cx="0" cy="0"/>
          <a:chOff x="0" y="0"/>
          <a:chExt cx="0" cy="0"/>
        </a:xfrm>
      </p:grpSpPr>
      <p:sp>
        <p:nvSpPr>
          <p:cNvPr id="244" name="Google Shape;244;p7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7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6" name="Google Shape;246;p7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7" name="Google Shape;247;p7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8" name="Google Shape;248;p77"/>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49"/>
        <p:cNvGrpSpPr/>
        <p:nvPr/>
      </p:nvGrpSpPr>
      <p:grpSpPr>
        <a:xfrm>
          <a:off x="0" y="0"/>
          <a:ext cx="0" cy="0"/>
          <a:chOff x="0" y="0"/>
          <a:chExt cx="0" cy="0"/>
        </a:xfrm>
      </p:grpSpPr>
      <p:sp>
        <p:nvSpPr>
          <p:cNvPr id="250" name="Google Shape;250;p7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78"/>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2" name="Google Shape;252;p78"/>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3" name="Google Shape;253;p78"/>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4" name="Google Shape;254;p78"/>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5" name="Google Shape;255;p78"/>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6" name="Google Shape;256;p78"/>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7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72"/>
        <p:cNvGrpSpPr/>
        <p:nvPr/>
      </p:nvGrpSpPr>
      <p:grpSpPr>
        <a:xfrm>
          <a:off x="0" y="0"/>
          <a:ext cx="0" cy="0"/>
          <a:chOff x="0" y="0"/>
          <a:chExt cx="0" cy="0"/>
        </a:xfrm>
      </p:grpSpPr>
      <p:sp>
        <p:nvSpPr>
          <p:cNvPr id="273" name="Google Shape;273;p7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4" name="Google Shape;274;p79"/>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5"/>
        <p:cNvGrpSpPr/>
        <p:nvPr/>
      </p:nvGrpSpPr>
      <p:grpSpPr>
        <a:xfrm>
          <a:off x="0" y="0"/>
          <a:ext cx="0" cy="0"/>
          <a:chOff x="0" y="0"/>
          <a:chExt cx="0" cy="0"/>
        </a:xfrm>
      </p:grpSpPr>
      <p:sp>
        <p:nvSpPr>
          <p:cNvPr id="276" name="Google Shape;276;p8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7" name="Google Shape;277;p80"/>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78"/>
        <p:cNvGrpSpPr/>
        <p:nvPr/>
      </p:nvGrpSpPr>
      <p:grpSpPr>
        <a:xfrm>
          <a:off x="0" y="0"/>
          <a:ext cx="0" cy="0"/>
          <a:chOff x="0" y="0"/>
          <a:chExt cx="0" cy="0"/>
        </a:xfrm>
      </p:grpSpPr>
      <p:sp>
        <p:nvSpPr>
          <p:cNvPr id="279" name="Google Shape;279;p8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0" name="Google Shape;280;p8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1" name="Google Shape;281;p8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2"/>
        <p:cNvGrpSpPr/>
        <p:nvPr/>
      </p:nvGrpSpPr>
      <p:grpSpPr>
        <a:xfrm>
          <a:off x="0" y="0"/>
          <a:ext cx="0" cy="0"/>
          <a:chOff x="0" y="0"/>
          <a:chExt cx="0" cy="0"/>
        </a:xfrm>
      </p:grpSpPr>
      <p:sp>
        <p:nvSpPr>
          <p:cNvPr id="283" name="Google Shape;283;p8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84"/>
        <p:cNvGrpSpPr/>
        <p:nvPr/>
      </p:nvGrpSpPr>
      <p:grpSpPr>
        <a:xfrm>
          <a:off x="0" y="0"/>
          <a:ext cx="0" cy="0"/>
          <a:chOff x="0" y="0"/>
          <a:chExt cx="0" cy="0"/>
        </a:xfrm>
      </p:grpSpPr>
      <p:sp>
        <p:nvSpPr>
          <p:cNvPr id="285" name="Google Shape;285;p83"/>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86"/>
        <p:cNvGrpSpPr/>
        <p:nvPr/>
      </p:nvGrpSpPr>
      <p:grpSpPr>
        <a:xfrm>
          <a:off x="0" y="0"/>
          <a:ext cx="0" cy="0"/>
          <a:chOff x="0" y="0"/>
          <a:chExt cx="0" cy="0"/>
        </a:xfrm>
      </p:grpSpPr>
      <p:sp>
        <p:nvSpPr>
          <p:cNvPr id="287" name="Google Shape;287;p8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8" name="Google Shape;288;p8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9" name="Google Shape;289;p8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0" name="Google Shape;290;p8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91"/>
        <p:cNvGrpSpPr/>
        <p:nvPr/>
      </p:nvGrpSpPr>
      <p:grpSpPr>
        <a:xfrm>
          <a:off x="0" y="0"/>
          <a:ext cx="0" cy="0"/>
          <a:chOff x="0" y="0"/>
          <a:chExt cx="0" cy="0"/>
        </a:xfrm>
      </p:grpSpPr>
      <p:sp>
        <p:nvSpPr>
          <p:cNvPr id="292" name="Google Shape;292;p8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3" name="Google Shape;293;p85"/>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4" name="Google Shape;294;p8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5" name="Google Shape;295;p85"/>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96"/>
        <p:cNvGrpSpPr/>
        <p:nvPr/>
      </p:nvGrpSpPr>
      <p:grpSpPr>
        <a:xfrm>
          <a:off x="0" y="0"/>
          <a:ext cx="0" cy="0"/>
          <a:chOff x="0" y="0"/>
          <a:chExt cx="0" cy="0"/>
        </a:xfrm>
      </p:grpSpPr>
      <p:sp>
        <p:nvSpPr>
          <p:cNvPr id="297" name="Google Shape;297;p8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8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9" name="Google Shape;299;p8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0" name="Google Shape;300;p86"/>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01"/>
        <p:cNvGrpSpPr/>
        <p:nvPr/>
      </p:nvGrpSpPr>
      <p:grpSpPr>
        <a:xfrm>
          <a:off x="0" y="0"/>
          <a:ext cx="0" cy="0"/>
          <a:chOff x="0" y="0"/>
          <a:chExt cx="0" cy="0"/>
        </a:xfrm>
      </p:grpSpPr>
      <p:sp>
        <p:nvSpPr>
          <p:cNvPr id="302" name="Google Shape;302;p8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3" name="Google Shape;303;p87"/>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4" name="Google Shape;304;p87"/>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05"/>
        <p:cNvGrpSpPr/>
        <p:nvPr/>
      </p:nvGrpSpPr>
      <p:grpSpPr>
        <a:xfrm>
          <a:off x="0" y="0"/>
          <a:ext cx="0" cy="0"/>
          <a:chOff x="0" y="0"/>
          <a:chExt cx="0" cy="0"/>
        </a:xfrm>
      </p:grpSpPr>
      <p:sp>
        <p:nvSpPr>
          <p:cNvPr id="306" name="Google Shape;306;p8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7" name="Google Shape;307;p8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8" name="Google Shape;308;p8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9" name="Google Shape;309;p88"/>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0" name="Google Shape;310;p88"/>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11"/>
        <p:cNvGrpSpPr/>
        <p:nvPr/>
      </p:nvGrpSpPr>
      <p:grpSpPr>
        <a:xfrm>
          <a:off x="0" y="0"/>
          <a:ext cx="0" cy="0"/>
          <a:chOff x="0" y="0"/>
          <a:chExt cx="0" cy="0"/>
        </a:xfrm>
      </p:grpSpPr>
      <p:sp>
        <p:nvSpPr>
          <p:cNvPr id="312" name="Google Shape;312;p8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89"/>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4" name="Google Shape;314;p89"/>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5" name="Google Shape;315;p89"/>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6" name="Google Shape;316;p89"/>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7" name="Google Shape;317;p89"/>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8" name="Google Shape;318;p89"/>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3"/>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34"/>
        <p:cNvGrpSpPr/>
        <p:nvPr/>
      </p:nvGrpSpPr>
      <p:grpSpPr>
        <a:xfrm>
          <a:off x="0" y="0"/>
          <a:ext cx="0" cy="0"/>
          <a:chOff x="0" y="0"/>
          <a:chExt cx="0" cy="0"/>
        </a:xfrm>
      </p:grpSpPr>
      <p:sp>
        <p:nvSpPr>
          <p:cNvPr id="335" name="Google Shape;335;p9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6" name="Google Shape;336;p90"/>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37"/>
        <p:cNvGrpSpPr/>
        <p:nvPr/>
      </p:nvGrpSpPr>
      <p:grpSpPr>
        <a:xfrm>
          <a:off x="0" y="0"/>
          <a:ext cx="0" cy="0"/>
          <a:chOff x="0" y="0"/>
          <a:chExt cx="0" cy="0"/>
        </a:xfrm>
      </p:grpSpPr>
      <p:sp>
        <p:nvSpPr>
          <p:cNvPr id="338" name="Google Shape;338;p9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9" name="Google Shape;339;p9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40"/>
        <p:cNvGrpSpPr/>
        <p:nvPr/>
      </p:nvGrpSpPr>
      <p:grpSpPr>
        <a:xfrm>
          <a:off x="0" y="0"/>
          <a:ext cx="0" cy="0"/>
          <a:chOff x="0" y="0"/>
          <a:chExt cx="0" cy="0"/>
        </a:xfrm>
      </p:grpSpPr>
      <p:sp>
        <p:nvSpPr>
          <p:cNvPr id="341" name="Google Shape;341;p9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2" name="Google Shape;342;p9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3" name="Google Shape;343;p9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4"/>
        <p:cNvGrpSpPr/>
        <p:nvPr/>
      </p:nvGrpSpPr>
      <p:grpSpPr>
        <a:xfrm>
          <a:off x="0" y="0"/>
          <a:ext cx="0" cy="0"/>
          <a:chOff x="0" y="0"/>
          <a:chExt cx="0" cy="0"/>
        </a:xfrm>
      </p:grpSpPr>
      <p:sp>
        <p:nvSpPr>
          <p:cNvPr id="345" name="Google Shape;345;p9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46"/>
        <p:cNvGrpSpPr/>
        <p:nvPr/>
      </p:nvGrpSpPr>
      <p:grpSpPr>
        <a:xfrm>
          <a:off x="0" y="0"/>
          <a:ext cx="0" cy="0"/>
          <a:chOff x="0" y="0"/>
          <a:chExt cx="0" cy="0"/>
        </a:xfrm>
      </p:grpSpPr>
      <p:sp>
        <p:nvSpPr>
          <p:cNvPr id="347" name="Google Shape;347;p94"/>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8"/>
        <p:cNvGrpSpPr/>
        <p:nvPr/>
      </p:nvGrpSpPr>
      <p:grpSpPr>
        <a:xfrm>
          <a:off x="0" y="0"/>
          <a:ext cx="0" cy="0"/>
          <a:chOff x="0" y="0"/>
          <a:chExt cx="0" cy="0"/>
        </a:xfrm>
      </p:grpSpPr>
      <p:sp>
        <p:nvSpPr>
          <p:cNvPr id="349" name="Google Shape;349;p9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0" name="Google Shape;350;p9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1" name="Google Shape;351;p95"/>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2" name="Google Shape;352;p9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53"/>
        <p:cNvGrpSpPr/>
        <p:nvPr/>
      </p:nvGrpSpPr>
      <p:grpSpPr>
        <a:xfrm>
          <a:off x="0" y="0"/>
          <a:ext cx="0" cy="0"/>
          <a:chOff x="0" y="0"/>
          <a:chExt cx="0" cy="0"/>
        </a:xfrm>
      </p:grpSpPr>
      <p:sp>
        <p:nvSpPr>
          <p:cNvPr id="354" name="Google Shape;354;p9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5" name="Google Shape;355;p96"/>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6" name="Google Shape;356;p9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7" name="Google Shape;357;p96"/>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58"/>
        <p:cNvGrpSpPr/>
        <p:nvPr/>
      </p:nvGrpSpPr>
      <p:grpSpPr>
        <a:xfrm>
          <a:off x="0" y="0"/>
          <a:ext cx="0" cy="0"/>
          <a:chOff x="0" y="0"/>
          <a:chExt cx="0" cy="0"/>
        </a:xfrm>
      </p:grpSpPr>
      <p:sp>
        <p:nvSpPr>
          <p:cNvPr id="359" name="Google Shape;359;p9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0" name="Google Shape;360;p9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1" name="Google Shape;361;p9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2" name="Google Shape;362;p97"/>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63"/>
        <p:cNvGrpSpPr/>
        <p:nvPr/>
      </p:nvGrpSpPr>
      <p:grpSpPr>
        <a:xfrm>
          <a:off x="0" y="0"/>
          <a:ext cx="0" cy="0"/>
          <a:chOff x="0" y="0"/>
          <a:chExt cx="0" cy="0"/>
        </a:xfrm>
      </p:grpSpPr>
      <p:sp>
        <p:nvSpPr>
          <p:cNvPr id="364" name="Google Shape;364;p9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5" name="Google Shape;365;p98"/>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6" name="Google Shape;366;p98"/>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67"/>
        <p:cNvGrpSpPr/>
        <p:nvPr/>
      </p:nvGrpSpPr>
      <p:grpSpPr>
        <a:xfrm>
          <a:off x="0" y="0"/>
          <a:ext cx="0" cy="0"/>
          <a:chOff x="0" y="0"/>
          <a:chExt cx="0" cy="0"/>
        </a:xfrm>
      </p:grpSpPr>
      <p:sp>
        <p:nvSpPr>
          <p:cNvPr id="368" name="Google Shape;368;p9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9" name="Google Shape;369;p9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0" name="Google Shape;370;p9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1" name="Google Shape;371;p99"/>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2" name="Google Shape;372;p99"/>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73"/>
        <p:cNvGrpSpPr/>
        <p:nvPr/>
      </p:nvGrpSpPr>
      <p:grpSpPr>
        <a:xfrm>
          <a:off x="0" y="0"/>
          <a:ext cx="0" cy="0"/>
          <a:chOff x="0" y="0"/>
          <a:chExt cx="0" cy="0"/>
        </a:xfrm>
      </p:grpSpPr>
      <p:sp>
        <p:nvSpPr>
          <p:cNvPr id="374" name="Google Shape;374;p10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5" name="Google Shape;375;p100"/>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6" name="Google Shape;376;p100"/>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7" name="Google Shape;377;p100"/>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8" name="Google Shape;378;p100"/>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9" name="Google Shape;379;p100"/>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80" name="Google Shape;380;p100"/>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95"/>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96"/>
        <p:cNvGrpSpPr/>
        <p:nvPr/>
      </p:nvGrpSpPr>
      <p:grpSpPr>
        <a:xfrm>
          <a:off x="0" y="0"/>
          <a:ext cx="0" cy="0"/>
          <a:chOff x="0" y="0"/>
          <a:chExt cx="0" cy="0"/>
        </a:xfrm>
      </p:grpSpPr>
      <p:sp>
        <p:nvSpPr>
          <p:cNvPr id="397" name="Google Shape;397;p10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8" name="Google Shape;398;p101"/>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99"/>
        <p:cNvGrpSpPr/>
        <p:nvPr/>
      </p:nvGrpSpPr>
      <p:grpSpPr>
        <a:xfrm>
          <a:off x="0" y="0"/>
          <a:ext cx="0" cy="0"/>
          <a:chOff x="0" y="0"/>
          <a:chExt cx="0" cy="0"/>
        </a:xfrm>
      </p:grpSpPr>
      <p:sp>
        <p:nvSpPr>
          <p:cNvPr id="400" name="Google Shape;400;p10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1" name="Google Shape;401;p102"/>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02"/>
        <p:cNvGrpSpPr/>
        <p:nvPr/>
      </p:nvGrpSpPr>
      <p:grpSpPr>
        <a:xfrm>
          <a:off x="0" y="0"/>
          <a:ext cx="0" cy="0"/>
          <a:chOff x="0" y="0"/>
          <a:chExt cx="0" cy="0"/>
        </a:xfrm>
      </p:grpSpPr>
      <p:sp>
        <p:nvSpPr>
          <p:cNvPr id="403" name="Google Shape;403;p10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4" name="Google Shape;404;p10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5" name="Google Shape;405;p10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6"/>
        <p:cNvGrpSpPr/>
        <p:nvPr/>
      </p:nvGrpSpPr>
      <p:grpSpPr>
        <a:xfrm>
          <a:off x="0" y="0"/>
          <a:ext cx="0" cy="0"/>
          <a:chOff x="0" y="0"/>
          <a:chExt cx="0" cy="0"/>
        </a:xfrm>
      </p:grpSpPr>
      <p:sp>
        <p:nvSpPr>
          <p:cNvPr id="407" name="Google Shape;407;p10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08"/>
        <p:cNvGrpSpPr/>
        <p:nvPr/>
      </p:nvGrpSpPr>
      <p:grpSpPr>
        <a:xfrm>
          <a:off x="0" y="0"/>
          <a:ext cx="0" cy="0"/>
          <a:chOff x="0" y="0"/>
          <a:chExt cx="0" cy="0"/>
        </a:xfrm>
      </p:grpSpPr>
      <p:sp>
        <p:nvSpPr>
          <p:cNvPr id="409" name="Google Shape;409;p105"/>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10"/>
        <p:cNvGrpSpPr/>
        <p:nvPr/>
      </p:nvGrpSpPr>
      <p:grpSpPr>
        <a:xfrm>
          <a:off x="0" y="0"/>
          <a:ext cx="0" cy="0"/>
          <a:chOff x="0" y="0"/>
          <a:chExt cx="0" cy="0"/>
        </a:xfrm>
      </p:grpSpPr>
      <p:sp>
        <p:nvSpPr>
          <p:cNvPr id="411" name="Google Shape;411;p10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2" name="Google Shape;412;p10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3" name="Google Shape;413;p106"/>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4" name="Google Shape;414;p10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15"/>
        <p:cNvGrpSpPr/>
        <p:nvPr/>
      </p:nvGrpSpPr>
      <p:grpSpPr>
        <a:xfrm>
          <a:off x="0" y="0"/>
          <a:ext cx="0" cy="0"/>
          <a:chOff x="0" y="0"/>
          <a:chExt cx="0" cy="0"/>
        </a:xfrm>
      </p:grpSpPr>
      <p:sp>
        <p:nvSpPr>
          <p:cNvPr id="416" name="Google Shape;416;p10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7" name="Google Shape;417;p10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8" name="Google Shape;418;p10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9" name="Google Shape;419;p107"/>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20"/>
        <p:cNvGrpSpPr/>
        <p:nvPr/>
      </p:nvGrpSpPr>
      <p:grpSpPr>
        <a:xfrm>
          <a:off x="0" y="0"/>
          <a:ext cx="0" cy="0"/>
          <a:chOff x="0" y="0"/>
          <a:chExt cx="0" cy="0"/>
        </a:xfrm>
      </p:grpSpPr>
      <p:sp>
        <p:nvSpPr>
          <p:cNvPr id="421" name="Google Shape;421;p10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2" name="Google Shape;422;p10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3" name="Google Shape;423;p10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4" name="Google Shape;424;p108"/>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25"/>
        <p:cNvGrpSpPr/>
        <p:nvPr/>
      </p:nvGrpSpPr>
      <p:grpSpPr>
        <a:xfrm>
          <a:off x="0" y="0"/>
          <a:ext cx="0" cy="0"/>
          <a:chOff x="0" y="0"/>
          <a:chExt cx="0" cy="0"/>
        </a:xfrm>
      </p:grpSpPr>
      <p:sp>
        <p:nvSpPr>
          <p:cNvPr id="426" name="Google Shape;426;p10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7" name="Google Shape;427;p109"/>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8" name="Google Shape;428;p109"/>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9"/>
        <p:cNvGrpSpPr/>
        <p:nvPr/>
      </p:nvGrpSpPr>
      <p:grpSpPr>
        <a:xfrm>
          <a:off x="0" y="0"/>
          <a:ext cx="0" cy="0"/>
          <a:chOff x="0" y="0"/>
          <a:chExt cx="0" cy="0"/>
        </a:xfrm>
      </p:grpSpPr>
      <p:sp>
        <p:nvSpPr>
          <p:cNvPr id="430" name="Google Shape;430;p11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1" name="Google Shape;431;p11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2" name="Google Shape;432;p110"/>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3" name="Google Shape;433;p11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4" name="Google Shape;434;p110"/>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35"/>
        <p:cNvGrpSpPr/>
        <p:nvPr/>
      </p:nvGrpSpPr>
      <p:grpSpPr>
        <a:xfrm>
          <a:off x="0" y="0"/>
          <a:ext cx="0" cy="0"/>
          <a:chOff x="0" y="0"/>
          <a:chExt cx="0" cy="0"/>
        </a:xfrm>
      </p:grpSpPr>
      <p:sp>
        <p:nvSpPr>
          <p:cNvPr id="436" name="Google Shape;436;p11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7" name="Google Shape;437;p111"/>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8" name="Google Shape;438;p111"/>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9" name="Google Shape;439;p111"/>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0" name="Google Shape;440;p111"/>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1" name="Google Shape;441;p111"/>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2" name="Google Shape;442;p111"/>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57"/>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458"/>
        <p:cNvGrpSpPr/>
        <p:nvPr/>
      </p:nvGrpSpPr>
      <p:grpSpPr>
        <a:xfrm>
          <a:off x="0" y="0"/>
          <a:ext cx="0" cy="0"/>
          <a:chOff x="0" y="0"/>
          <a:chExt cx="0" cy="0"/>
        </a:xfrm>
      </p:grpSpPr>
      <p:sp>
        <p:nvSpPr>
          <p:cNvPr id="459" name="Google Shape;459;p11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0" name="Google Shape;460;p112"/>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461"/>
        <p:cNvGrpSpPr/>
        <p:nvPr/>
      </p:nvGrpSpPr>
      <p:grpSpPr>
        <a:xfrm>
          <a:off x="0" y="0"/>
          <a:ext cx="0" cy="0"/>
          <a:chOff x="0" y="0"/>
          <a:chExt cx="0" cy="0"/>
        </a:xfrm>
      </p:grpSpPr>
      <p:sp>
        <p:nvSpPr>
          <p:cNvPr id="462" name="Google Shape;462;p11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3" name="Google Shape;463;p11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64"/>
        <p:cNvGrpSpPr/>
        <p:nvPr/>
      </p:nvGrpSpPr>
      <p:grpSpPr>
        <a:xfrm>
          <a:off x="0" y="0"/>
          <a:ext cx="0" cy="0"/>
          <a:chOff x="0" y="0"/>
          <a:chExt cx="0" cy="0"/>
        </a:xfrm>
      </p:grpSpPr>
      <p:sp>
        <p:nvSpPr>
          <p:cNvPr id="465" name="Google Shape;465;p11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6" name="Google Shape;466;p11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7" name="Google Shape;467;p11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8"/>
        <p:cNvGrpSpPr/>
        <p:nvPr/>
      </p:nvGrpSpPr>
      <p:grpSpPr>
        <a:xfrm>
          <a:off x="0" y="0"/>
          <a:ext cx="0" cy="0"/>
          <a:chOff x="0" y="0"/>
          <a:chExt cx="0" cy="0"/>
        </a:xfrm>
      </p:grpSpPr>
      <p:sp>
        <p:nvSpPr>
          <p:cNvPr id="469" name="Google Shape;469;p11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70"/>
        <p:cNvGrpSpPr/>
        <p:nvPr/>
      </p:nvGrpSpPr>
      <p:grpSpPr>
        <a:xfrm>
          <a:off x="0" y="0"/>
          <a:ext cx="0" cy="0"/>
          <a:chOff x="0" y="0"/>
          <a:chExt cx="0" cy="0"/>
        </a:xfrm>
      </p:grpSpPr>
      <p:sp>
        <p:nvSpPr>
          <p:cNvPr id="471" name="Google Shape;471;p116"/>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72"/>
        <p:cNvGrpSpPr/>
        <p:nvPr/>
      </p:nvGrpSpPr>
      <p:grpSpPr>
        <a:xfrm>
          <a:off x="0" y="0"/>
          <a:ext cx="0" cy="0"/>
          <a:chOff x="0" y="0"/>
          <a:chExt cx="0" cy="0"/>
        </a:xfrm>
      </p:grpSpPr>
      <p:sp>
        <p:nvSpPr>
          <p:cNvPr id="473" name="Google Shape;473;p1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1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5" name="Google Shape;475;p11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6" name="Google Shape;476;p11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77"/>
        <p:cNvGrpSpPr/>
        <p:nvPr/>
      </p:nvGrpSpPr>
      <p:grpSpPr>
        <a:xfrm>
          <a:off x="0" y="0"/>
          <a:ext cx="0" cy="0"/>
          <a:chOff x="0" y="0"/>
          <a:chExt cx="0" cy="0"/>
        </a:xfrm>
      </p:grpSpPr>
      <p:sp>
        <p:nvSpPr>
          <p:cNvPr id="478" name="Google Shape;478;p11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9" name="Google Shape;479;p11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0" name="Google Shape;480;p11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1" name="Google Shape;481;p118"/>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2"/>
        <p:cNvGrpSpPr/>
        <p:nvPr/>
      </p:nvGrpSpPr>
      <p:grpSpPr>
        <a:xfrm>
          <a:off x="0" y="0"/>
          <a:ext cx="0" cy="0"/>
          <a:chOff x="0" y="0"/>
          <a:chExt cx="0" cy="0"/>
        </a:xfrm>
      </p:grpSpPr>
      <p:sp>
        <p:nvSpPr>
          <p:cNvPr id="483" name="Google Shape;483;p1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4" name="Google Shape;484;p11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5" name="Google Shape;485;p11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6" name="Google Shape;486;p119"/>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87"/>
        <p:cNvGrpSpPr/>
        <p:nvPr/>
      </p:nvGrpSpPr>
      <p:grpSpPr>
        <a:xfrm>
          <a:off x="0" y="0"/>
          <a:ext cx="0" cy="0"/>
          <a:chOff x="0" y="0"/>
          <a:chExt cx="0" cy="0"/>
        </a:xfrm>
      </p:grpSpPr>
      <p:sp>
        <p:nvSpPr>
          <p:cNvPr id="488" name="Google Shape;488;p12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9" name="Google Shape;489;p120"/>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0" name="Google Shape;490;p120"/>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91"/>
        <p:cNvGrpSpPr/>
        <p:nvPr/>
      </p:nvGrpSpPr>
      <p:grpSpPr>
        <a:xfrm>
          <a:off x="0" y="0"/>
          <a:ext cx="0" cy="0"/>
          <a:chOff x="0" y="0"/>
          <a:chExt cx="0" cy="0"/>
        </a:xfrm>
      </p:grpSpPr>
      <p:sp>
        <p:nvSpPr>
          <p:cNvPr id="492" name="Google Shape;492;p1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3" name="Google Shape;493;p12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4" name="Google Shape;494;p12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5" name="Google Shape;495;p12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6" name="Google Shape;496;p121"/>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97"/>
        <p:cNvGrpSpPr/>
        <p:nvPr/>
      </p:nvGrpSpPr>
      <p:grpSpPr>
        <a:xfrm>
          <a:off x="0" y="0"/>
          <a:ext cx="0" cy="0"/>
          <a:chOff x="0" y="0"/>
          <a:chExt cx="0" cy="0"/>
        </a:xfrm>
      </p:grpSpPr>
      <p:sp>
        <p:nvSpPr>
          <p:cNvPr id="498" name="Google Shape;498;p12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9" name="Google Shape;499;p122"/>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0" name="Google Shape;500;p122"/>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1" name="Google Shape;501;p122"/>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2" name="Google Shape;502;p122"/>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3" name="Google Shape;503;p122"/>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4" name="Google Shape;504;p122"/>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1.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1.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image" Target="../media/image1.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 Id="rId14" Type="http://schemas.openxmlformats.org/officeDocument/2006/relationships/image" Target="../media/image1.png"/></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pic>
        <p:nvPicPr>
          <p:cNvPr id="10" name="Google Shape;10;p1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1" name="Google Shape;11;p17"/>
          <p:cNvGrpSpPr/>
          <p:nvPr/>
        </p:nvGrpSpPr>
        <p:grpSpPr>
          <a:xfrm>
            <a:off x="0" y="9865080"/>
            <a:ext cx="19009800" cy="809640"/>
            <a:chOff x="0" y="9865080"/>
            <a:chExt cx="19009800" cy="809640"/>
          </a:xfrm>
        </p:grpSpPr>
        <p:grpSp>
          <p:nvGrpSpPr>
            <p:cNvPr id="12" name="Google Shape;12;p17"/>
            <p:cNvGrpSpPr/>
            <p:nvPr/>
          </p:nvGrpSpPr>
          <p:grpSpPr>
            <a:xfrm>
              <a:off x="0" y="9865080"/>
              <a:ext cx="19009800" cy="809640"/>
              <a:chOff x="0" y="9865080"/>
              <a:chExt cx="19009800" cy="809640"/>
            </a:xfrm>
          </p:grpSpPr>
          <p:sp>
            <p:nvSpPr>
              <p:cNvPr id="13" name="Google Shape;13;p1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4" name="Google Shape;14;p1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5" name="Google Shape;15;p1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6" name="Google Shape;16;p1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7" name="Google Shape;17;p1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8" name="Google Shape;18;p1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9" name="Google Shape;19;p1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 name="Google Shape;20;p17"/>
            <p:cNvSpPr/>
            <p:nvPr/>
          </p:nvSpPr>
          <p:spPr>
            <a:xfrm>
              <a:off x="14227920" y="10028880"/>
              <a:ext cx="4781520" cy="51372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1" name="Google Shape;21;p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2" name="Google Shape;22;p1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1"/>
        <p:cNvGrpSpPr/>
        <p:nvPr/>
      </p:nvGrpSpPr>
      <p:grpSpPr>
        <a:xfrm>
          <a:off x="0" y="0"/>
          <a:ext cx="0" cy="0"/>
          <a:chOff x="0" y="0"/>
          <a:chExt cx="0" cy="0"/>
        </a:xfrm>
      </p:grpSpPr>
      <p:pic>
        <p:nvPicPr>
          <p:cNvPr id="72" name="Google Shape;72;p1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73" name="Google Shape;73;p19"/>
          <p:cNvGrpSpPr/>
          <p:nvPr/>
        </p:nvGrpSpPr>
        <p:grpSpPr>
          <a:xfrm>
            <a:off x="0" y="9865080"/>
            <a:ext cx="19009800" cy="809640"/>
            <a:chOff x="0" y="9865080"/>
            <a:chExt cx="19009800" cy="809640"/>
          </a:xfrm>
        </p:grpSpPr>
        <p:grpSp>
          <p:nvGrpSpPr>
            <p:cNvPr id="74" name="Google Shape;74;p19"/>
            <p:cNvGrpSpPr/>
            <p:nvPr/>
          </p:nvGrpSpPr>
          <p:grpSpPr>
            <a:xfrm>
              <a:off x="0" y="9865080"/>
              <a:ext cx="19009800" cy="809640"/>
              <a:chOff x="0" y="9865080"/>
              <a:chExt cx="19009800" cy="809640"/>
            </a:xfrm>
          </p:grpSpPr>
          <p:sp>
            <p:nvSpPr>
              <p:cNvPr id="75" name="Google Shape;75;p1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76" name="Google Shape;76;p1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77" name="Google Shape;77;p1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78" name="Google Shape;78;p1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79" name="Google Shape;79;p1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80" name="Google Shape;80;p1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81" name="Google Shape;81;p1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82" name="Google Shape;82;p1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83" name="Google Shape;83;p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4" name="Google Shape;84;p1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pic>
        <p:nvPicPr>
          <p:cNvPr id="134" name="Google Shape;134;p2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35" name="Google Shape;135;p21"/>
          <p:cNvGrpSpPr/>
          <p:nvPr/>
        </p:nvGrpSpPr>
        <p:grpSpPr>
          <a:xfrm>
            <a:off x="0" y="9865080"/>
            <a:ext cx="19009800" cy="809640"/>
            <a:chOff x="0" y="9865080"/>
            <a:chExt cx="19009800" cy="809640"/>
          </a:xfrm>
        </p:grpSpPr>
        <p:grpSp>
          <p:nvGrpSpPr>
            <p:cNvPr id="136" name="Google Shape;136;p21"/>
            <p:cNvGrpSpPr/>
            <p:nvPr/>
          </p:nvGrpSpPr>
          <p:grpSpPr>
            <a:xfrm>
              <a:off x="0" y="9865080"/>
              <a:ext cx="19009800" cy="809640"/>
              <a:chOff x="0" y="9865080"/>
              <a:chExt cx="19009800" cy="809640"/>
            </a:xfrm>
          </p:grpSpPr>
          <p:sp>
            <p:nvSpPr>
              <p:cNvPr id="137" name="Google Shape;137;p2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38" name="Google Shape;138;p2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39" name="Google Shape;139;p2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40" name="Google Shape;140;p2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41" name="Google Shape;141;p2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42" name="Google Shape;142;p2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43" name="Google Shape;143;p2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144" name="Google Shape;144;p2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145" name="Google Shape;145;p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146" name="Google Shape;146;p2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pic>
        <p:nvPicPr>
          <p:cNvPr id="196" name="Google Shape;196;p23"/>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97" name="Google Shape;197;p23"/>
          <p:cNvGrpSpPr/>
          <p:nvPr/>
        </p:nvGrpSpPr>
        <p:grpSpPr>
          <a:xfrm>
            <a:off x="0" y="9865080"/>
            <a:ext cx="19009800" cy="809640"/>
            <a:chOff x="0" y="9865080"/>
            <a:chExt cx="19009800" cy="809640"/>
          </a:xfrm>
        </p:grpSpPr>
        <p:grpSp>
          <p:nvGrpSpPr>
            <p:cNvPr id="198" name="Google Shape;198;p23"/>
            <p:cNvGrpSpPr/>
            <p:nvPr/>
          </p:nvGrpSpPr>
          <p:grpSpPr>
            <a:xfrm>
              <a:off x="0" y="9865080"/>
              <a:ext cx="19009800" cy="809640"/>
              <a:chOff x="0" y="9865080"/>
              <a:chExt cx="19009800" cy="809640"/>
            </a:xfrm>
          </p:grpSpPr>
          <p:sp>
            <p:nvSpPr>
              <p:cNvPr id="199" name="Google Shape;199;p23"/>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00" name="Google Shape;200;p23"/>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01" name="Google Shape;201;p23"/>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02" name="Google Shape;202;p23"/>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03" name="Google Shape;203;p23"/>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04" name="Google Shape;204;p23"/>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05" name="Google Shape;205;p23"/>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6" name="Google Shape;206;p23"/>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07" name="Google Shape;207;p2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08" name="Google Shape;208;p2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pic>
        <p:nvPicPr>
          <p:cNvPr id="258" name="Google Shape;258;p25"/>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259" name="Google Shape;259;p25"/>
          <p:cNvGrpSpPr/>
          <p:nvPr/>
        </p:nvGrpSpPr>
        <p:grpSpPr>
          <a:xfrm>
            <a:off x="0" y="9865080"/>
            <a:ext cx="19009800" cy="809640"/>
            <a:chOff x="0" y="9865080"/>
            <a:chExt cx="19009800" cy="809640"/>
          </a:xfrm>
        </p:grpSpPr>
        <p:grpSp>
          <p:nvGrpSpPr>
            <p:cNvPr id="260" name="Google Shape;260;p25"/>
            <p:cNvGrpSpPr/>
            <p:nvPr/>
          </p:nvGrpSpPr>
          <p:grpSpPr>
            <a:xfrm>
              <a:off x="0" y="9865080"/>
              <a:ext cx="19009800" cy="809640"/>
              <a:chOff x="0" y="9865080"/>
              <a:chExt cx="19009800" cy="809640"/>
            </a:xfrm>
          </p:grpSpPr>
          <p:sp>
            <p:nvSpPr>
              <p:cNvPr id="261" name="Google Shape;261;p25"/>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62" name="Google Shape;262;p25"/>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63" name="Google Shape;263;p25"/>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64" name="Google Shape;264;p25"/>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65" name="Google Shape;265;p25"/>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66" name="Google Shape;266;p25"/>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67" name="Google Shape;267;p25"/>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68" name="Google Shape;268;p25"/>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69" name="Google Shape;269;p2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70" name="Google Shape;270;p25"/>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pic>
        <p:nvPicPr>
          <p:cNvPr id="320" name="Google Shape;320;p2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21" name="Google Shape;321;p27"/>
          <p:cNvGrpSpPr/>
          <p:nvPr/>
        </p:nvGrpSpPr>
        <p:grpSpPr>
          <a:xfrm>
            <a:off x="0" y="9865080"/>
            <a:ext cx="19009800" cy="809640"/>
            <a:chOff x="0" y="9865080"/>
            <a:chExt cx="19009800" cy="809640"/>
          </a:xfrm>
        </p:grpSpPr>
        <p:grpSp>
          <p:nvGrpSpPr>
            <p:cNvPr id="322" name="Google Shape;322;p27"/>
            <p:cNvGrpSpPr/>
            <p:nvPr/>
          </p:nvGrpSpPr>
          <p:grpSpPr>
            <a:xfrm>
              <a:off x="0" y="9865080"/>
              <a:ext cx="19009800" cy="809640"/>
              <a:chOff x="0" y="9865080"/>
              <a:chExt cx="19009800" cy="809640"/>
            </a:xfrm>
          </p:grpSpPr>
          <p:sp>
            <p:nvSpPr>
              <p:cNvPr id="323" name="Google Shape;323;p2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24" name="Google Shape;324;p2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25" name="Google Shape;325;p2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26" name="Google Shape;326;p2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27" name="Google Shape;327;p2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28" name="Google Shape;328;p2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29" name="Google Shape;329;p2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30" name="Google Shape;330;p27"/>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31" name="Google Shape;331;p2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32" name="Google Shape;332;p2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pic>
        <p:nvPicPr>
          <p:cNvPr id="382" name="Google Shape;382;p2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83" name="Google Shape;383;p29"/>
          <p:cNvGrpSpPr/>
          <p:nvPr/>
        </p:nvGrpSpPr>
        <p:grpSpPr>
          <a:xfrm>
            <a:off x="0" y="9865080"/>
            <a:ext cx="19009800" cy="809640"/>
            <a:chOff x="0" y="9865080"/>
            <a:chExt cx="19009800" cy="809640"/>
          </a:xfrm>
        </p:grpSpPr>
        <p:grpSp>
          <p:nvGrpSpPr>
            <p:cNvPr id="384" name="Google Shape;384;p29"/>
            <p:cNvGrpSpPr/>
            <p:nvPr/>
          </p:nvGrpSpPr>
          <p:grpSpPr>
            <a:xfrm>
              <a:off x="0" y="9865080"/>
              <a:ext cx="19009800" cy="809640"/>
              <a:chOff x="0" y="9865080"/>
              <a:chExt cx="19009800" cy="809640"/>
            </a:xfrm>
          </p:grpSpPr>
          <p:sp>
            <p:nvSpPr>
              <p:cNvPr id="385" name="Google Shape;385;p2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86" name="Google Shape;386;p2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87" name="Google Shape;387;p2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88" name="Google Shape;388;p2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89" name="Google Shape;389;p2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90" name="Google Shape;390;p2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91" name="Google Shape;391;p2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92" name="Google Shape;392;p2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93" name="Google Shape;393;p2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94" name="Google Shape;394;p2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3"/>
        <p:cNvGrpSpPr/>
        <p:nvPr/>
      </p:nvGrpSpPr>
      <p:grpSpPr>
        <a:xfrm>
          <a:off x="0" y="0"/>
          <a:ext cx="0" cy="0"/>
          <a:chOff x="0" y="0"/>
          <a:chExt cx="0" cy="0"/>
        </a:xfrm>
      </p:grpSpPr>
      <p:pic>
        <p:nvPicPr>
          <p:cNvPr id="444" name="Google Shape;444;p3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445" name="Google Shape;445;p31"/>
          <p:cNvGrpSpPr/>
          <p:nvPr/>
        </p:nvGrpSpPr>
        <p:grpSpPr>
          <a:xfrm>
            <a:off x="0" y="9865080"/>
            <a:ext cx="19009800" cy="809640"/>
            <a:chOff x="0" y="9865080"/>
            <a:chExt cx="19009800" cy="809640"/>
          </a:xfrm>
        </p:grpSpPr>
        <p:grpSp>
          <p:nvGrpSpPr>
            <p:cNvPr id="446" name="Google Shape;446;p31"/>
            <p:cNvGrpSpPr/>
            <p:nvPr/>
          </p:nvGrpSpPr>
          <p:grpSpPr>
            <a:xfrm>
              <a:off x="0" y="9865080"/>
              <a:ext cx="19009800" cy="809640"/>
              <a:chOff x="0" y="9865080"/>
              <a:chExt cx="19009800" cy="809640"/>
            </a:xfrm>
          </p:grpSpPr>
          <p:sp>
            <p:nvSpPr>
              <p:cNvPr id="447" name="Google Shape;447;p3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448" name="Google Shape;448;p3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449" name="Google Shape;449;p3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450" name="Google Shape;450;p3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451" name="Google Shape;451;p3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452" name="Google Shape;452;p3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453" name="Google Shape;453;p3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454" name="Google Shape;454;p3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455" name="Google Shape;455;p3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56" name="Google Shape;456;p3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7.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37.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61.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49.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49.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73.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49.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85.xml"/></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85.xml"/></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85.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85.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85.xml"/></Relationships>
</file>

<file path=ppt/slides/_rels/slide2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8.xml"/><Relationship Id="rId1" Type="http://schemas.openxmlformats.org/officeDocument/2006/relationships/slideLayout" Target="../slideLayouts/slideLayout85.xml"/></Relationships>
</file>

<file path=ppt/slides/_rels/slide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9.xml"/><Relationship Id="rId1" Type="http://schemas.openxmlformats.org/officeDocument/2006/relationships/slideLayout" Target="../slideLayouts/slideLayout85.xml"/></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85.xml"/></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85.xml"/><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85.xml"/><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3.xml"/><Relationship Id="rId1" Type="http://schemas.openxmlformats.org/officeDocument/2006/relationships/slideLayout" Target="../slideLayouts/slideLayout85.xml"/><Relationship Id="rId4" Type="http://schemas.openxmlformats.org/officeDocument/2006/relationships/image" Target="../media/image9.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85.xml"/><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85.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85.xml"/><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85.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85.xml"/></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85.xml"/></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85.xml"/></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85.xml"/></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85.xml"/></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85.xml"/></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85.xml"/></Relationships>
</file>

<file path=ppt/slides/_rels/slide45.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hyperlink" Target="https://sjcjycl.cn/article/view-2023/pdf/02_1628.pdf" TargetMode="External"/><Relationship Id="rId7" Type="http://schemas.openxmlformats.org/officeDocument/2006/relationships/hyperlink" Target="https://www.ijraset.com/research-paper/design-of-web-app-for-online-food-services" TargetMode="External"/><Relationship Id="rId2" Type="http://schemas.openxmlformats.org/officeDocument/2006/relationships/notesSlide" Target="../notesSlides/notesSlide45.xml"/><Relationship Id="rId1" Type="http://schemas.openxmlformats.org/officeDocument/2006/relationships/slideLayout" Target="../slideLayouts/slideLayout85.xml"/><Relationship Id="rId6" Type="http://schemas.openxmlformats.org/officeDocument/2006/relationships/hyperlink" Target="https://ieeexplore.ieee.org/document/9609733" TargetMode="External"/><Relationship Id="rId5" Type="http://schemas.openxmlformats.org/officeDocument/2006/relationships/hyperlink" Target="https://www.researchgate.net/publication/361178168_Food_Ordering_website_Cooked_with_care_developed_using_MERN_stack" TargetMode="External"/><Relationship Id="rId4" Type="http://schemas.openxmlformats.org/officeDocument/2006/relationships/hyperlink" Target="https://ieeexplore.ieee.org/document/10183615" TargetMode="External"/></Relationships>
</file>

<file path=ppt/slides/_rels/slide46.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hyperlink" Target="https://www.ijmtst.com/vol7issue05.html" TargetMode="External"/><Relationship Id="rId7" Type="http://schemas.openxmlformats.org/officeDocument/2006/relationships/hyperlink" Target="https://ieeexplore.ieee.org/document/9649679" TargetMode="External"/><Relationship Id="rId2" Type="http://schemas.openxmlformats.org/officeDocument/2006/relationships/notesSlide" Target="../notesSlides/notesSlide46.xml"/><Relationship Id="rId1" Type="http://schemas.openxmlformats.org/officeDocument/2006/relationships/slideLayout" Target="../slideLayouts/slideLayout85.xml"/><Relationship Id="rId6" Type="http://schemas.openxmlformats.org/officeDocument/2006/relationships/hyperlink" Target="https://doi.org/10.3390/ijerph18189680" TargetMode="External"/><Relationship Id="rId5" Type="http://schemas.openxmlformats.org/officeDocument/2006/relationships/hyperlink" Target="https://www.researchgate.net/publication/312093853_Challenges_of_Food_Security_in_India" TargetMode="External"/><Relationship Id="rId4" Type="http://schemas.openxmlformats.org/officeDocument/2006/relationships/hyperlink" Target="http://annalsofrscb.ro/index.php/journal"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ieeexplore.ieee.org/document/10067735" TargetMode="External"/><Relationship Id="rId2" Type="http://schemas.openxmlformats.org/officeDocument/2006/relationships/notesSlide" Target="../notesSlides/notesSlide47.xml"/><Relationship Id="rId1" Type="http://schemas.openxmlformats.org/officeDocument/2006/relationships/slideLayout" Target="../slideLayouts/slideLayout85.xml"/><Relationship Id="rId5" Type="http://schemas.openxmlformats.org/officeDocument/2006/relationships/image" Target="../media/image2.jpg"/><Relationship Id="rId4" Type="http://schemas.openxmlformats.org/officeDocument/2006/relationships/hyperlink" Target="https://ideas.repec.org/a/gam/jsusta/v12y2020i14p5528-d382021.html"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3" name="Google Shape;573;p1"/>
          <p:cNvSpPr/>
          <p:nvPr/>
        </p:nvSpPr>
        <p:spPr>
          <a:xfrm>
            <a:off x="1775640" y="4199226"/>
            <a:ext cx="14812920" cy="1133543"/>
          </a:xfrm>
          <a:prstGeom prst="rect">
            <a:avLst/>
          </a:prstGeom>
          <a:noFill/>
          <a:ln>
            <a:noFill/>
          </a:ln>
        </p:spPr>
        <p:txBody>
          <a:bodyPr spcFirstLastPara="1" wrap="square" lIns="0" tIns="12600" rIns="0" bIns="0" anchor="t" anchorCtr="0">
            <a:spAutoFit/>
          </a:bodyPr>
          <a:lstStyle/>
          <a:p>
            <a:pPr marL="1222920" indent="-1211040" algn="ctr">
              <a:lnSpc>
                <a:spcPct val="100000"/>
              </a:lnSpc>
              <a:spcBef>
                <a:spcPts val="99"/>
              </a:spcBef>
              <a:buNone/>
              <a:tabLst>
                <a:tab pos="0" algn="l"/>
              </a:tabLst>
            </a:pPr>
            <a:r>
              <a:rPr lang="en-US" sz="7200" b="1" spc="-7" dirty="0">
                <a:solidFill>
                  <a:srgbClr val="00318B"/>
                </a:solidFill>
                <a:latin typeface="Calibri"/>
              </a:rPr>
              <a:t>Taste of Home</a:t>
            </a:r>
            <a:endParaRPr lang="en-US" sz="7200" b="1" strike="noStrike" spc="-1" dirty="0">
              <a:latin typeface="Arial"/>
            </a:endParaRPr>
          </a:p>
        </p:txBody>
      </p:sp>
      <p:sp>
        <p:nvSpPr>
          <p:cNvPr id="574" name="Google Shape;574;p1"/>
          <p:cNvSpPr/>
          <p:nvPr/>
        </p:nvSpPr>
        <p:spPr>
          <a:xfrm rot="10800000" flipH="1">
            <a:off x="2600810" y="4982061"/>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575" name="Google Shape;575;p1"/>
          <p:cNvSpPr/>
          <p:nvPr/>
        </p:nvSpPr>
        <p:spPr>
          <a:xfrm>
            <a:off x="183960" y="7299360"/>
            <a:ext cx="7496640" cy="1323384"/>
          </a:xfrm>
          <a:prstGeom prst="rect">
            <a:avLst/>
          </a:prstGeom>
          <a:noFill/>
          <a:ln>
            <a:noFill/>
          </a:ln>
        </p:spPr>
        <p:txBody>
          <a:bodyPr spcFirstLastPara="1" wrap="square" lIns="0" tIns="5025" rIns="0" bIns="0" anchor="t" anchorCtr="0">
            <a:spAutoFit/>
          </a:bodyPr>
          <a:lstStyle/>
          <a:p>
            <a:pPr>
              <a:lnSpc>
                <a:spcPct val="150000"/>
              </a:lnSpc>
              <a:spcBef>
                <a:spcPts val="99"/>
              </a:spcBef>
              <a:buNone/>
              <a:tabLst>
                <a:tab pos="128160" algn="l"/>
              </a:tabLst>
            </a:pPr>
            <a:r>
              <a:rPr lang="en-US" sz="2800" b="1" strike="noStrike" spc="-1" dirty="0">
                <a:solidFill>
                  <a:srgbClr val="231F20"/>
                </a:solidFill>
                <a:latin typeface="Calibri"/>
                <a:ea typeface="DejaVu Sans"/>
              </a:rPr>
              <a:t>Name	</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 Gandhi Nisarg Ketan</a:t>
            </a:r>
            <a:endParaRPr lang="en-US" sz="2800" b="0" strike="noStrike" spc="-1" dirty="0">
              <a:latin typeface="Arial"/>
            </a:endParaRPr>
          </a:p>
          <a:p>
            <a:pPr>
              <a:lnSpc>
                <a:spcPct val="150000"/>
              </a:lnSpc>
              <a:spcBef>
                <a:spcPts val="99"/>
              </a:spcBef>
              <a:buNone/>
              <a:tabLst>
                <a:tab pos="128160" algn="l"/>
              </a:tabLst>
            </a:pPr>
            <a:r>
              <a:rPr lang="en-US" sz="2800" b="1" strike="noStrike" spc="-1" dirty="0">
                <a:solidFill>
                  <a:srgbClr val="231F20"/>
                </a:solidFill>
                <a:latin typeface="Calibri"/>
                <a:ea typeface="DejaVu Sans"/>
              </a:rPr>
              <a:t>SRN</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PES1PG22CA070</a:t>
            </a:r>
            <a:endParaRPr lang="en-US" sz="2800" b="0" strike="noStrike" spc="-1" dirty="0">
              <a:latin typeface="Arial"/>
            </a:endParaRPr>
          </a:p>
        </p:txBody>
      </p:sp>
      <p:sp>
        <p:nvSpPr>
          <p:cNvPr id="576" name="Google Shape;576;p1"/>
          <p:cNvSpPr/>
          <p:nvPr/>
        </p:nvSpPr>
        <p:spPr>
          <a:xfrm>
            <a:off x="0" y="6257880"/>
            <a:ext cx="4780080" cy="82728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577" name="Google Shape;577;p1"/>
          <p:cNvSpPr/>
          <p:nvPr/>
        </p:nvSpPr>
        <p:spPr>
          <a:xfrm>
            <a:off x="0" y="6368040"/>
            <a:ext cx="478008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Student Details</a:t>
            </a:r>
            <a:endParaRPr sz="3600" b="0" i="0" u="none" strike="noStrike" cap="none">
              <a:latin typeface="Arial"/>
              <a:ea typeface="Arial"/>
              <a:cs typeface="Arial"/>
              <a:sym typeface="Arial"/>
            </a:endParaRPr>
          </a:p>
        </p:txBody>
      </p:sp>
      <p:grpSp>
        <p:nvGrpSpPr>
          <p:cNvPr id="578" name="Google Shape;578;p1"/>
          <p:cNvGrpSpPr/>
          <p:nvPr/>
        </p:nvGrpSpPr>
        <p:grpSpPr>
          <a:xfrm>
            <a:off x="14249160" y="6249240"/>
            <a:ext cx="4780440" cy="827280"/>
            <a:chOff x="14249160" y="6249240"/>
            <a:chExt cx="4780440" cy="827280"/>
          </a:xfrm>
        </p:grpSpPr>
        <p:sp>
          <p:nvSpPr>
            <p:cNvPr id="579" name="Google Shape;579;p1"/>
            <p:cNvSpPr/>
            <p:nvPr/>
          </p:nvSpPr>
          <p:spPr>
            <a:xfrm flipH="1">
              <a:off x="14704560" y="6249240"/>
              <a:ext cx="4325040" cy="8272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80" name="Google Shape;580;p1"/>
            <p:cNvSpPr/>
            <p:nvPr/>
          </p:nvSpPr>
          <p:spPr>
            <a:xfrm flipH="1">
              <a:off x="14249160" y="6249240"/>
              <a:ext cx="787320" cy="8272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81" name="Google Shape;581;p1"/>
          <p:cNvSpPr/>
          <p:nvPr/>
        </p:nvSpPr>
        <p:spPr>
          <a:xfrm flipH="1">
            <a:off x="14249520" y="6369480"/>
            <a:ext cx="474480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Guide Details</a:t>
            </a:r>
            <a:endParaRPr sz="3600" b="0" i="0" u="none" strike="noStrike" cap="none">
              <a:latin typeface="Arial"/>
              <a:ea typeface="Arial"/>
              <a:cs typeface="Arial"/>
              <a:sym typeface="Arial"/>
            </a:endParaRPr>
          </a:p>
        </p:txBody>
      </p:sp>
      <p:sp>
        <p:nvSpPr>
          <p:cNvPr id="582" name="Google Shape;582;p1"/>
          <p:cNvSpPr/>
          <p:nvPr/>
        </p:nvSpPr>
        <p:spPr>
          <a:xfrm>
            <a:off x="14621553" y="7032384"/>
            <a:ext cx="4388760" cy="2628869"/>
          </a:xfrm>
          <a:prstGeom prst="rect">
            <a:avLst/>
          </a:prstGeom>
          <a:noFill/>
          <a:ln>
            <a:noFill/>
          </a:ln>
        </p:spPr>
        <p:txBody>
          <a:bodyPr spcFirstLastPara="1" wrap="square" lIns="0" tIns="5025" rIns="0" bIns="0" anchor="t" anchorCtr="0">
            <a:spAutoFit/>
          </a:bodyPr>
          <a:lstStyle/>
          <a:p>
            <a:pPr algn="ctr">
              <a:lnSpc>
                <a:spcPct val="150000"/>
              </a:lnSpc>
              <a:spcBef>
                <a:spcPts val="99"/>
              </a:spcBef>
              <a:buNone/>
              <a:tabLst>
                <a:tab pos="128160" algn="l"/>
              </a:tabLst>
            </a:pPr>
            <a:r>
              <a:rPr lang="en-US" sz="2800" b="1" spc="-1" dirty="0">
                <a:solidFill>
                  <a:srgbClr val="231F20"/>
                </a:solidFill>
                <a:latin typeface="Calibri"/>
              </a:rPr>
              <a:t>Ms. Sowmya BP,</a:t>
            </a:r>
          </a:p>
          <a:p>
            <a:pPr algn="ctr">
              <a:lnSpc>
                <a:spcPct val="150000"/>
              </a:lnSpc>
              <a:spcBef>
                <a:spcPts val="99"/>
              </a:spcBef>
              <a:buNone/>
              <a:tabLst>
                <a:tab pos="128160" algn="l"/>
              </a:tabLst>
            </a:pPr>
            <a:r>
              <a:rPr lang="en-US" sz="2800" b="1" strike="noStrike" spc="-1" dirty="0">
                <a:solidFill>
                  <a:srgbClr val="231F20"/>
                </a:solidFill>
                <a:latin typeface="Calibri"/>
              </a:rPr>
              <a:t>Assistant Professor</a:t>
            </a:r>
          </a:p>
          <a:p>
            <a:pPr algn="ctr">
              <a:lnSpc>
                <a:spcPct val="150000"/>
              </a:lnSpc>
              <a:spcBef>
                <a:spcPts val="99"/>
              </a:spcBef>
              <a:buNone/>
              <a:tabLst>
                <a:tab pos="128160" algn="l"/>
              </a:tabLst>
            </a:pPr>
            <a:r>
              <a:rPr lang="en-US" sz="2800" b="1" spc="-1" dirty="0">
                <a:solidFill>
                  <a:srgbClr val="231F20"/>
                </a:solidFill>
                <a:latin typeface="Calibri"/>
              </a:rPr>
              <a:t>Department of Computer Applications</a:t>
            </a:r>
            <a:endParaRPr lang="en-US" sz="2800" b="0" strike="noStrike" spc="-1" dirty="0">
              <a:latin typeface="Arial"/>
            </a:endParaRPr>
          </a:p>
        </p:txBody>
      </p:sp>
      <p:sp>
        <p:nvSpPr>
          <p:cNvPr id="2" name="Rectangle 1">
            <a:extLst>
              <a:ext uri="{FF2B5EF4-FFF2-40B4-BE49-F238E27FC236}">
                <a16:creationId xmlns:a16="http://schemas.microsoft.com/office/drawing/2014/main" id="{A8ED01FF-FDC2-EC52-E8E5-F469F03691AA}"/>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DCE10B51-6092-1530-1E5F-5FE2152881F7}"/>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grpSp>
        <p:nvGrpSpPr>
          <p:cNvPr id="590" name="Google Shape;590;p2"/>
          <p:cNvGrpSpPr/>
          <p:nvPr/>
        </p:nvGrpSpPr>
        <p:grpSpPr>
          <a:xfrm>
            <a:off x="0" y="839520"/>
            <a:ext cx="5120280" cy="1037880"/>
            <a:chOff x="0" y="839520"/>
            <a:chExt cx="5120280" cy="1037880"/>
          </a:xfrm>
        </p:grpSpPr>
        <p:sp>
          <p:nvSpPr>
            <p:cNvPr id="591" name="Google Shape;591;p2"/>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92" name="Google Shape;592;p2"/>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93" name="Google Shape;593;p2"/>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Abstract</a:t>
            </a:r>
            <a:endParaRPr sz="4400" b="0" i="0" u="none" strike="noStrike" cap="none">
              <a:latin typeface="Arial"/>
              <a:ea typeface="Arial"/>
              <a:cs typeface="Arial"/>
              <a:sym typeface="Arial"/>
            </a:endParaRPr>
          </a:p>
        </p:txBody>
      </p:sp>
      <p:sp>
        <p:nvSpPr>
          <p:cNvPr id="595" name="Google Shape;595;p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598" name="Google Shape;598;p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dirty="0">
                <a:solidFill>
                  <a:schemeClr val="lt1"/>
                </a:solidFill>
                <a:latin typeface="Calibri"/>
                <a:ea typeface="Calibri"/>
                <a:cs typeface="Calibri"/>
                <a:sym typeface="Calibri"/>
              </a:rPr>
              <a:t>   UQ21CA761B Project Work Phase II</a:t>
            </a:r>
            <a:endParaRPr sz="2300" b="1" dirty="0">
              <a:solidFill>
                <a:schemeClr val="lt1"/>
              </a:solidFill>
              <a:latin typeface="Calibri"/>
              <a:ea typeface="Calibri"/>
              <a:cs typeface="Calibri"/>
              <a:sym typeface="Calibri"/>
            </a:endParaRPr>
          </a:p>
        </p:txBody>
      </p:sp>
      <p:sp>
        <p:nvSpPr>
          <p:cNvPr id="12" name="object 10">
            <a:extLst>
              <a:ext uri="{FF2B5EF4-FFF2-40B4-BE49-F238E27FC236}">
                <a16:creationId xmlns:a16="http://schemas.microsoft.com/office/drawing/2014/main" id="{5AF57AC2-A81E-152A-D935-F224C041D213}"/>
              </a:ext>
            </a:extLst>
          </p:cNvPr>
          <p:cNvSpPr/>
          <p:nvPr/>
        </p:nvSpPr>
        <p:spPr>
          <a:xfrm>
            <a:off x="114120" y="2575560"/>
            <a:ext cx="16604160" cy="4343777"/>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457200" indent="-457200" algn="just">
              <a:lnSpc>
                <a:spcPct val="150000"/>
              </a:lnSpc>
              <a:buFont typeface="Arial" panose="020B0604020202020204" pitchFamily="34" charset="0"/>
              <a:buChar char="•"/>
            </a:pP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is a MERN Stack Web marketplace connecting local food producers with consumers, empowering home cooks to offer their specialties. </a:t>
            </a:r>
          </a:p>
          <a:p>
            <a:pPr marL="457200" indent="-457200" algn="just">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Key features include user profiles, detailed listings of items, messaging, rating system and secure payment system.</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platform aims to reduce food waste and contribute to local economies, redefining the digital experience of sharing homemade delights.</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424E0050-3136-C91B-4FAE-0F3C8E81833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590B9B9-141C-4A3D-7068-26B31DD1D87B}"/>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6" name="Google Shape;606;p3"/>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Problem Definition</a:t>
            </a:r>
            <a:endParaRPr sz="4400" b="0" i="0" u="none" strike="noStrike" cap="none">
              <a:latin typeface="Arial"/>
              <a:ea typeface="Arial"/>
              <a:cs typeface="Arial"/>
              <a:sym typeface="Arial"/>
            </a:endParaRPr>
          </a:p>
        </p:txBody>
      </p:sp>
      <p:sp>
        <p:nvSpPr>
          <p:cNvPr id="608" name="Google Shape;608;p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611" name="Google Shape;611;p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grpSp>
        <p:nvGrpSpPr>
          <p:cNvPr id="2" name="Group 15">
            <a:extLst>
              <a:ext uri="{FF2B5EF4-FFF2-40B4-BE49-F238E27FC236}">
                <a16:creationId xmlns:a16="http://schemas.microsoft.com/office/drawing/2014/main" id="{79D94332-19E0-A430-E5BE-5479E8B3FE5B}"/>
              </a:ext>
            </a:extLst>
          </p:cNvPr>
          <p:cNvGrpSpPr/>
          <p:nvPr/>
        </p:nvGrpSpPr>
        <p:grpSpPr>
          <a:xfrm>
            <a:off x="0" y="839520"/>
            <a:ext cx="5120280" cy="1037880"/>
            <a:chOff x="0" y="839520"/>
            <a:chExt cx="5120280" cy="1037880"/>
          </a:xfrm>
        </p:grpSpPr>
        <p:sp>
          <p:nvSpPr>
            <p:cNvPr id="3" name="object 82">
              <a:extLst>
                <a:ext uri="{FF2B5EF4-FFF2-40B4-BE49-F238E27FC236}">
                  <a16:creationId xmlns:a16="http://schemas.microsoft.com/office/drawing/2014/main" id="{CBC3D5D5-44AE-5BDE-3994-70B8546263E5}"/>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4" name="object 83">
              <a:extLst>
                <a:ext uri="{FF2B5EF4-FFF2-40B4-BE49-F238E27FC236}">
                  <a16:creationId xmlns:a16="http://schemas.microsoft.com/office/drawing/2014/main" id="{B16D8426-6B17-A5CF-D5EB-EA279D7E4B87}"/>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5" name="object 84">
            <a:extLst>
              <a:ext uri="{FF2B5EF4-FFF2-40B4-BE49-F238E27FC236}">
                <a16:creationId xmlns:a16="http://schemas.microsoft.com/office/drawing/2014/main" id="{78BF39B6-1936-4315-00CB-77382BB98601}"/>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Problem Scenario</a:t>
            </a:r>
            <a:endParaRPr lang="en-US" sz="4400" b="0" strike="noStrike" spc="-1" dirty="0">
              <a:latin typeface="Arial"/>
            </a:endParaRPr>
          </a:p>
        </p:txBody>
      </p:sp>
      <p:sp>
        <p:nvSpPr>
          <p:cNvPr id="6" name="object 85">
            <a:extLst>
              <a:ext uri="{FF2B5EF4-FFF2-40B4-BE49-F238E27FC236}">
                <a16:creationId xmlns:a16="http://schemas.microsoft.com/office/drawing/2014/main" id="{D8290CE5-D559-B9C4-DA66-49431013596B}"/>
              </a:ext>
            </a:extLst>
          </p:cNvPr>
          <p:cNvSpPr/>
          <p:nvPr/>
        </p:nvSpPr>
        <p:spPr>
          <a:xfrm>
            <a:off x="114120" y="2603646"/>
            <a:ext cx="18104760" cy="480544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Limited Connectivity </a:t>
            </a:r>
            <a:r>
              <a:rPr lang="en-IN"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Challenge in efficiently connecting local food producers with potential consumers.</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1"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Underutilized Culinary Talents </a:t>
            </a:r>
            <a:r>
              <a:rPr lang="en-US" sz="32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Local producers face difficulties in showcasing and promoting their unique specialties.</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Food Waste in Traditional Supply Chains : </a:t>
            </a:r>
            <a:r>
              <a:rPr lang="en-IN"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Existing food supply chains contribute to food waste, lacking a streamlined approach for demand and supply matching.</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12" name="Rectangle 11">
            <a:extLst>
              <a:ext uri="{FF2B5EF4-FFF2-40B4-BE49-F238E27FC236}">
                <a16:creationId xmlns:a16="http://schemas.microsoft.com/office/drawing/2014/main" id="{0607086C-199B-3BF4-3EEA-20C4DCAC4D7D}"/>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9DB5ADF3-6EAD-29FC-1F16-41F748EEF6D8}"/>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81565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467E8ED-49DC-471C-F6A1-613A8798502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bject 84">
            <a:extLst>
              <a:ext uri="{FF2B5EF4-FFF2-40B4-BE49-F238E27FC236}">
                <a16:creationId xmlns:a16="http://schemas.microsoft.com/office/drawing/2014/main" id="{E80B4F80-4D40-96DA-9281-37895BB372C4}"/>
              </a:ext>
            </a:extLst>
          </p:cNvPr>
          <p:cNvSpPr/>
          <p:nvPr/>
        </p:nvSpPr>
        <p:spPr>
          <a:xfrm>
            <a:off x="135030" y="57980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4" name="object 84">
            <a:extLst>
              <a:ext uri="{FF2B5EF4-FFF2-40B4-BE49-F238E27FC236}">
                <a16:creationId xmlns:a16="http://schemas.microsoft.com/office/drawing/2014/main" id="{6CB2781D-61A9-E8DD-AAFB-B3501353D95C}"/>
              </a:ext>
            </a:extLst>
          </p:cNvPr>
          <p:cNvSpPr/>
          <p:nvPr/>
        </p:nvSpPr>
        <p:spPr>
          <a:xfrm>
            <a:off x="287430" y="59504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grpSp>
        <p:nvGrpSpPr>
          <p:cNvPr id="15" name="Group 15">
            <a:extLst>
              <a:ext uri="{FF2B5EF4-FFF2-40B4-BE49-F238E27FC236}">
                <a16:creationId xmlns:a16="http://schemas.microsoft.com/office/drawing/2014/main" id="{D958360A-76D8-30A7-725C-EAE53777FB97}"/>
              </a:ext>
            </a:extLst>
          </p:cNvPr>
          <p:cNvGrpSpPr/>
          <p:nvPr/>
        </p:nvGrpSpPr>
        <p:grpSpPr>
          <a:xfrm>
            <a:off x="0" y="839520"/>
            <a:ext cx="5120280" cy="1037880"/>
            <a:chOff x="0" y="839520"/>
            <a:chExt cx="5120280" cy="1037880"/>
          </a:xfrm>
        </p:grpSpPr>
        <p:sp>
          <p:nvSpPr>
            <p:cNvPr id="16" name="object 82">
              <a:extLst>
                <a:ext uri="{FF2B5EF4-FFF2-40B4-BE49-F238E27FC236}">
                  <a16:creationId xmlns:a16="http://schemas.microsoft.com/office/drawing/2014/main" id="{7DBAEDA6-8842-405B-D63D-7603A3AAF0CB}"/>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17" name="object 83">
              <a:extLst>
                <a:ext uri="{FF2B5EF4-FFF2-40B4-BE49-F238E27FC236}">
                  <a16:creationId xmlns:a16="http://schemas.microsoft.com/office/drawing/2014/main" id="{1BFBFDF3-D257-7403-3A95-7F6DDD88A586}"/>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18" name="object 84">
            <a:extLst>
              <a:ext uri="{FF2B5EF4-FFF2-40B4-BE49-F238E27FC236}">
                <a16:creationId xmlns:a16="http://schemas.microsoft.com/office/drawing/2014/main" id="{21154814-A3CC-C793-C64F-4B97A41C6F55}"/>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9" name="object 85">
            <a:extLst>
              <a:ext uri="{FF2B5EF4-FFF2-40B4-BE49-F238E27FC236}">
                <a16:creationId xmlns:a16="http://schemas.microsoft.com/office/drawing/2014/main" id="{F9428100-A42D-AB35-A706-CEE70A5D7A57}"/>
              </a:ext>
            </a:extLst>
          </p:cNvPr>
          <p:cNvSpPr/>
          <p:nvPr/>
        </p:nvSpPr>
        <p:spPr>
          <a:xfrm>
            <a:off x="157054" y="2470752"/>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Digital Bridge &amp; Connectivity: </a:t>
            </a:r>
            <a:r>
              <a:rPr lang="en-IN"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Comprehensive digital platform serving as a bridge between local food producers and consumers.</a:t>
            </a:r>
          </a:p>
          <a:p>
            <a:pPr marL="12600" indent="-216000" algn="just">
              <a:lnSpc>
                <a:spcPct val="150000"/>
              </a:lnSpc>
              <a:spcBef>
                <a:spcPts val="850"/>
              </a:spcBef>
              <a:spcAft>
                <a:spcPts val="850"/>
              </a:spcAft>
              <a:buClr>
                <a:srgbClr val="000000"/>
              </a:buClr>
              <a:buFont typeface="Symbol"/>
              <a:buChar char=""/>
            </a:pPr>
            <a:r>
              <a:rPr lang="en-IN" sz="32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Supply-on-Demand Model: </a:t>
            </a:r>
            <a:r>
              <a:rPr lang="en-IN"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Introduces a supply-on-demand model, allowing producers to meet consumer demand more efficiently.</a:t>
            </a:r>
          </a:p>
        </p:txBody>
      </p:sp>
      <p:pic>
        <p:nvPicPr>
          <p:cNvPr id="2" name="Picture 1">
            <a:extLst>
              <a:ext uri="{FF2B5EF4-FFF2-40B4-BE49-F238E27FC236}">
                <a16:creationId xmlns:a16="http://schemas.microsoft.com/office/drawing/2014/main" id="{4277AA15-427E-637C-F5DD-1386ABCEAD45}"/>
              </a:ext>
            </a:extLst>
          </p:cNvPr>
          <p:cNvPicPr>
            <a:picLocks noChangeAspect="1"/>
          </p:cNvPicPr>
          <p:nvPr/>
        </p:nvPicPr>
        <p:blipFill>
          <a:blip r:embed="rId3"/>
          <a:stretch>
            <a:fillRect/>
          </a:stretch>
        </p:blipFill>
        <p:spPr>
          <a:xfrm>
            <a:off x="14621553" y="244549"/>
            <a:ext cx="4231706" cy="2456303"/>
          </a:xfrm>
          <a:prstGeom prst="rect">
            <a:avLst/>
          </a:prstGeom>
        </p:spPr>
      </p:pic>
    </p:spTree>
    <p:extLst>
      <p:ext uri="{BB962C8B-B14F-4D97-AF65-F5344CB8AC3E}">
        <p14:creationId xmlns:p14="http://schemas.microsoft.com/office/powerpoint/2010/main" val="955069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grpSp>
        <p:nvGrpSpPr>
          <p:cNvPr id="616" name="Google Shape;616;p4"/>
          <p:cNvGrpSpPr/>
          <p:nvPr/>
        </p:nvGrpSpPr>
        <p:grpSpPr>
          <a:xfrm>
            <a:off x="0" y="839520"/>
            <a:ext cx="5120280" cy="1037880"/>
            <a:chOff x="0" y="839520"/>
            <a:chExt cx="5120280" cy="1037880"/>
          </a:xfrm>
        </p:grpSpPr>
        <p:sp>
          <p:nvSpPr>
            <p:cNvPr id="617" name="Google Shape;617;p4"/>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18" name="Google Shape;618;p4"/>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19" name="Google Shape;619;p4"/>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Project Purpose</a:t>
            </a:r>
            <a:endParaRPr sz="4400" b="0" i="0" u="none" strike="noStrike" cap="none" dirty="0">
              <a:latin typeface="Arial"/>
              <a:ea typeface="Arial"/>
              <a:cs typeface="Arial"/>
              <a:sym typeface="Arial"/>
            </a:endParaRPr>
          </a:p>
        </p:txBody>
      </p:sp>
      <p:sp>
        <p:nvSpPr>
          <p:cNvPr id="621" name="Google Shape;621;p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24" name="Google Shape;624;p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15">
            <a:extLst>
              <a:ext uri="{FF2B5EF4-FFF2-40B4-BE49-F238E27FC236}">
                <a16:creationId xmlns:a16="http://schemas.microsoft.com/office/drawing/2014/main" id="{DA910D43-7A14-93FA-D2CD-72A88958DC05}"/>
              </a:ext>
            </a:extLst>
          </p:cNvPr>
          <p:cNvSpPr/>
          <p:nvPr/>
        </p:nvSpPr>
        <p:spPr>
          <a:xfrm>
            <a:off x="558420" y="2593514"/>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gn="just">
              <a:lnSpc>
                <a:spcPct val="150000"/>
              </a:lnSpc>
              <a:spcBef>
                <a:spcPts val="850"/>
              </a:spcBef>
              <a:spcAft>
                <a:spcPts val="850"/>
              </a:spcAft>
              <a:buClr>
                <a:srgbClr val="000000"/>
              </a:buClr>
              <a:buFont typeface="Arial" panose="020B0604020202020204" pitchFamily="34" charset="0"/>
              <a:buChar char="•"/>
            </a:pPr>
            <a:r>
              <a:rPr lang="en-US" sz="32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Promotion of Culinary Talents :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Provide a platform for local culinary talents to showcase their specialties, celebrating the diversity and authenticity of homemade food.</a:t>
            </a:r>
          </a:p>
          <a:p>
            <a:pPr marL="571500" indent="-571500" algn="just">
              <a:lnSpc>
                <a:spcPct val="150000"/>
              </a:lnSpc>
              <a:spcBef>
                <a:spcPts val="850"/>
              </a:spcBef>
              <a:spcAft>
                <a:spcPts val="850"/>
              </a:spcAft>
              <a:buClr>
                <a:srgbClr val="000000"/>
              </a:buClr>
              <a:buFont typeface="Arial" panose="020B0604020202020204" pitchFamily="34" charset="0"/>
              <a:buChar char="•"/>
            </a:pP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Issues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Contribute to reducing food waste and improving food security by encouraging a sustainable and localized food supply chain.</a:t>
            </a:r>
          </a:p>
        </p:txBody>
      </p:sp>
      <p:sp>
        <p:nvSpPr>
          <p:cNvPr id="4" name="Rectangle 3">
            <a:extLst>
              <a:ext uri="{FF2B5EF4-FFF2-40B4-BE49-F238E27FC236}">
                <a16:creationId xmlns:a16="http://schemas.microsoft.com/office/drawing/2014/main" id="{FB24E8FE-70C6-26BF-7374-8220847A03A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D46A2088-E183-5942-E1CD-B24FAC315065}"/>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Project Scope</a:t>
            </a:r>
            <a:endParaRPr sz="4400" b="0" i="0" u="none" strike="noStrike" cap="none">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138912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Create a thriving ecosystem for celebrating and promoting local culinary talents.</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issues like food waste and support local economies.</a:t>
            </a: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pic>
        <p:nvPicPr>
          <p:cNvPr id="4" name="Picture 3">
            <a:extLst>
              <a:ext uri="{FF2B5EF4-FFF2-40B4-BE49-F238E27FC236}">
                <a16:creationId xmlns:a16="http://schemas.microsoft.com/office/drawing/2014/main" id="{C583D951-6F1F-51A0-E2DC-2843EB1433C2}"/>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Domain Survey</a:t>
            </a:r>
            <a:endParaRPr sz="4400" b="0" i="0" u="none" strike="noStrike" cap="none" dirty="0">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6559769"/>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l">
              <a:lnSpc>
                <a:spcPct val="150000"/>
              </a:lnSpc>
            </a:pP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Local Food Supply Chain Platforms: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Survey existing platforms that aim to connect local food producers with consumers.</a:t>
            </a:r>
          </a:p>
          <a:p>
            <a:pPr marL="457200" indent="-457200" algn="l">
              <a:lnSpc>
                <a:spcPct val="150000"/>
              </a:lnSpc>
              <a:buFont typeface="Arial" panose="020B0604020202020204" pitchFamily="34" charset="0"/>
              <a:buChar char="•"/>
            </a:pP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Analyze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features, user interactions, and shortcomings of these platforms.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Identify successful strategies for promoting local culinary talents and reducing food waste.</a:t>
            </a:r>
          </a:p>
          <a:p>
            <a:pPr marL="457200" indent="-457200" algn="l">
              <a:lnSpc>
                <a:spcPct val="150000"/>
              </a:lnSpc>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lnSpc>
                <a:spcPct val="150000"/>
              </a:lnSpc>
            </a:pP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Community – Driven Food </a:t>
            </a:r>
            <a:r>
              <a:rPr lang="en-IN" sz="3200" b="1"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Initatives</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Explore community-driven food initiatives that support local economies and sustainable practices.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Assess how these initiatives foster direct connections between producers and consumers.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Extract insights on community engagement, user satisfaction, and impact on local food systems.</a:t>
            </a: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pic>
        <p:nvPicPr>
          <p:cNvPr id="4" name="Picture 3">
            <a:extLst>
              <a:ext uri="{FF2B5EF4-FFF2-40B4-BE49-F238E27FC236}">
                <a16:creationId xmlns:a16="http://schemas.microsoft.com/office/drawing/2014/main" id="{E9E15340-4694-D3F3-33CC-9A54352D439E}"/>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176135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 Real Time Web Service System for Food Delivery</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Kartik, Ishika Bansal, Kirti, Kartik Rajvanshi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Journal of Data Acquisition and Processing</a:t>
            </a:r>
          </a:p>
          <a:p>
            <a:pPr algn="l"/>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focuses on developing a real-time web service system for food delivery to provide fresh, hygienic, and affordable meals to customers living away from home.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need for nutritious and healthy food options for individuals studying or working outside their homes and the challenges they face in obtaining such meals.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 service that aims to offer quality food, reasonable prices, and a variety of tastes while also providing employment opportunities for housewives. The system includes features such as database design, user interface, payment methods, order tracking, and process diagrams.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F378C0C-C724-F530-F59F-754936EE26CF}"/>
              </a:ext>
            </a:extLst>
          </p:cNvPr>
          <p:cNvSpPr txBox="1"/>
          <p:nvPr/>
        </p:nvSpPr>
        <p:spPr>
          <a:xfrm>
            <a:off x="12363647" y="173377"/>
            <a:ext cx="3179785" cy="307777"/>
          </a:xfrm>
          <a:prstGeom prst="rect">
            <a:avLst/>
          </a:prstGeom>
          <a:noFill/>
        </p:spPr>
        <p:txBody>
          <a:bodyPr wrap="square" rtlCol="0">
            <a:spAutoFit/>
          </a:bodyPr>
          <a:lstStyle/>
          <a:p>
            <a:r>
              <a:rPr lang="en-IN" dirty="0"/>
              <a:t>\</a:t>
            </a:r>
          </a:p>
        </p:txBody>
      </p:sp>
      <p:pic>
        <p:nvPicPr>
          <p:cNvPr id="5" name="Picture 4">
            <a:extLst>
              <a:ext uri="{FF2B5EF4-FFF2-40B4-BE49-F238E27FC236}">
                <a16:creationId xmlns:a16="http://schemas.microsoft.com/office/drawing/2014/main" id="{B753D4B4-7F3C-1DB1-7857-612CE46BE538}"/>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7971413"/>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Food Ordering website "Cooked with care" developed using MERN stack</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 :-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Amit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Shersingh</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Chauhan, Abhishek Mishra, Sushil Bhardwaj, Sunita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Nandgave</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2022</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IEEE Xplore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presents the development of a food ordering website called "Cooked with care" using the MERN stack (MongoDB,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ExpressJS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React, NodeJS) and other technologies such as AWS cloud storage.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website aims to provide a digital platform for homemakers and restaurant owners to sell their products and services online, with customer feedback and the ability to update menus.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design and implementation of the website, its features including customer payment gateway, order management, and generating bills and invoices, and highlights its potential to reduce food wastage and enhance convenience for consumers and business owners.</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A2E08BA9-CE13-1B02-7967-F31A8C15B82F}"/>
              </a:ext>
            </a:extLst>
          </p:cNvPr>
          <p:cNvPicPr>
            <a:picLocks noChangeAspect="1"/>
          </p:cNvPicPr>
          <p:nvPr/>
        </p:nvPicPr>
        <p:blipFill>
          <a:blip r:embed="rId3"/>
          <a:stretch>
            <a:fillRect/>
          </a:stretch>
        </p:blipFill>
        <p:spPr>
          <a:xfrm>
            <a:off x="14819085" y="219835"/>
            <a:ext cx="4034173" cy="2456303"/>
          </a:xfrm>
          <a:prstGeom prst="rect">
            <a:avLst/>
          </a:prstGeom>
        </p:spPr>
      </p:pic>
    </p:spTree>
    <p:extLst>
      <p:ext uri="{BB962C8B-B14F-4D97-AF65-F5344CB8AC3E}">
        <p14:creationId xmlns:p14="http://schemas.microsoft.com/office/powerpoint/2010/main" val="605042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171360" y="1812281"/>
            <a:ext cx="17768297" cy="7971413"/>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Web Based Application for Ordering Food Raw Materials</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Rita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Layona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Budi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Yulianto</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Yovita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Tunardi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2021</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1st International Conference on Computer Science and Artificial Intelligence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addresses the economic impact of the Covid-19 pandemic in Indonesia, specifically focusing on the challenges faced by housewives in shopping for food raw materials while avoiding virus transmission.</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web-based application that allows housewives and community members to safely and easily order food raw materials from local merchants, with delivery carried out by a local government courier.</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utilizes a mixed method approach, combining quantitative research and the Waterfall development method, to gather requirements and develop the application. The paper highlights the importance of centralized goods delivery and the use of Indonesian language for local residents.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B41E2F63-5D97-4910-6164-AB9580B3486D}"/>
              </a:ext>
            </a:extLst>
          </p:cNvPr>
          <p:cNvPicPr>
            <a:picLocks noChangeAspect="1"/>
          </p:cNvPicPr>
          <p:nvPr/>
        </p:nvPicPr>
        <p:blipFill>
          <a:blip r:embed="rId3"/>
          <a:stretch>
            <a:fillRect/>
          </a:stretch>
        </p:blipFill>
        <p:spPr>
          <a:xfrm>
            <a:off x="14621553" y="244549"/>
            <a:ext cx="4231706" cy="2456303"/>
          </a:xfrm>
          <a:prstGeom prst="rect">
            <a:avLst/>
          </a:prstGeom>
        </p:spPr>
      </p:pic>
    </p:spTree>
    <p:extLst>
      <p:ext uri="{BB962C8B-B14F-4D97-AF65-F5344CB8AC3E}">
        <p14:creationId xmlns:p14="http://schemas.microsoft.com/office/powerpoint/2010/main" val="1966743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581525"/>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Causal analysis of factors contributing to food wastage in restaurants of India</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Mahakpreet</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Kaur Virdi, Shubhangi Gupta,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Nitasha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Hasteer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Kashish Rastogi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2023-12-27</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International Conference on Computational Intelligence and Sustainable Engineering Solutions (CISES)</a:t>
            </a:r>
          </a:p>
          <a:p>
            <a:pPr algn="l"/>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investigates the factors contributing to food wastage in restaurants in India.</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uses a survey analysis to identify six factors causing food wastage and applies the DEMATEL (Decision-Making Trial and Evaluation Laboratory) approach to establish causal relationships.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most influential factor identified is "Less Shelf Life (LSL)." The paper emphasizes the importance of reducing food waste for social, economic, and environmental reasons.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90502AD9-BEF0-3584-3D53-13C0D80B164F}"/>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359066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Design of Web App for Online Food Services</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Harsh Pathak, Naman Gupta, Dhiren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Premakar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Preeti Garg</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Date: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May 2022</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International Journal for Research in Applied Science &amp; Engineering Technology (IJRASET)</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discusses the design of a web application for online food services, emphasizing the convenience and benefits of online food ordering.</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proposed methodology involves a requirement analysis stage, the development of a mobile food ordering system, and the use of the MERN stack technology.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highlights the features and advantages of an online food ordering system, such as easy access to information, customer support, and potential cost savings for restaurants. It also acknowledges potential disadvantages, including quality control and delivery challenges.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A671EA1B-BE30-FC82-B2A1-1B2FF95418BA}"/>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8015047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grpSp>
        <p:nvGrpSpPr>
          <p:cNvPr id="668" name="Google Shape;668;p8"/>
          <p:cNvGrpSpPr/>
          <p:nvPr/>
        </p:nvGrpSpPr>
        <p:grpSpPr>
          <a:xfrm>
            <a:off x="0" y="839520"/>
            <a:ext cx="5303160" cy="1037880"/>
            <a:chOff x="0" y="839520"/>
            <a:chExt cx="5303160" cy="1037880"/>
          </a:xfrm>
        </p:grpSpPr>
        <p:sp>
          <p:nvSpPr>
            <p:cNvPr id="669" name="Google Shape;669;p8"/>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70" name="Google Shape;670;p8"/>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71" name="Google Shape;671;p8"/>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73" name="Google Shape;673;p8"/>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74" name="Google Shape;674;p8"/>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Existing Systems</a:t>
            </a:r>
            <a:endParaRPr sz="3600" b="0" i="0" u="none" strike="noStrike" cap="none">
              <a:latin typeface="Arial"/>
              <a:ea typeface="Arial"/>
              <a:cs typeface="Arial"/>
              <a:sym typeface="Arial"/>
            </a:endParaRPr>
          </a:p>
        </p:txBody>
      </p:sp>
      <p:sp>
        <p:nvSpPr>
          <p:cNvPr id="675" name="Google Shape;675;p8"/>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78" name="Google Shape;678;p8"/>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31">
            <a:extLst>
              <a:ext uri="{FF2B5EF4-FFF2-40B4-BE49-F238E27FC236}">
                <a16:creationId xmlns:a16="http://schemas.microsoft.com/office/drawing/2014/main" id="{AD400032-1333-5450-9A49-FFBD893D5242}"/>
              </a:ext>
            </a:extLst>
          </p:cNvPr>
          <p:cNvSpPr/>
          <p:nvPr/>
        </p:nvSpPr>
        <p:spPr>
          <a:xfrm>
            <a:off x="317634" y="2801450"/>
            <a:ext cx="17842029" cy="5544106"/>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Swiggy: </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Swiggy is an online food delivery platform that connects users with a wide range of local restaurants, allowing them to order food and have it delivered to their doorstep.</a:t>
            </a:r>
          </a:p>
          <a:p>
            <a:pPr marL="12600" indent="-216000" algn="just">
              <a:lnSpc>
                <a:spcPct val="150000"/>
              </a:lnSpc>
              <a:spcBef>
                <a:spcPts val="850"/>
              </a:spcBef>
              <a:spcAft>
                <a:spcPts val="850"/>
              </a:spcAft>
              <a:buClr>
                <a:srgbClr val="000000"/>
              </a:buClr>
              <a:buFont typeface="Symbol"/>
              <a:buChar char=""/>
            </a:pPr>
            <a:r>
              <a:rPr lang="en-US" sz="3200" b="0" strike="noStrike" spc="-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strike="noStrike"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Zomato:</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Zomato is a global restaurant discovery and food delivery platform that enables users to explore restaurants, read reviews, and order food for delivery or takeout.</a:t>
            </a:r>
            <a:endParaRPr lang="en-US" sz="32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is the food delivery arm of Uber, providing users with the convenience of ordering food from local restaurants through the Uber Eats app and having it delivered by Uber drivers.</a:t>
            </a:r>
            <a:endParaRPr lang="en-US" sz="320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B96E47D0-A60B-1A13-9E35-1E95EFE2A98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D4F7A36-B831-10F4-1B95-45288A46F5FC}"/>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grpSp>
        <p:nvGrpSpPr>
          <p:cNvPr id="683" name="Google Shape;683;p9"/>
          <p:cNvGrpSpPr/>
          <p:nvPr/>
        </p:nvGrpSpPr>
        <p:grpSpPr>
          <a:xfrm>
            <a:off x="0" y="839520"/>
            <a:ext cx="5303160" cy="1037880"/>
            <a:chOff x="0" y="839520"/>
            <a:chExt cx="5303160" cy="1037880"/>
          </a:xfrm>
        </p:grpSpPr>
        <p:sp>
          <p:nvSpPr>
            <p:cNvPr id="684" name="Google Shape;684;p9"/>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85" name="Google Shape;685;p9"/>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86" name="Google Shape;686;p9"/>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687" name="Google Shape;687;p9"/>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88" name="Google Shape;688;p9"/>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Comparison</a:t>
            </a:r>
            <a:endParaRPr sz="3600" b="0" i="0" u="none" strike="noStrike" cap="none">
              <a:latin typeface="Arial"/>
              <a:ea typeface="Arial"/>
              <a:cs typeface="Arial"/>
              <a:sym typeface="Arial"/>
            </a:endParaRPr>
          </a:p>
        </p:txBody>
      </p:sp>
      <p:sp>
        <p:nvSpPr>
          <p:cNvPr id="690" name="Google Shape;690;p9"/>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9"/>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9"/>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93" name="Google Shape;693;p9"/>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4" name="Rectangle 3">
            <a:extLst>
              <a:ext uri="{FF2B5EF4-FFF2-40B4-BE49-F238E27FC236}">
                <a16:creationId xmlns:a16="http://schemas.microsoft.com/office/drawing/2014/main" id="{8196B7A1-AFB3-298C-EEB1-7326675967A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32B423F-4A0B-51D9-EC55-D1C82247CE72}"/>
              </a:ext>
            </a:extLst>
          </p:cNvPr>
          <p:cNvGraphicFramePr>
            <a:graphicFrameLocks noGrp="1"/>
          </p:cNvGraphicFramePr>
          <p:nvPr>
            <p:extLst>
              <p:ext uri="{D42A27DB-BD31-4B8C-83A1-F6EECF244321}">
                <p14:modId xmlns:p14="http://schemas.microsoft.com/office/powerpoint/2010/main" val="3540680283"/>
              </p:ext>
            </p:extLst>
          </p:nvPr>
        </p:nvGraphicFramePr>
        <p:xfrm>
          <a:off x="335280" y="3121600"/>
          <a:ext cx="18303240" cy="6939105"/>
        </p:xfrm>
        <a:graphic>
          <a:graphicData uri="http://schemas.openxmlformats.org/drawingml/2006/table">
            <a:tbl>
              <a:tblPr firstRow="1" bandRow="1">
                <a:tableStyleId>{20C9CE97-CE7F-44E7-8DA9-80F1B485C8E6}</a:tableStyleId>
              </a:tblPr>
              <a:tblGrid>
                <a:gridCol w="6101080">
                  <a:extLst>
                    <a:ext uri="{9D8B030D-6E8A-4147-A177-3AD203B41FA5}">
                      <a16:colId xmlns:a16="http://schemas.microsoft.com/office/drawing/2014/main" val="3046766488"/>
                    </a:ext>
                  </a:extLst>
                </a:gridCol>
                <a:gridCol w="6101080">
                  <a:extLst>
                    <a:ext uri="{9D8B030D-6E8A-4147-A177-3AD203B41FA5}">
                      <a16:colId xmlns:a16="http://schemas.microsoft.com/office/drawing/2014/main" val="445244232"/>
                    </a:ext>
                  </a:extLst>
                </a:gridCol>
                <a:gridCol w="6101080">
                  <a:extLst>
                    <a:ext uri="{9D8B030D-6E8A-4147-A177-3AD203B41FA5}">
                      <a16:colId xmlns:a16="http://schemas.microsoft.com/office/drawing/2014/main" val="1540060497"/>
                    </a:ext>
                  </a:extLst>
                </a:gridCol>
              </a:tblGrid>
              <a:tr h="644985">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Feature</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 (Proposed)</a:t>
                      </a:r>
                    </a:p>
                  </a:txBody>
                  <a:tcPr anchor="ctr"/>
                </a:tc>
                <a:tc>
                  <a:txBody>
                    <a:bodyPr/>
                    <a:lstStyle/>
                    <a:p>
                      <a:pPr algn="ctr" fontAlgn="b"/>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Zomato/Swiggy/Uber Eats</a:t>
                      </a:r>
                    </a:p>
                  </a:txBody>
                  <a:tcPr anchor="ctr"/>
                </a:tc>
                <a:extLst>
                  <a:ext uri="{0D108BD9-81ED-4DB2-BD59-A6C34878D82A}">
                    <a16:rowId xmlns:a16="http://schemas.microsoft.com/office/drawing/2014/main" val="1974429767"/>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Platform Focus</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Connects local food producers with consumers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Aggregates restaurants and offers food delivery services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4078994046"/>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Both food producers and consumers create profiles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Primarily consumer-focused profiles with limited restaurant details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1622736265"/>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Listings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Food producers showcase unique homemade offerings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Restaurants and their menu items displayed</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2627834058"/>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Messaging</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Enables direct communication between users and food producers</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Communication limited to order updates and support with restaurants</a:t>
                      </a:r>
                    </a:p>
                  </a:txBody>
                  <a:tcPr anchor="ctr"/>
                </a:tc>
                <a:extLst>
                  <a:ext uri="{0D108BD9-81ED-4DB2-BD59-A6C34878D82A}">
                    <a16:rowId xmlns:a16="http://schemas.microsoft.com/office/drawing/2014/main" val="1836112178"/>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Mission and Impact</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Addresses concerns such as food waste, supports local economies</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Primarily focused on providing convenient food delivery services</a:t>
                      </a:r>
                    </a:p>
                  </a:txBody>
                  <a:tcPr anchor="ctr"/>
                </a:tc>
                <a:extLst>
                  <a:ext uri="{0D108BD9-81ED-4DB2-BD59-A6C34878D82A}">
                    <a16:rowId xmlns:a16="http://schemas.microsoft.com/office/drawing/2014/main" val="443738577"/>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Vision</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Celebrates local culinary talents and reduces food waste</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Provides a convenient and efficient food delivery service</a:t>
                      </a:r>
                    </a:p>
                  </a:txBody>
                  <a:tcPr anchor="ctr"/>
                </a:tc>
                <a:extLst>
                  <a:ext uri="{0D108BD9-81ED-4DB2-BD59-A6C34878D82A}">
                    <a16:rowId xmlns:a16="http://schemas.microsoft.com/office/drawing/2014/main" val="824837253"/>
                  </a:ext>
                </a:extLst>
              </a:tr>
            </a:tbl>
          </a:graphicData>
        </a:graphic>
      </p:graphicFrame>
      <p:pic>
        <p:nvPicPr>
          <p:cNvPr id="2" name="Picture 1">
            <a:extLst>
              <a:ext uri="{FF2B5EF4-FFF2-40B4-BE49-F238E27FC236}">
                <a16:creationId xmlns:a16="http://schemas.microsoft.com/office/drawing/2014/main" id="{C2BD7465-FE69-9F17-7481-51BE15DE869D}"/>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Survey</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65">
            <a:extLst>
              <a:ext uri="{FF2B5EF4-FFF2-40B4-BE49-F238E27FC236}">
                <a16:creationId xmlns:a16="http://schemas.microsoft.com/office/drawing/2014/main" id="{D4435410-3A37-BD0E-4FDB-BA51C9C9A3A0}"/>
              </a:ext>
            </a:extLst>
          </p:cNvPr>
          <p:cNvSpPr/>
          <p:nvPr/>
        </p:nvSpPr>
        <p:spPr>
          <a:xfrm>
            <a:off x="425914" y="2847845"/>
            <a:ext cx="18156872" cy="6513602"/>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 React: </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React is a JavaScript library for building user interfaces, known for its declarative and efficient approach to creating interactive components.</a:t>
            </a:r>
          </a:p>
          <a:p>
            <a:pPr marL="12600" indent="-216000" algn="just">
              <a:lnSpc>
                <a:spcPct val="150000"/>
              </a:lnSpc>
              <a:spcBef>
                <a:spcPts val="850"/>
              </a:spcBef>
              <a:spcAft>
                <a:spcPts val="850"/>
              </a:spcAft>
              <a:buClr>
                <a:srgbClr val="000000"/>
              </a:buClr>
              <a:buFont typeface="Symbol"/>
              <a:buChar char=""/>
            </a:pP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Express.js: </a:t>
            </a:r>
            <a:r>
              <a:rPr lang="en-US"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xpress.js is a minimal and flexible Node.js web application framework that simplifies the process of building robust web applications.</a:t>
            </a: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p>
          <a:p>
            <a:pPr marL="12600" indent="-216000" algn="just">
              <a:lnSpc>
                <a:spcPct val="150000"/>
              </a:lnSpc>
              <a:spcBef>
                <a:spcPts val="850"/>
              </a:spcBef>
              <a:spcAft>
                <a:spcPts val="850"/>
              </a:spcAft>
              <a:buClr>
                <a:srgbClr val="000000"/>
              </a:buClr>
              <a:buFont typeface="Symbol"/>
              <a:buChar char=""/>
            </a:pP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 JS: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Node.js is a server-side JavaScript runtime that allows for building scalable and high-performance applications.</a:t>
            </a:r>
          </a:p>
          <a:p>
            <a:pPr marL="12600" indent="-216000" algn="just">
              <a:lnSpc>
                <a:spcPct val="150000"/>
              </a:lnSpc>
              <a:spcBef>
                <a:spcPts val="850"/>
              </a:spcBef>
              <a:spcAft>
                <a:spcPts val="850"/>
              </a:spcAft>
              <a:buClr>
                <a:srgbClr val="000000"/>
              </a:buClr>
              <a:buFont typeface="Symbol"/>
              <a:buChar char=""/>
            </a:pPr>
            <a:r>
              <a:rPr lang="en-IN" sz="3200" b="1" dirty="0" err="1">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1"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loudinary</a:t>
            </a: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(for images): </a:t>
            </a:r>
            <a:r>
              <a:rPr lang="en-IN" sz="3200"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Cloudinary</a:t>
            </a:r>
            <a:r>
              <a:rPr lang="en-IN" sz="32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is a cloud-based image and video management service, offering features like storage, optimization, and delivery for media assets.</a:t>
            </a:r>
          </a:p>
        </p:txBody>
      </p:sp>
      <p:sp>
        <p:nvSpPr>
          <p:cNvPr id="3" name="Rectangle 2">
            <a:extLst>
              <a:ext uri="{FF2B5EF4-FFF2-40B4-BE49-F238E27FC236}">
                <a16:creationId xmlns:a16="http://schemas.microsoft.com/office/drawing/2014/main" id="{87174E1A-6D4C-EFFD-B83E-73ED8E74BB4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DFB247D6-57CD-7A83-9309-0D7668275AD5}"/>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Survey</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65">
            <a:extLst>
              <a:ext uri="{FF2B5EF4-FFF2-40B4-BE49-F238E27FC236}">
                <a16:creationId xmlns:a16="http://schemas.microsoft.com/office/drawing/2014/main" id="{8F00577D-E60C-94C3-0AD3-788E9F6D25AB}"/>
              </a:ext>
            </a:extLst>
          </p:cNvPr>
          <p:cNvSpPr/>
          <p:nvPr/>
        </p:nvSpPr>
        <p:spPr>
          <a:xfrm>
            <a:off x="451970" y="2887200"/>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is a NoSQL database management system, ideal for handling unstructured data and scalable applications.</a:t>
            </a:r>
          </a:p>
          <a:p>
            <a:pPr marL="12600" indent="-216000" algn="just">
              <a:lnSpc>
                <a:spcPct val="150000"/>
              </a:lnSpc>
              <a:spcBef>
                <a:spcPts val="850"/>
              </a:spcBef>
              <a:spcAft>
                <a:spcPts val="850"/>
              </a:spcAft>
              <a:buClr>
                <a:srgbClr val="000000"/>
              </a:buClr>
              <a:buFont typeface="Symbol"/>
              <a:buChar char=""/>
            </a:pP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(for payment): </a:t>
            </a:r>
            <a:r>
              <a:rPr lang="en-IN" sz="32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is a secure and developer-friendly platform that provides tools for online payment processing, supporting credit/debit card and digital wallet transactions.</a:t>
            </a: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8D6AB430-226C-C064-70B4-077E4DEF2C86}"/>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323B5A42-B5AE-7662-EFF2-97ABA963DE7D}"/>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9043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grpSp>
        <p:nvGrpSpPr>
          <p:cNvPr id="713" name="Google Shape;713;p11"/>
          <p:cNvGrpSpPr/>
          <p:nvPr/>
        </p:nvGrpSpPr>
        <p:grpSpPr>
          <a:xfrm>
            <a:off x="0" y="839520"/>
            <a:ext cx="5303160" cy="1037880"/>
            <a:chOff x="0" y="839520"/>
            <a:chExt cx="5303160" cy="1037880"/>
          </a:xfrm>
        </p:grpSpPr>
        <p:sp>
          <p:nvSpPr>
            <p:cNvPr id="714" name="Google Shape;714;p11"/>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15" name="Google Shape;715;p11"/>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16" name="Google Shape;716;p11"/>
          <p:cNvSpPr/>
          <p:nvPr/>
        </p:nvSpPr>
        <p:spPr>
          <a:xfrm>
            <a:off x="171360" y="957600"/>
            <a:ext cx="72039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Tools &amp; Technologies</a:t>
            </a:r>
            <a:endParaRPr sz="4400" b="0" i="0" u="none" strike="noStrike" cap="none" dirty="0">
              <a:latin typeface="Arial"/>
              <a:ea typeface="Arial"/>
              <a:cs typeface="Arial"/>
              <a:sym typeface="Arial"/>
            </a:endParaRPr>
          </a:p>
        </p:txBody>
      </p:sp>
      <p:sp>
        <p:nvSpPr>
          <p:cNvPr id="719" name="Google Shape;719;p11"/>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1"/>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11"/>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22" name="Google Shape;722;p11"/>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6BA0BF8E-967C-5AF7-AD54-CA1E6CC816B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1D5EF6F8-F12B-5E6F-EA2C-B048E9EE2C8A}"/>
              </a:ext>
            </a:extLst>
          </p:cNvPr>
          <p:cNvGraphicFramePr>
            <a:graphicFrameLocks noGrp="1"/>
          </p:cNvGraphicFramePr>
          <p:nvPr>
            <p:extLst>
              <p:ext uri="{D42A27DB-BD31-4B8C-83A1-F6EECF244321}">
                <p14:modId xmlns:p14="http://schemas.microsoft.com/office/powerpoint/2010/main" val="2009890971"/>
              </p:ext>
            </p:extLst>
          </p:nvPr>
        </p:nvGraphicFramePr>
        <p:xfrm>
          <a:off x="692072" y="2858417"/>
          <a:ext cx="16044839" cy="2439964"/>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1808182997"/>
                    </a:ext>
                  </a:extLst>
                </a:gridCol>
                <a:gridCol w="12014072">
                  <a:extLst>
                    <a:ext uri="{9D8B030D-6E8A-4147-A177-3AD203B41FA5}">
                      <a16:colId xmlns:a16="http://schemas.microsoft.com/office/drawing/2014/main" val="1089993888"/>
                    </a:ext>
                  </a:extLst>
                </a:gridCol>
              </a:tblGrid>
              <a:tr h="609991">
                <a:tc>
                  <a:txBody>
                    <a:bodyPr/>
                    <a:lstStyle/>
                    <a:p>
                      <a:r>
                        <a:rPr lang="en-US" sz="2800" dirty="0"/>
                        <a:t>Specification</a:t>
                      </a:r>
                    </a:p>
                  </a:txBody>
                  <a:tcPr/>
                </a:tc>
                <a:tc>
                  <a:txBody>
                    <a:bodyPr/>
                    <a:lstStyle/>
                    <a:p>
                      <a:r>
                        <a:rPr lang="en-US" sz="2800" dirty="0"/>
                        <a:t>Required Value</a:t>
                      </a:r>
                    </a:p>
                  </a:txBody>
                  <a:tcPr/>
                </a:tc>
                <a:extLst>
                  <a:ext uri="{0D108BD9-81ED-4DB2-BD59-A6C34878D82A}">
                    <a16:rowId xmlns:a16="http://schemas.microsoft.com/office/drawing/2014/main" val="29599920"/>
                  </a:ext>
                </a:extLst>
              </a:tr>
              <a:tr h="609991">
                <a:tc>
                  <a:txBody>
                    <a:bodyPr/>
                    <a:lstStyle/>
                    <a:p>
                      <a:r>
                        <a:rPr lang="en-US" sz="2800" dirty="0"/>
                        <a:t>Processor</a:t>
                      </a:r>
                    </a:p>
                  </a:txBody>
                  <a:tcPr/>
                </a:tc>
                <a:tc>
                  <a:txBody>
                    <a:bodyPr/>
                    <a:lstStyle/>
                    <a:p>
                      <a:r>
                        <a:rPr lang="en-US" sz="2800" dirty="0"/>
                        <a:t>Intel i3 and above</a:t>
                      </a:r>
                    </a:p>
                  </a:txBody>
                  <a:tcPr/>
                </a:tc>
                <a:extLst>
                  <a:ext uri="{0D108BD9-81ED-4DB2-BD59-A6C34878D82A}">
                    <a16:rowId xmlns:a16="http://schemas.microsoft.com/office/drawing/2014/main" val="2456125172"/>
                  </a:ext>
                </a:extLst>
              </a:tr>
              <a:tr h="609991">
                <a:tc>
                  <a:txBody>
                    <a:bodyPr/>
                    <a:lstStyle/>
                    <a:p>
                      <a:r>
                        <a:rPr lang="en-US" sz="2800" dirty="0"/>
                        <a:t>RAM</a:t>
                      </a:r>
                    </a:p>
                  </a:txBody>
                  <a:tcPr/>
                </a:tc>
                <a:tc>
                  <a:txBody>
                    <a:bodyPr/>
                    <a:lstStyle/>
                    <a:p>
                      <a:r>
                        <a:rPr lang="en-US" sz="2800" dirty="0"/>
                        <a:t>Minimum 4 GB </a:t>
                      </a:r>
                    </a:p>
                  </a:txBody>
                  <a:tcPr/>
                </a:tc>
                <a:extLst>
                  <a:ext uri="{0D108BD9-81ED-4DB2-BD59-A6C34878D82A}">
                    <a16:rowId xmlns:a16="http://schemas.microsoft.com/office/drawing/2014/main" val="4008696650"/>
                  </a:ext>
                </a:extLst>
              </a:tr>
              <a:tr h="609991">
                <a:tc>
                  <a:txBody>
                    <a:bodyPr/>
                    <a:lstStyle/>
                    <a:p>
                      <a:r>
                        <a:rPr lang="en-US" sz="2800" dirty="0"/>
                        <a:t>Hard Disk</a:t>
                      </a:r>
                    </a:p>
                  </a:txBody>
                  <a:tcPr/>
                </a:tc>
                <a:tc>
                  <a:txBody>
                    <a:bodyPr/>
                    <a:lstStyle/>
                    <a:p>
                      <a:r>
                        <a:rPr lang="en-US" sz="2800" dirty="0"/>
                        <a:t>Minimum 10 GB</a:t>
                      </a:r>
                    </a:p>
                  </a:txBody>
                  <a:tcPr/>
                </a:tc>
                <a:extLst>
                  <a:ext uri="{0D108BD9-81ED-4DB2-BD59-A6C34878D82A}">
                    <a16:rowId xmlns:a16="http://schemas.microsoft.com/office/drawing/2014/main" val="138055431"/>
                  </a:ext>
                </a:extLst>
              </a:tr>
            </a:tbl>
          </a:graphicData>
        </a:graphic>
      </p:graphicFrame>
      <p:sp>
        <p:nvSpPr>
          <p:cNvPr id="6" name="TextBox 5">
            <a:extLst>
              <a:ext uri="{FF2B5EF4-FFF2-40B4-BE49-F238E27FC236}">
                <a16:creationId xmlns:a16="http://schemas.microsoft.com/office/drawing/2014/main" id="{4773BB04-289F-CB7A-69CA-11B1C98E2A82}"/>
              </a:ext>
            </a:extLst>
          </p:cNvPr>
          <p:cNvSpPr txBox="1"/>
          <p:nvPr/>
        </p:nvSpPr>
        <p:spPr>
          <a:xfrm>
            <a:off x="692072" y="2199000"/>
            <a:ext cx="4775666"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Hardware Requirement:- </a:t>
            </a:r>
          </a:p>
        </p:txBody>
      </p:sp>
      <p:sp>
        <p:nvSpPr>
          <p:cNvPr id="9" name="TextBox 8">
            <a:extLst>
              <a:ext uri="{FF2B5EF4-FFF2-40B4-BE49-F238E27FC236}">
                <a16:creationId xmlns:a16="http://schemas.microsoft.com/office/drawing/2014/main" id="{0D9B28D1-57BA-AD16-2D4F-28CB5D8F9078}"/>
              </a:ext>
            </a:extLst>
          </p:cNvPr>
          <p:cNvSpPr txBox="1"/>
          <p:nvPr/>
        </p:nvSpPr>
        <p:spPr>
          <a:xfrm>
            <a:off x="692072" y="5579235"/>
            <a:ext cx="4523995"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Software Requirement:-</a:t>
            </a:r>
          </a:p>
        </p:txBody>
      </p:sp>
      <p:graphicFrame>
        <p:nvGraphicFramePr>
          <p:cNvPr id="10" name="Table 9">
            <a:extLst>
              <a:ext uri="{FF2B5EF4-FFF2-40B4-BE49-F238E27FC236}">
                <a16:creationId xmlns:a16="http://schemas.microsoft.com/office/drawing/2014/main" id="{6D347308-976D-2357-D5A2-F976369E7B17}"/>
              </a:ext>
            </a:extLst>
          </p:cNvPr>
          <p:cNvGraphicFramePr>
            <a:graphicFrameLocks noGrp="1"/>
          </p:cNvGraphicFramePr>
          <p:nvPr>
            <p:extLst>
              <p:ext uri="{D42A27DB-BD31-4B8C-83A1-F6EECF244321}">
                <p14:modId xmlns:p14="http://schemas.microsoft.com/office/powerpoint/2010/main" val="1194004832"/>
              </p:ext>
            </p:extLst>
          </p:nvPr>
        </p:nvGraphicFramePr>
        <p:xfrm>
          <a:off x="692071" y="6212010"/>
          <a:ext cx="16044839" cy="4145280"/>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4076149303"/>
                    </a:ext>
                  </a:extLst>
                </a:gridCol>
                <a:gridCol w="12014072">
                  <a:extLst>
                    <a:ext uri="{9D8B030D-6E8A-4147-A177-3AD203B41FA5}">
                      <a16:colId xmlns:a16="http://schemas.microsoft.com/office/drawing/2014/main" val="1771964735"/>
                    </a:ext>
                  </a:extLst>
                </a:gridCol>
              </a:tblGrid>
              <a:tr h="447311">
                <a:tc>
                  <a:txBody>
                    <a:bodyPr/>
                    <a:lstStyle/>
                    <a:p>
                      <a:r>
                        <a:rPr lang="en-US" sz="2800" dirty="0"/>
                        <a:t>Specification</a:t>
                      </a:r>
                    </a:p>
                  </a:txBody>
                  <a:tcPr/>
                </a:tc>
                <a:tc>
                  <a:txBody>
                    <a:bodyPr/>
                    <a:lstStyle/>
                    <a:p>
                      <a:r>
                        <a:rPr lang="en-US" sz="2800" dirty="0"/>
                        <a:t>Required Value</a:t>
                      </a:r>
                    </a:p>
                  </a:txBody>
                  <a:tcPr/>
                </a:tc>
                <a:extLst>
                  <a:ext uri="{0D108BD9-81ED-4DB2-BD59-A6C34878D82A}">
                    <a16:rowId xmlns:a16="http://schemas.microsoft.com/office/drawing/2014/main" val="207213178"/>
                  </a:ext>
                </a:extLst>
              </a:tr>
              <a:tr h="447311">
                <a:tc>
                  <a:txBody>
                    <a:bodyPr/>
                    <a:lstStyle/>
                    <a:p>
                      <a:r>
                        <a:rPr lang="en-US" sz="2800" dirty="0"/>
                        <a:t>Operating System</a:t>
                      </a:r>
                    </a:p>
                  </a:txBody>
                  <a:tcPr/>
                </a:tc>
                <a:tc>
                  <a:txBody>
                    <a:bodyPr/>
                    <a:lstStyle/>
                    <a:p>
                      <a:r>
                        <a:rPr lang="en-US" sz="2800" dirty="0"/>
                        <a:t>Windows or Linux</a:t>
                      </a:r>
                    </a:p>
                  </a:txBody>
                  <a:tcPr/>
                </a:tc>
                <a:extLst>
                  <a:ext uri="{0D108BD9-81ED-4DB2-BD59-A6C34878D82A}">
                    <a16:rowId xmlns:a16="http://schemas.microsoft.com/office/drawing/2014/main" val="2024413495"/>
                  </a:ext>
                </a:extLst>
              </a:tr>
              <a:tr h="447311">
                <a:tc>
                  <a:txBody>
                    <a:bodyPr/>
                    <a:lstStyle/>
                    <a:p>
                      <a:r>
                        <a:rPr lang="en-US" sz="2800" dirty="0"/>
                        <a:t>Front end Tool</a:t>
                      </a:r>
                    </a:p>
                  </a:txBody>
                  <a:tcPr/>
                </a:tc>
                <a:tc>
                  <a:txBody>
                    <a:bodyPr/>
                    <a:lstStyle/>
                    <a:p>
                      <a:r>
                        <a:rPr lang="en-US" sz="2800" dirty="0"/>
                        <a:t>ReactJS (v18.2.0 or higher)</a:t>
                      </a:r>
                    </a:p>
                  </a:txBody>
                  <a:tcPr/>
                </a:tc>
                <a:extLst>
                  <a:ext uri="{0D108BD9-81ED-4DB2-BD59-A6C34878D82A}">
                    <a16:rowId xmlns:a16="http://schemas.microsoft.com/office/drawing/2014/main" val="2000175711"/>
                  </a:ext>
                </a:extLst>
              </a:tr>
              <a:tr h="447311">
                <a:tc>
                  <a:txBody>
                    <a:bodyPr/>
                    <a:lstStyle/>
                    <a:p>
                      <a:r>
                        <a:rPr lang="en-US" sz="2800" dirty="0"/>
                        <a:t>Backend Tool</a:t>
                      </a:r>
                    </a:p>
                  </a:txBody>
                  <a:tcPr/>
                </a:tc>
                <a:tc>
                  <a:txBody>
                    <a:bodyPr/>
                    <a:lstStyle/>
                    <a:p>
                      <a:r>
                        <a:rPr lang="en-US" sz="2800" dirty="0"/>
                        <a:t>NodeJS (v18.16.0 or higher)</a:t>
                      </a:r>
                    </a:p>
                  </a:txBody>
                  <a:tcPr/>
                </a:tc>
                <a:extLst>
                  <a:ext uri="{0D108BD9-81ED-4DB2-BD59-A6C34878D82A}">
                    <a16:rowId xmlns:a16="http://schemas.microsoft.com/office/drawing/2014/main" val="66904617"/>
                  </a:ext>
                </a:extLst>
              </a:tr>
              <a:tr h="447311">
                <a:tc>
                  <a:txBody>
                    <a:bodyPr/>
                    <a:lstStyle/>
                    <a:p>
                      <a:r>
                        <a:rPr lang="en-US" sz="2800" dirty="0"/>
                        <a:t>Database</a:t>
                      </a:r>
                    </a:p>
                  </a:txBody>
                  <a:tcPr/>
                </a:tc>
                <a:tc>
                  <a:txBody>
                    <a:bodyPr/>
                    <a:lstStyle/>
                    <a:p>
                      <a:r>
                        <a:rPr lang="en-US" sz="2800" dirty="0"/>
                        <a:t>MongoDB (v5.0.2 or higher)</a:t>
                      </a:r>
                    </a:p>
                  </a:txBody>
                  <a:tcPr/>
                </a:tc>
                <a:extLst>
                  <a:ext uri="{0D108BD9-81ED-4DB2-BD59-A6C34878D82A}">
                    <a16:rowId xmlns:a16="http://schemas.microsoft.com/office/drawing/2014/main" val="3563555909"/>
                  </a:ext>
                </a:extLst>
              </a:tr>
              <a:tr h="447311">
                <a:tc>
                  <a:txBody>
                    <a:bodyPr/>
                    <a:lstStyle/>
                    <a:p>
                      <a:r>
                        <a:rPr lang="en-US" sz="2800" dirty="0"/>
                        <a:t>Web Browser</a:t>
                      </a:r>
                    </a:p>
                  </a:txBody>
                  <a:tcPr/>
                </a:tc>
                <a:tc>
                  <a:txBody>
                    <a:bodyPr/>
                    <a:lstStyle/>
                    <a:p>
                      <a:r>
                        <a:rPr lang="en-US" sz="2800" dirty="0"/>
                        <a:t>Chrome, Microsoft Edge, Brave, Safari etc.</a:t>
                      </a:r>
                    </a:p>
                  </a:txBody>
                  <a:tcPr/>
                </a:tc>
                <a:extLst>
                  <a:ext uri="{0D108BD9-81ED-4DB2-BD59-A6C34878D82A}">
                    <a16:rowId xmlns:a16="http://schemas.microsoft.com/office/drawing/2014/main" val="1301883538"/>
                  </a:ext>
                </a:extLst>
              </a:tr>
              <a:tr h="447311">
                <a:tc>
                  <a:txBody>
                    <a:bodyPr/>
                    <a:lstStyle/>
                    <a:p>
                      <a:r>
                        <a:rPr lang="en-US" sz="2800" dirty="0"/>
                        <a:t>Development Tool</a:t>
                      </a:r>
                    </a:p>
                  </a:txBody>
                  <a:tcPr/>
                </a:tc>
                <a:tc>
                  <a:txBody>
                    <a:bodyPr/>
                    <a:lstStyle/>
                    <a:p>
                      <a:r>
                        <a:rPr lang="en-US" sz="2800" dirty="0"/>
                        <a:t>Visual Studio Code</a:t>
                      </a:r>
                    </a:p>
                  </a:txBody>
                  <a:tcPr/>
                </a:tc>
                <a:extLst>
                  <a:ext uri="{0D108BD9-81ED-4DB2-BD59-A6C34878D82A}">
                    <a16:rowId xmlns:a16="http://schemas.microsoft.com/office/drawing/2014/main" val="737252712"/>
                  </a:ext>
                </a:extLst>
              </a:tr>
              <a:tr h="447311">
                <a:tc>
                  <a:txBody>
                    <a:bodyPr/>
                    <a:lstStyle/>
                    <a:p>
                      <a:r>
                        <a:rPr lang="en-US" sz="2800" dirty="0"/>
                        <a:t>API Testing Tool</a:t>
                      </a:r>
                    </a:p>
                  </a:txBody>
                  <a:tcPr/>
                </a:tc>
                <a:tc>
                  <a:txBody>
                    <a:bodyPr/>
                    <a:lstStyle/>
                    <a:p>
                      <a:r>
                        <a:rPr lang="en-US" sz="2800" dirty="0"/>
                        <a:t>Postman</a:t>
                      </a:r>
                    </a:p>
                  </a:txBody>
                  <a:tcPr/>
                </a:tc>
                <a:extLst>
                  <a:ext uri="{0D108BD9-81ED-4DB2-BD59-A6C34878D82A}">
                    <a16:rowId xmlns:a16="http://schemas.microsoft.com/office/drawing/2014/main" val="207655956"/>
                  </a:ext>
                </a:extLst>
              </a:tr>
            </a:tbl>
          </a:graphicData>
        </a:graphic>
      </p:graphicFrame>
      <p:pic>
        <p:nvPicPr>
          <p:cNvPr id="3" name="Picture 2">
            <a:extLst>
              <a:ext uri="{FF2B5EF4-FFF2-40B4-BE49-F238E27FC236}">
                <a16:creationId xmlns:a16="http://schemas.microsoft.com/office/drawing/2014/main" id="{23813A1F-2F8E-40F9-FFB2-0E31B2D9C701}"/>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pSp>
        <p:nvGrpSpPr>
          <p:cNvPr id="727" name="Google Shape;727;p12"/>
          <p:cNvGrpSpPr/>
          <p:nvPr/>
        </p:nvGrpSpPr>
        <p:grpSpPr>
          <a:xfrm>
            <a:off x="0" y="839520"/>
            <a:ext cx="6126120" cy="1037880"/>
            <a:chOff x="0" y="839520"/>
            <a:chExt cx="6126120" cy="1037880"/>
          </a:xfrm>
        </p:grpSpPr>
        <p:sp>
          <p:nvSpPr>
            <p:cNvPr id="728" name="Google Shape;728;p12"/>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29" name="Google Shape;729;p12"/>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30" name="Google Shape;730;p12"/>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32" name="Google Shape;732;p12"/>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33" name="Google Shape;733;p12"/>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Users of the System</a:t>
            </a:r>
            <a:endParaRPr sz="3600" b="0" i="0" u="none" strike="noStrike" cap="none">
              <a:latin typeface="Arial"/>
              <a:ea typeface="Arial"/>
              <a:cs typeface="Arial"/>
              <a:sym typeface="Arial"/>
            </a:endParaRPr>
          </a:p>
        </p:txBody>
      </p:sp>
      <p:sp>
        <p:nvSpPr>
          <p:cNvPr id="734" name="Google Shape;734;p1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37" name="Google Shape;737;p1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41">
            <a:extLst>
              <a:ext uri="{FF2B5EF4-FFF2-40B4-BE49-F238E27FC236}">
                <a16:creationId xmlns:a16="http://schemas.microsoft.com/office/drawing/2014/main" id="{C61A55BC-D800-CE23-3CD6-6BA5ACF95245}"/>
              </a:ext>
            </a:extLst>
          </p:cNvPr>
          <p:cNvSpPr/>
          <p:nvPr/>
        </p:nvSpPr>
        <p:spPr>
          <a:xfrm>
            <a:off x="365760" y="2788920"/>
            <a:ext cx="18104760" cy="480544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nSpc>
                <a:spcPct val="150000"/>
              </a:lnSpc>
              <a:spcBef>
                <a:spcPts val="850"/>
              </a:spcBef>
              <a:spcAft>
                <a:spcPts val="850"/>
              </a:spcAft>
              <a:buFont typeface="Arial" panose="020B0604020202020204" pitchFamily="34" charset="0"/>
              <a:buChar char="•"/>
            </a:pPr>
            <a:r>
              <a:rPr lang="en-US"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Guest : </a:t>
            </a:r>
            <a:r>
              <a:rPr lang="en-IN" sz="32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visiting the platform without creating an account, limited to browsing culinary offerings and accessing general information</a:t>
            </a:r>
            <a:r>
              <a:rPr lang="en-IN"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p>
          <a:p>
            <a:pPr marL="571500" indent="-571500">
              <a:lnSpc>
                <a:spcPct val="150000"/>
              </a:lnSpc>
              <a:spcBef>
                <a:spcPts val="850"/>
              </a:spcBef>
              <a:spcAft>
                <a:spcPts val="850"/>
              </a:spcAft>
              <a:buFont typeface="Arial" panose="020B0604020202020204" pitchFamily="34" charset="0"/>
              <a:buChar char="•"/>
            </a:pPr>
            <a:r>
              <a:rPr lang="en-IN"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Consumer : </a:t>
            </a:r>
            <a:r>
              <a:rPr lang="en-IN" sz="32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who are passionate about exploring and enjoying diverse, homemade culinary offerings.</a:t>
            </a:r>
            <a:endParaRPr lang="en-US" sz="3200" strike="noStrike" spc="-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50000"/>
              </a:lnSpc>
              <a:spcBef>
                <a:spcPts val="850"/>
              </a:spcBef>
              <a:spcAft>
                <a:spcPts val="850"/>
              </a:spcAft>
              <a:buFont typeface="Arial" panose="020B0604020202020204" pitchFamily="34" charset="0"/>
              <a:buChar char="•"/>
            </a:pPr>
            <a:r>
              <a:rPr lang="en-US" sz="3200" b="1"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Food Producer :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Local chefs, home cooks, and culinary enthusiasts who want to showcase and sell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their unique food items.</a:t>
            </a:r>
          </a:p>
        </p:txBody>
      </p:sp>
      <p:sp>
        <p:nvSpPr>
          <p:cNvPr id="3" name="Rectangle 2">
            <a:extLst>
              <a:ext uri="{FF2B5EF4-FFF2-40B4-BE49-F238E27FC236}">
                <a16:creationId xmlns:a16="http://schemas.microsoft.com/office/drawing/2014/main" id="{EB234FB3-4D47-F81E-4653-2291BC627E4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12CC7BE3-786D-46A9-6BB1-B20A5501C6DE}"/>
              </a:ext>
            </a:extLst>
          </p:cNvPr>
          <p:cNvPicPr>
            <a:picLocks noChangeAspect="1"/>
          </p:cNvPicPr>
          <p:nvPr/>
        </p:nvPicPr>
        <p:blipFill>
          <a:blip r:embed="rId3"/>
          <a:stretch>
            <a:fillRect/>
          </a:stretch>
        </p:blipFill>
        <p:spPr>
          <a:xfrm>
            <a:off x="14621553" y="195121"/>
            <a:ext cx="4231706" cy="245630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pSp>
        <p:nvGrpSpPr>
          <p:cNvPr id="742" name="Google Shape;742;p13"/>
          <p:cNvGrpSpPr/>
          <p:nvPr/>
        </p:nvGrpSpPr>
        <p:grpSpPr>
          <a:xfrm>
            <a:off x="0" y="839520"/>
            <a:ext cx="6126120" cy="1037880"/>
            <a:chOff x="0" y="839520"/>
            <a:chExt cx="6126120" cy="1037880"/>
          </a:xfrm>
        </p:grpSpPr>
        <p:sp>
          <p:nvSpPr>
            <p:cNvPr id="743" name="Google Shape;743;p13"/>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44" name="Google Shape;744;p13"/>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45" name="Google Shape;745;p13"/>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47" name="Google Shape;747;p13"/>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48" name="Google Shape;748;p13"/>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Functional Requirements</a:t>
            </a:r>
            <a:endParaRPr sz="3600" b="0" i="0" u="none" strike="noStrike" cap="none">
              <a:latin typeface="Arial"/>
              <a:ea typeface="Arial"/>
              <a:cs typeface="Arial"/>
              <a:sym typeface="Arial"/>
            </a:endParaRPr>
          </a:p>
        </p:txBody>
      </p:sp>
      <p:sp>
        <p:nvSpPr>
          <p:cNvPr id="749" name="Google Shape;749;p1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1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52" name="Google Shape;752;p1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BCEA2317-81E0-6C53-AC89-0895F1A77453}"/>
              </a:ext>
            </a:extLst>
          </p:cNvPr>
          <p:cNvSpPr txBox="1"/>
          <p:nvPr/>
        </p:nvSpPr>
        <p:spPr>
          <a:xfrm>
            <a:off x="452776" y="2677319"/>
            <a:ext cx="18261944" cy="6647012"/>
          </a:xfrm>
          <a:prstGeom prst="rect">
            <a:avLst/>
          </a:prstGeom>
          <a:noFill/>
        </p:spPr>
        <p:txBody>
          <a:bodyPr wrap="square" rtlCol="0">
            <a:spAutoFit/>
          </a:bodyPr>
          <a:lstStyle/>
          <a:p>
            <a:pPr>
              <a:lnSpc>
                <a:spcPct val="150000"/>
              </a:lnSpc>
            </a:pP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 </a:t>
            </a:r>
            <a:r>
              <a:rPr lang="en-IN" sz="3200" b="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Creation of profiles for food producers and consumers.</a:t>
            </a:r>
          </a:p>
          <a:p>
            <a:pPr>
              <a:lnSpc>
                <a:spcPct val="150000"/>
              </a:lnSpc>
            </a:pPr>
            <a:endPar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Listings</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Producers can showcase offerings of food items with detailed information. </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Messaging</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Users engage in direct communication with producers.</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Reviews and Ratings</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Robust system for transparency and trust.</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Payment Integration</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Secure transactions supporting various methods.</a:t>
            </a:r>
          </a:p>
        </p:txBody>
      </p:sp>
      <p:sp>
        <p:nvSpPr>
          <p:cNvPr id="4" name="Rectangle 3">
            <a:extLst>
              <a:ext uri="{FF2B5EF4-FFF2-40B4-BE49-F238E27FC236}">
                <a16:creationId xmlns:a16="http://schemas.microsoft.com/office/drawing/2014/main" id="{47F8AE68-E2D3-4E24-5BF6-248A63958CAF}"/>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3B359131-1C0E-7D00-1750-1B0030B5D30E}"/>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62" name="Google Shape;762;p14"/>
          <p:cNvSpPr/>
          <p:nvPr/>
        </p:nvSpPr>
        <p:spPr>
          <a:xfrm>
            <a:off x="0" y="1849320"/>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63" name="Google Shape;763;p14"/>
          <p:cNvSpPr/>
          <p:nvPr/>
        </p:nvSpPr>
        <p:spPr>
          <a:xfrm>
            <a:off x="154080" y="1779120"/>
            <a:ext cx="578916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Non Functional Requirements</a:t>
            </a:r>
            <a:endParaRPr sz="3600" b="0" i="0" u="none" strike="noStrike" cap="none">
              <a:latin typeface="Arial"/>
              <a:ea typeface="Arial"/>
              <a:cs typeface="Arial"/>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73">
            <a:extLst>
              <a:ext uri="{FF2B5EF4-FFF2-40B4-BE49-F238E27FC236}">
                <a16:creationId xmlns:a16="http://schemas.microsoft.com/office/drawing/2014/main" id="{8EC6917E-72CE-EA4E-DCF3-FC7DD43765AF}"/>
              </a:ext>
            </a:extLst>
          </p:cNvPr>
          <p:cNvSpPr/>
          <p:nvPr/>
        </p:nvSpPr>
        <p:spPr>
          <a:xfrm>
            <a:off x="365760" y="2743200"/>
            <a:ext cx="18104760" cy="4066779"/>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 Performance: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The platform should have low latency and fast response times, ensuring a smooth and efficient user experience even during peak usage periods.</a:t>
            </a:r>
          </a:p>
          <a:p>
            <a:pPr marL="12600" indent="-216000" algn="just">
              <a:lnSpc>
                <a:spcPct val="150000"/>
              </a:lnSpc>
              <a:spcBef>
                <a:spcPts val="850"/>
              </a:spcBef>
              <a:spcAft>
                <a:spcPts val="850"/>
              </a:spcAft>
              <a:buClr>
                <a:srgbClr val="000000"/>
              </a:buClr>
              <a:buFont typeface="Symbol"/>
              <a:buChar char=""/>
            </a:pP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Scalability:</a:t>
            </a:r>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Design the system to be scalable, allowing it to handle a growing number of users, listings of item and transactions without compromising performance.</a:t>
            </a:r>
          </a:p>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Security: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Implement robust encryption and authentication to safeguard user data.</a:t>
            </a:r>
          </a:p>
        </p:txBody>
      </p:sp>
      <p:sp>
        <p:nvSpPr>
          <p:cNvPr id="2" name="Rectangle 1">
            <a:extLst>
              <a:ext uri="{FF2B5EF4-FFF2-40B4-BE49-F238E27FC236}">
                <a16:creationId xmlns:a16="http://schemas.microsoft.com/office/drawing/2014/main" id="{606F4EED-D9A1-9EAC-22C7-D6460BF410C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284B383F-5909-EB93-EF6D-1599C096E0E1}"/>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System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Architecture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437C1FAA-8B8E-1FB3-12E3-DBABEB317650}"/>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D5B8D4CE-FA94-EF57-DCE2-1052CA61CA50}"/>
              </a:ext>
            </a:extLst>
          </p:cNvPr>
          <p:cNvSpPr/>
          <p:nvPr/>
        </p:nvSpPr>
        <p:spPr>
          <a:xfrm>
            <a:off x="15988" y="9853879"/>
            <a:ext cx="18978337" cy="7638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a:extLst>
              <a:ext uri="{FF2B5EF4-FFF2-40B4-BE49-F238E27FC236}">
                <a16:creationId xmlns:a16="http://schemas.microsoft.com/office/drawing/2014/main" id="{6E30587E-D03C-4433-D766-AAFB876CCBD5}"/>
              </a:ext>
            </a:extLst>
          </p:cNvPr>
          <p:cNvPicPr>
            <a:picLocks noChangeAspect="1"/>
          </p:cNvPicPr>
          <p:nvPr/>
        </p:nvPicPr>
        <p:blipFill>
          <a:blip r:embed="rId3"/>
          <a:stretch>
            <a:fillRect/>
          </a:stretch>
        </p:blipFill>
        <p:spPr>
          <a:xfrm>
            <a:off x="192765" y="3561874"/>
            <a:ext cx="18623169" cy="6348351"/>
          </a:xfrm>
          <a:prstGeom prst="rect">
            <a:avLst/>
          </a:prstGeom>
        </p:spPr>
      </p:pic>
      <p:pic>
        <p:nvPicPr>
          <p:cNvPr id="4" name="Picture 3">
            <a:extLst>
              <a:ext uri="{FF2B5EF4-FFF2-40B4-BE49-F238E27FC236}">
                <a16:creationId xmlns:a16="http://schemas.microsoft.com/office/drawing/2014/main" id="{4FDBBB28-6965-4037-3802-1CBB07D6DA97}"/>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8564478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Use case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A0927F7B-6FC2-B3F4-E470-991FD4A5B2A1}"/>
              </a:ext>
            </a:extLst>
          </p:cNvPr>
          <p:cNvPicPr>
            <a:picLocks noChangeAspect="1"/>
          </p:cNvPicPr>
          <p:nvPr/>
        </p:nvPicPr>
        <p:blipFill>
          <a:blip r:embed="rId3"/>
          <a:stretch>
            <a:fillRect/>
          </a:stretch>
        </p:blipFill>
        <p:spPr>
          <a:xfrm>
            <a:off x="6929222" y="714583"/>
            <a:ext cx="9895055" cy="8853470"/>
          </a:xfrm>
          <a:prstGeom prst="rect">
            <a:avLst/>
          </a:prstGeom>
        </p:spPr>
      </p:pic>
      <p:pic>
        <p:nvPicPr>
          <p:cNvPr id="3" name="Picture 2">
            <a:extLst>
              <a:ext uri="{FF2B5EF4-FFF2-40B4-BE49-F238E27FC236}">
                <a16:creationId xmlns:a16="http://schemas.microsoft.com/office/drawing/2014/main" id="{41E0907D-CFDB-A0D7-716D-A38665F6CBA3}"/>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3431933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Class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D68F3C0-25EC-588D-098F-05EC40B8B170}"/>
              </a:ext>
            </a:extLst>
          </p:cNvPr>
          <p:cNvPicPr>
            <a:picLocks noChangeAspect="1"/>
          </p:cNvPicPr>
          <p:nvPr/>
        </p:nvPicPr>
        <p:blipFill>
          <a:blip r:embed="rId3"/>
          <a:stretch>
            <a:fillRect/>
          </a:stretch>
        </p:blipFill>
        <p:spPr>
          <a:xfrm>
            <a:off x="6674760" y="2430509"/>
            <a:ext cx="10177326" cy="7537820"/>
          </a:xfrm>
          <a:prstGeom prst="rect">
            <a:avLst/>
          </a:prstGeom>
        </p:spPr>
      </p:pic>
      <p:pic>
        <p:nvPicPr>
          <p:cNvPr id="3" name="Picture 2">
            <a:extLst>
              <a:ext uri="{FF2B5EF4-FFF2-40B4-BE49-F238E27FC236}">
                <a16:creationId xmlns:a16="http://schemas.microsoft.com/office/drawing/2014/main" id="{1AB4DD77-1FA1-8885-C28F-147E9256A2F2}"/>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36834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Activity Diagram</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D343ACEC-75BE-BC73-8FFD-932703DA7C0D}"/>
              </a:ext>
            </a:extLst>
          </p:cNvPr>
          <p:cNvPicPr>
            <a:picLocks noChangeAspect="1"/>
          </p:cNvPicPr>
          <p:nvPr/>
        </p:nvPicPr>
        <p:blipFill>
          <a:blip r:embed="rId3"/>
          <a:stretch>
            <a:fillRect/>
          </a:stretch>
        </p:blipFill>
        <p:spPr>
          <a:xfrm>
            <a:off x="7182459" y="313113"/>
            <a:ext cx="9000969" cy="9765862"/>
          </a:xfrm>
          <a:prstGeom prst="rect">
            <a:avLst/>
          </a:prstGeom>
        </p:spPr>
      </p:pic>
      <p:sp>
        <p:nvSpPr>
          <p:cNvPr id="4" name="Rectangle 3">
            <a:extLst>
              <a:ext uri="{FF2B5EF4-FFF2-40B4-BE49-F238E27FC236}">
                <a16:creationId xmlns:a16="http://schemas.microsoft.com/office/drawing/2014/main" id="{8D70C92A-772D-3BBC-CA6C-48DD59F539AF}"/>
              </a:ext>
            </a:extLst>
          </p:cNvPr>
          <p:cNvSpPr/>
          <p:nvPr/>
        </p:nvSpPr>
        <p:spPr>
          <a:xfrm>
            <a:off x="16459200" y="159657"/>
            <a:ext cx="2535125" cy="28593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991565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694231569"/>
              </p:ext>
            </p:extLst>
          </p:nvPr>
        </p:nvGraphicFramePr>
        <p:xfrm>
          <a:off x="1761570" y="3181806"/>
          <a:ext cx="2583180" cy="356616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User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Username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Email</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Password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Location</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Phone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1892180925"/>
              </p:ext>
            </p:extLst>
          </p:nvPr>
        </p:nvGraphicFramePr>
        <p:xfrm>
          <a:off x="6641745" y="3122298"/>
          <a:ext cx="3472537" cy="594360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a:latin typeface="Microsoft Sans Serif" panose="020B0604020202020204" pitchFamily="34" charset="0"/>
                          <a:ea typeface="Microsoft Sans Serif" panose="020B0604020202020204" pitchFamily="34" charset="0"/>
                          <a:cs typeface="Microsoft Sans Serif" panose="020B0604020202020204" pitchFamily="34" charset="0"/>
                        </a:rPr>
                        <a:t>Item</a:t>
                      </a:r>
                      <a:endPar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totalStars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starNumber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Cat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Cover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Images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20327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shortTitle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164444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26072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deliveryTime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7582552"/>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Featrues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347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Sales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862197"/>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1137214577"/>
              </p:ext>
            </p:extLst>
          </p:nvPr>
        </p:nvGraphicFramePr>
        <p:xfrm>
          <a:off x="12915904" y="3122298"/>
          <a:ext cx="3833582" cy="3625668"/>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Order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455748">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isCompleted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Payment_intent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pic>
        <p:nvPicPr>
          <p:cNvPr id="4" name="Picture 3">
            <a:extLst>
              <a:ext uri="{FF2B5EF4-FFF2-40B4-BE49-F238E27FC236}">
                <a16:creationId xmlns:a16="http://schemas.microsoft.com/office/drawing/2014/main" id="{1484CCD9-9810-6408-D98E-2CE35CC38D0C}"/>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146696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847186381"/>
              </p:ext>
            </p:extLst>
          </p:nvPr>
        </p:nvGraphicFramePr>
        <p:xfrm>
          <a:off x="2296097" y="3132094"/>
          <a:ext cx="2583180" cy="198120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Review</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Star</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3962274543"/>
              </p:ext>
            </p:extLst>
          </p:nvPr>
        </p:nvGraphicFramePr>
        <p:xfrm>
          <a:off x="6641745" y="3122298"/>
          <a:ext cx="3472537" cy="277368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Conversation</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Id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readByBuyer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lastMessage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2768352070"/>
              </p:ext>
            </p:extLst>
          </p:nvPr>
        </p:nvGraphicFramePr>
        <p:xfrm>
          <a:off x="11876750" y="3122298"/>
          <a:ext cx="3833582" cy="1584960"/>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Message</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conversationId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bl>
          </a:graphicData>
        </a:graphic>
      </p:graphicFrame>
      <p:pic>
        <p:nvPicPr>
          <p:cNvPr id="4" name="Picture 3">
            <a:extLst>
              <a:ext uri="{FF2B5EF4-FFF2-40B4-BE49-F238E27FC236}">
                <a16:creationId xmlns:a16="http://schemas.microsoft.com/office/drawing/2014/main" id="{04555EC4-EC73-8B60-37DB-81892B85FA67}"/>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1100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SIGN UP PAGE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3543005" cy="5509200"/>
          </a:xfrm>
          <a:prstGeom prst="rect">
            <a:avLst/>
          </a:prstGeom>
          <a:noFill/>
        </p:spPr>
        <p:txBody>
          <a:bodyPr wrap="square" rtlCol="0">
            <a:spAutoFit/>
          </a:bodyPr>
          <a:lstStyle/>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full username, email, password upload is empty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“All fields are required”</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email or user is duplicate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already exist”</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Save User details is saved to database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success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registered successfully!"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End</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7" name="Picture 6">
            <a:extLst>
              <a:ext uri="{FF2B5EF4-FFF2-40B4-BE49-F238E27FC236}">
                <a16:creationId xmlns:a16="http://schemas.microsoft.com/office/drawing/2014/main" id="{7D758C11-8BC6-4154-4E62-DF3A3993F03B}"/>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266510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LOG IN PAGE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5016758"/>
          </a:xfrm>
          <a:prstGeom prst="rect">
            <a:avLst/>
          </a:prstGeom>
          <a:noFill/>
        </p:spPr>
        <p:txBody>
          <a:bodyPr wrap="square" rtlCol="0">
            <a:spAutoFit/>
          </a:bodyPr>
          <a:lstStyle/>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username or password is empty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“Username or password cannot be empty“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username and password match entries in database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success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Login successfully!"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"Invalid username or password"</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6045899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HOME PAGE (Users)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5509200"/>
          </a:xfrm>
          <a:prstGeom prst="rect">
            <a:avLst/>
          </a:prstGeom>
          <a:noFill/>
        </p:spPr>
        <p:txBody>
          <a:bodyPr wrap="square" rtlCol="0">
            <a:spAutoFit/>
          </a:bodyPr>
          <a:lstStyle/>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 is logged in then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Prompt user to:</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 View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 View Orders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III) Buy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IV) Message Provider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  Rate and Review Item</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 Search and filter item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88653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HOME PAGE (Food Producer)</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6001643"/>
          </a:xfrm>
          <a:prstGeom prst="rect">
            <a:avLst/>
          </a:prstGeom>
          <a:noFill/>
        </p:spPr>
        <p:txBody>
          <a:bodyPr wrap="square" rtlCol="0">
            <a:spAutoFit/>
          </a:bodyPr>
          <a:lstStyle/>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 is logged in then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Prompt user to:</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 View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 Add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III) View Orders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IV) Buy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 Message Provider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  Rate and Review Item</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VII) Search and filter item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6262067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6" name="Picture 5">
            <a:extLst>
              <a:ext uri="{FF2B5EF4-FFF2-40B4-BE49-F238E27FC236}">
                <a16:creationId xmlns:a16="http://schemas.microsoft.com/office/drawing/2014/main" id="{7BEAADA3-3CF0-872F-E0C4-120F82A388F0}"/>
              </a:ext>
            </a:extLst>
          </p:cNvPr>
          <p:cNvPicPr>
            <a:picLocks noChangeAspect="1"/>
          </p:cNvPicPr>
          <p:nvPr/>
        </p:nvPicPr>
        <p:blipFill>
          <a:blip r:embed="rId4"/>
          <a:stretch>
            <a:fillRect/>
          </a:stretch>
        </p:blipFill>
        <p:spPr>
          <a:xfrm>
            <a:off x="503304" y="2773592"/>
            <a:ext cx="14903231" cy="7593102"/>
          </a:xfrm>
          <a:prstGeom prst="rect">
            <a:avLst/>
          </a:prstGeom>
        </p:spPr>
      </p:pic>
    </p:spTree>
    <p:extLst>
      <p:ext uri="{BB962C8B-B14F-4D97-AF65-F5344CB8AC3E}">
        <p14:creationId xmlns:p14="http://schemas.microsoft.com/office/powerpoint/2010/main" val="71759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8" name="Picture 7">
            <a:extLst>
              <a:ext uri="{FF2B5EF4-FFF2-40B4-BE49-F238E27FC236}">
                <a16:creationId xmlns:a16="http://schemas.microsoft.com/office/drawing/2014/main" id="{AA850141-CB72-1C18-A226-B4DE6BA51F87}"/>
              </a:ext>
            </a:extLst>
          </p:cNvPr>
          <p:cNvPicPr>
            <a:picLocks noChangeAspect="1"/>
          </p:cNvPicPr>
          <p:nvPr/>
        </p:nvPicPr>
        <p:blipFill>
          <a:blip r:embed="rId4"/>
          <a:stretch>
            <a:fillRect/>
          </a:stretch>
        </p:blipFill>
        <p:spPr>
          <a:xfrm>
            <a:off x="499629" y="2878936"/>
            <a:ext cx="14121924" cy="7202330"/>
          </a:xfrm>
          <a:prstGeom prst="rect">
            <a:avLst/>
          </a:prstGeom>
        </p:spPr>
      </p:pic>
    </p:spTree>
    <p:extLst>
      <p:ext uri="{BB962C8B-B14F-4D97-AF65-F5344CB8AC3E}">
        <p14:creationId xmlns:p14="http://schemas.microsoft.com/office/powerpoint/2010/main" val="38346702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71CDAC80-7217-B32C-68E7-852458771B62}"/>
              </a:ext>
            </a:extLst>
          </p:cNvPr>
          <p:cNvPicPr>
            <a:picLocks noChangeAspect="1"/>
          </p:cNvPicPr>
          <p:nvPr/>
        </p:nvPicPr>
        <p:blipFill>
          <a:blip r:embed="rId4"/>
          <a:stretch>
            <a:fillRect/>
          </a:stretch>
        </p:blipFill>
        <p:spPr>
          <a:xfrm>
            <a:off x="469434" y="2941382"/>
            <a:ext cx="13764104" cy="7001771"/>
          </a:xfrm>
          <a:prstGeom prst="rect">
            <a:avLst/>
          </a:prstGeom>
        </p:spPr>
      </p:pic>
    </p:spTree>
    <p:extLst>
      <p:ext uri="{BB962C8B-B14F-4D97-AF65-F5344CB8AC3E}">
        <p14:creationId xmlns:p14="http://schemas.microsoft.com/office/powerpoint/2010/main" val="3066131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2C099B0B-1941-FC69-5B2E-A5D4CDA31256}"/>
              </a:ext>
            </a:extLst>
          </p:cNvPr>
          <p:cNvPicPr>
            <a:picLocks noChangeAspect="1"/>
          </p:cNvPicPr>
          <p:nvPr/>
        </p:nvPicPr>
        <p:blipFill>
          <a:blip r:embed="rId4"/>
          <a:stretch>
            <a:fillRect/>
          </a:stretch>
        </p:blipFill>
        <p:spPr>
          <a:xfrm>
            <a:off x="522547" y="2724138"/>
            <a:ext cx="14099006" cy="7198857"/>
          </a:xfrm>
          <a:prstGeom prst="rect">
            <a:avLst/>
          </a:prstGeom>
        </p:spPr>
      </p:pic>
    </p:spTree>
    <p:extLst>
      <p:ext uri="{BB962C8B-B14F-4D97-AF65-F5344CB8AC3E}">
        <p14:creationId xmlns:p14="http://schemas.microsoft.com/office/powerpoint/2010/main" val="6268971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2C099B0B-1941-FC69-5B2E-A5D4CDA31256}"/>
              </a:ext>
            </a:extLst>
          </p:cNvPr>
          <p:cNvPicPr>
            <a:picLocks noChangeAspect="1"/>
          </p:cNvPicPr>
          <p:nvPr/>
        </p:nvPicPr>
        <p:blipFill>
          <a:blip r:embed="rId4"/>
          <a:stretch>
            <a:fillRect/>
          </a:stretch>
        </p:blipFill>
        <p:spPr>
          <a:xfrm>
            <a:off x="522547" y="2724138"/>
            <a:ext cx="14099006" cy="7198857"/>
          </a:xfrm>
          <a:prstGeom prst="rect">
            <a:avLst/>
          </a:prstGeom>
        </p:spPr>
      </p:pic>
    </p:spTree>
    <p:extLst>
      <p:ext uri="{BB962C8B-B14F-4D97-AF65-F5344CB8AC3E}">
        <p14:creationId xmlns:p14="http://schemas.microsoft.com/office/powerpoint/2010/main" val="2176420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6" name="Picture 5">
            <a:extLst>
              <a:ext uri="{FF2B5EF4-FFF2-40B4-BE49-F238E27FC236}">
                <a16:creationId xmlns:a16="http://schemas.microsoft.com/office/drawing/2014/main" id="{EB90F8A2-42BC-E844-79D5-3086A216459A}"/>
              </a:ext>
            </a:extLst>
          </p:cNvPr>
          <p:cNvPicPr>
            <a:picLocks noChangeAspect="1"/>
          </p:cNvPicPr>
          <p:nvPr/>
        </p:nvPicPr>
        <p:blipFill>
          <a:blip r:embed="rId4"/>
          <a:stretch>
            <a:fillRect/>
          </a:stretch>
        </p:blipFill>
        <p:spPr>
          <a:xfrm>
            <a:off x="657914" y="2748791"/>
            <a:ext cx="13550545" cy="6965569"/>
          </a:xfrm>
          <a:prstGeom prst="rect">
            <a:avLst/>
          </a:prstGeom>
        </p:spPr>
      </p:pic>
    </p:spTree>
    <p:extLst>
      <p:ext uri="{BB962C8B-B14F-4D97-AF65-F5344CB8AC3E}">
        <p14:creationId xmlns:p14="http://schemas.microsoft.com/office/powerpoint/2010/main" val="4404023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FA9D33D5-796D-0762-69B3-F89578FA9201}"/>
              </a:ext>
            </a:extLst>
          </p:cNvPr>
          <p:cNvPicPr>
            <a:picLocks noChangeAspect="1"/>
          </p:cNvPicPr>
          <p:nvPr/>
        </p:nvPicPr>
        <p:blipFill>
          <a:blip r:embed="rId4"/>
          <a:stretch>
            <a:fillRect/>
          </a:stretch>
        </p:blipFill>
        <p:spPr>
          <a:xfrm>
            <a:off x="841461" y="2920099"/>
            <a:ext cx="13780092" cy="7046226"/>
          </a:xfrm>
          <a:prstGeom prst="rect">
            <a:avLst/>
          </a:prstGeom>
        </p:spPr>
      </p:pic>
    </p:spTree>
    <p:extLst>
      <p:ext uri="{BB962C8B-B14F-4D97-AF65-F5344CB8AC3E}">
        <p14:creationId xmlns:p14="http://schemas.microsoft.com/office/powerpoint/2010/main" val="17794880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SOFTWARE TESTING</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graphicFrame>
        <p:nvGraphicFramePr>
          <p:cNvPr id="6" name="Table 5">
            <a:extLst>
              <a:ext uri="{FF2B5EF4-FFF2-40B4-BE49-F238E27FC236}">
                <a16:creationId xmlns:a16="http://schemas.microsoft.com/office/drawing/2014/main" id="{90F0FB9A-37A6-F2B0-A135-F7AF857DD22B}"/>
              </a:ext>
            </a:extLst>
          </p:cNvPr>
          <p:cNvGraphicFramePr>
            <a:graphicFrameLocks noGrp="1"/>
          </p:cNvGraphicFramePr>
          <p:nvPr>
            <p:extLst>
              <p:ext uri="{D42A27DB-BD31-4B8C-83A1-F6EECF244321}">
                <p14:modId xmlns:p14="http://schemas.microsoft.com/office/powerpoint/2010/main" val="4151967229"/>
              </p:ext>
            </p:extLst>
          </p:nvPr>
        </p:nvGraphicFramePr>
        <p:xfrm>
          <a:off x="171359" y="2888109"/>
          <a:ext cx="18363383" cy="7186965"/>
        </p:xfrm>
        <a:graphic>
          <a:graphicData uri="http://schemas.openxmlformats.org/drawingml/2006/table">
            <a:tbl>
              <a:tblPr>
                <a:tableStyleId>{20C9CE97-CE7F-44E7-8DA9-80F1B485C8E6}</a:tableStyleId>
              </a:tblPr>
              <a:tblGrid>
                <a:gridCol w="2997750">
                  <a:extLst>
                    <a:ext uri="{9D8B030D-6E8A-4147-A177-3AD203B41FA5}">
                      <a16:colId xmlns:a16="http://schemas.microsoft.com/office/drawing/2014/main" val="2857229181"/>
                    </a:ext>
                  </a:extLst>
                </a:gridCol>
                <a:gridCol w="2996021">
                  <a:extLst>
                    <a:ext uri="{9D8B030D-6E8A-4147-A177-3AD203B41FA5}">
                      <a16:colId xmlns:a16="http://schemas.microsoft.com/office/drawing/2014/main" val="1340770514"/>
                    </a:ext>
                  </a:extLst>
                </a:gridCol>
                <a:gridCol w="4036764">
                  <a:extLst>
                    <a:ext uri="{9D8B030D-6E8A-4147-A177-3AD203B41FA5}">
                      <a16:colId xmlns:a16="http://schemas.microsoft.com/office/drawing/2014/main" val="3805247162"/>
                    </a:ext>
                  </a:extLst>
                </a:gridCol>
                <a:gridCol w="3675444">
                  <a:extLst>
                    <a:ext uri="{9D8B030D-6E8A-4147-A177-3AD203B41FA5}">
                      <a16:colId xmlns:a16="http://schemas.microsoft.com/office/drawing/2014/main" val="2001622602"/>
                    </a:ext>
                  </a:extLst>
                </a:gridCol>
                <a:gridCol w="4657404">
                  <a:extLst>
                    <a:ext uri="{9D8B030D-6E8A-4147-A177-3AD203B41FA5}">
                      <a16:colId xmlns:a16="http://schemas.microsoft.com/office/drawing/2014/main" val="291655831"/>
                    </a:ext>
                  </a:extLst>
                </a:gridCol>
              </a:tblGrid>
              <a:tr h="1059941">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Test Scenario</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gridSpan="4">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Registration</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137791592"/>
                  </a:ext>
                </a:extLst>
              </a:tr>
              <a:tr h="1509959">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Test Case ID</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Step Details</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Expected</a:t>
                      </a:r>
                      <a:endParaRPr lang="en-IN" sz="20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ctr">
                        <a:lnSpc>
                          <a:spcPct val="150000"/>
                        </a:lnSpc>
                        <a:spcAft>
                          <a:spcPts val="800"/>
                        </a:spcAft>
                      </a:pPr>
                      <a:r>
                        <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Result</a:t>
                      </a:r>
                      <a:endParaRPr lang="en-IN" sz="20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Actual Result</a:t>
                      </a:r>
                      <a:endParaRPr lang="en-IN" sz="20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Pass/Fail/Non Executed/Suspended</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extLst>
                  <a:ext uri="{0D108BD9-81ED-4DB2-BD59-A6C34878D82A}">
                    <a16:rowId xmlns:a16="http://schemas.microsoft.com/office/drawing/2014/main" val="1894229520"/>
                  </a:ext>
                </a:extLst>
              </a:tr>
              <a:tr h="1814033">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TC01</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valid username and password</a:t>
                      </a: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Successful account creation</a:t>
                      </a: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Successful account creation</a:t>
                      </a: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2474663481"/>
                  </a:ext>
                </a:extLst>
              </a:tr>
              <a:tr h="1401516">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TC02</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Empty /Invalid Email</a:t>
                      </a: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4154393502"/>
                  </a:ext>
                </a:extLst>
              </a:tr>
              <a:tr h="1401516">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TC03</a:t>
                      </a:r>
                      <a:endParaRPr lang="en-IN" sz="20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Empty /Invalid Password</a:t>
                      </a: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0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0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1345079429"/>
                  </a:ext>
                </a:extLst>
              </a:tr>
            </a:tbl>
          </a:graphicData>
        </a:graphic>
      </p:graphicFrame>
    </p:spTree>
    <p:extLst>
      <p:ext uri="{BB962C8B-B14F-4D97-AF65-F5344CB8AC3E}">
        <p14:creationId xmlns:p14="http://schemas.microsoft.com/office/powerpoint/2010/main" val="556459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SOFTWARE TESTING</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graphicFrame>
        <p:nvGraphicFramePr>
          <p:cNvPr id="5" name="Table 4">
            <a:extLst>
              <a:ext uri="{FF2B5EF4-FFF2-40B4-BE49-F238E27FC236}">
                <a16:creationId xmlns:a16="http://schemas.microsoft.com/office/drawing/2014/main" id="{4760753B-9FC6-B71C-BF27-4DC688846BB6}"/>
              </a:ext>
            </a:extLst>
          </p:cNvPr>
          <p:cNvGraphicFramePr>
            <a:graphicFrameLocks noGrp="1"/>
          </p:cNvGraphicFramePr>
          <p:nvPr>
            <p:extLst>
              <p:ext uri="{D42A27DB-BD31-4B8C-83A1-F6EECF244321}">
                <p14:modId xmlns:p14="http://schemas.microsoft.com/office/powerpoint/2010/main" val="39984036"/>
              </p:ext>
            </p:extLst>
          </p:nvPr>
        </p:nvGraphicFramePr>
        <p:xfrm>
          <a:off x="171359" y="2658139"/>
          <a:ext cx="18681899" cy="7672249"/>
        </p:xfrm>
        <a:graphic>
          <a:graphicData uri="http://schemas.openxmlformats.org/drawingml/2006/table">
            <a:tbl>
              <a:tblPr>
                <a:tableStyleId>{20C9CE97-CE7F-44E7-8DA9-80F1B485C8E6}</a:tableStyleId>
              </a:tblPr>
              <a:tblGrid>
                <a:gridCol w="3049747">
                  <a:extLst>
                    <a:ext uri="{9D8B030D-6E8A-4147-A177-3AD203B41FA5}">
                      <a16:colId xmlns:a16="http://schemas.microsoft.com/office/drawing/2014/main" val="3760413011"/>
                    </a:ext>
                  </a:extLst>
                </a:gridCol>
                <a:gridCol w="3047987">
                  <a:extLst>
                    <a:ext uri="{9D8B030D-6E8A-4147-A177-3AD203B41FA5}">
                      <a16:colId xmlns:a16="http://schemas.microsoft.com/office/drawing/2014/main" val="1097217148"/>
                    </a:ext>
                  </a:extLst>
                </a:gridCol>
                <a:gridCol w="4106783">
                  <a:extLst>
                    <a:ext uri="{9D8B030D-6E8A-4147-A177-3AD203B41FA5}">
                      <a16:colId xmlns:a16="http://schemas.microsoft.com/office/drawing/2014/main" val="183028120"/>
                    </a:ext>
                  </a:extLst>
                </a:gridCol>
                <a:gridCol w="3739195">
                  <a:extLst>
                    <a:ext uri="{9D8B030D-6E8A-4147-A177-3AD203B41FA5}">
                      <a16:colId xmlns:a16="http://schemas.microsoft.com/office/drawing/2014/main" val="2946620202"/>
                    </a:ext>
                  </a:extLst>
                </a:gridCol>
                <a:gridCol w="4738187">
                  <a:extLst>
                    <a:ext uri="{9D8B030D-6E8A-4147-A177-3AD203B41FA5}">
                      <a16:colId xmlns:a16="http://schemas.microsoft.com/office/drawing/2014/main" val="3883003955"/>
                    </a:ext>
                  </a:extLst>
                </a:gridCol>
              </a:tblGrid>
              <a:tr h="1405617">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Test Scenario</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gridSpan="4">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Login</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6121981"/>
                  </a:ext>
                </a:extLst>
              </a:tr>
              <a:tr h="2002400">
                <a:tc>
                  <a:txBody>
                    <a:bodyPr/>
                    <a:lstStyle/>
                    <a:p>
                      <a:pPr algn="ctr">
                        <a:lnSpc>
                          <a:spcPct val="150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Test Case ID</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Step Details</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Expected Result</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Actual Result</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Pass/Fail/Non Executed/Suspended</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extLst>
                  <a:ext uri="{0D108BD9-81ED-4DB2-BD59-A6C34878D82A}">
                    <a16:rowId xmlns:a16="http://schemas.microsoft.com/office/drawing/2014/main" val="3541503681"/>
                  </a:ext>
                </a:extLst>
              </a:tr>
              <a:tr h="2405641">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TC04</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Valid Email id/Password</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Successful log-in and redirection to the home page</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Successful log-in and redirection to the home page</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2080178957"/>
                  </a:ext>
                </a:extLst>
              </a:tr>
              <a:tr h="1858591">
                <a:tc>
                  <a:txBody>
                    <a:bodyPr/>
                    <a:lstStyle/>
                    <a:p>
                      <a:pPr algn="ctr">
                        <a:lnSpc>
                          <a:spcPct val="150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TCO5</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Invalid Email/Password</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3816280389"/>
                  </a:ext>
                </a:extLst>
              </a:tr>
            </a:tbl>
          </a:graphicData>
        </a:graphic>
      </p:graphicFrame>
    </p:spTree>
    <p:extLst>
      <p:ext uri="{BB962C8B-B14F-4D97-AF65-F5344CB8AC3E}">
        <p14:creationId xmlns:p14="http://schemas.microsoft.com/office/powerpoint/2010/main" val="37435490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SOFTWARE TESTING</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graphicFrame>
        <p:nvGraphicFramePr>
          <p:cNvPr id="4" name="Table 3">
            <a:extLst>
              <a:ext uri="{FF2B5EF4-FFF2-40B4-BE49-F238E27FC236}">
                <a16:creationId xmlns:a16="http://schemas.microsoft.com/office/drawing/2014/main" id="{F224C753-CFB2-ECC1-14E5-40156A6BCDE2}"/>
              </a:ext>
            </a:extLst>
          </p:cNvPr>
          <p:cNvGraphicFramePr>
            <a:graphicFrameLocks noGrp="1"/>
          </p:cNvGraphicFramePr>
          <p:nvPr>
            <p:extLst>
              <p:ext uri="{D42A27DB-BD31-4B8C-83A1-F6EECF244321}">
                <p14:modId xmlns:p14="http://schemas.microsoft.com/office/powerpoint/2010/main" val="2769282071"/>
              </p:ext>
            </p:extLst>
          </p:nvPr>
        </p:nvGraphicFramePr>
        <p:xfrm>
          <a:off x="420914" y="2888109"/>
          <a:ext cx="18186400" cy="7416972"/>
        </p:xfrm>
        <a:graphic>
          <a:graphicData uri="http://schemas.openxmlformats.org/drawingml/2006/table">
            <a:tbl>
              <a:tblPr>
                <a:tableStyleId>{20C9CE97-CE7F-44E7-8DA9-80F1B485C8E6}</a:tableStyleId>
              </a:tblPr>
              <a:tblGrid>
                <a:gridCol w="2696627">
                  <a:extLst>
                    <a:ext uri="{9D8B030D-6E8A-4147-A177-3AD203B41FA5}">
                      <a16:colId xmlns:a16="http://schemas.microsoft.com/office/drawing/2014/main" val="3366811713"/>
                    </a:ext>
                  </a:extLst>
                </a:gridCol>
                <a:gridCol w="3210272">
                  <a:extLst>
                    <a:ext uri="{9D8B030D-6E8A-4147-A177-3AD203B41FA5}">
                      <a16:colId xmlns:a16="http://schemas.microsoft.com/office/drawing/2014/main" val="1433750144"/>
                    </a:ext>
                  </a:extLst>
                </a:gridCol>
                <a:gridCol w="4026964">
                  <a:extLst>
                    <a:ext uri="{9D8B030D-6E8A-4147-A177-3AD203B41FA5}">
                      <a16:colId xmlns:a16="http://schemas.microsoft.com/office/drawing/2014/main" val="666354719"/>
                    </a:ext>
                  </a:extLst>
                </a:gridCol>
                <a:gridCol w="3640021">
                  <a:extLst>
                    <a:ext uri="{9D8B030D-6E8A-4147-A177-3AD203B41FA5}">
                      <a16:colId xmlns:a16="http://schemas.microsoft.com/office/drawing/2014/main" val="3549173261"/>
                    </a:ext>
                  </a:extLst>
                </a:gridCol>
                <a:gridCol w="4612516">
                  <a:extLst>
                    <a:ext uri="{9D8B030D-6E8A-4147-A177-3AD203B41FA5}">
                      <a16:colId xmlns:a16="http://schemas.microsoft.com/office/drawing/2014/main" val="4166550809"/>
                    </a:ext>
                  </a:extLst>
                </a:gridCol>
              </a:tblGrid>
              <a:tr h="939067">
                <a:tc>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Test Scenario</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gridSpan="4">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Payment</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73330145"/>
                  </a:ext>
                </a:extLst>
              </a:tr>
              <a:tr h="1300436">
                <a:tc>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Test Case ID</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Step Details</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Expected Result</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800" b="1" kern="100">
                          <a:effectLst/>
                          <a:latin typeface="Microsoft Sans Serif" panose="020B0604020202020204" pitchFamily="34" charset="0"/>
                          <a:ea typeface="Microsoft Sans Serif" panose="020B0604020202020204" pitchFamily="34" charset="0"/>
                          <a:cs typeface="Microsoft Sans Serif" panose="020B0604020202020204" pitchFamily="34" charset="0"/>
                        </a:rPr>
                        <a:t>Actual Result</a:t>
                      </a:r>
                      <a:endParaRPr lang="en-IN" sz="2400" b="1" kern="10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Pass/Fail/Non Executed/Suspended</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extLst>
                  <a:ext uri="{0D108BD9-81ED-4DB2-BD59-A6C34878D82A}">
                    <a16:rowId xmlns:a16="http://schemas.microsoft.com/office/drawing/2014/main" val="2839010400"/>
                  </a:ext>
                </a:extLst>
              </a:tr>
              <a:tr h="2205264">
                <a:tc>
                  <a:txBody>
                    <a:bodyPr/>
                    <a:lstStyle/>
                    <a:p>
                      <a:pPr algn="ctr">
                        <a:lnSpc>
                          <a:spcPct val="107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TC06</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Valid name,email,card number,expiry date and cvv</a:t>
                      </a:r>
                    </a:p>
                  </a:txBody>
                  <a:tcPr marL="63500" marR="63500" marT="63500" marB="63500" anchor="ctr"/>
                </a:tc>
                <a:tc>
                  <a:txBody>
                    <a:bodyPr/>
                    <a:lstStyle/>
                    <a:p>
                      <a:pPr algn="ctr">
                        <a:lnSpc>
                          <a:spcPct val="107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payment processed,</a:t>
                      </a:r>
                    </a:p>
                    <a:p>
                      <a:pPr algn="ctr">
                        <a:lnSpc>
                          <a:spcPct val="107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order placed</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payment processed,</a:t>
                      </a:r>
                    </a:p>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order placed</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3590585794"/>
                  </a:ext>
                </a:extLst>
              </a:tr>
              <a:tr h="1211559">
                <a:tc>
                  <a:txBody>
                    <a:bodyPr/>
                    <a:lstStyle/>
                    <a:p>
                      <a:pPr algn="ctr">
                        <a:lnSpc>
                          <a:spcPct val="107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TC07</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Leave one or more fields blank</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543701078"/>
                  </a:ext>
                </a:extLst>
              </a:tr>
              <a:tr h="880323">
                <a:tc>
                  <a:txBody>
                    <a:bodyPr/>
                    <a:lstStyle/>
                    <a:p>
                      <a:pPr algn="ctr">
                        <a:lnSpc>
                          <a:spcPct val="107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TC08</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Invalid Card number</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3840856972"/>
                  </a:ext>
                </a:extLst>
              </a:tr>
              <a:tr h="880323">
                <a:tc>
                  <a:txBody>
                    <a:bodyPr/>
                    <a:lstStyle/>
                    <a:p>
                      <a:pPr algn="ctr">
                        <a:lnSpc>
                          <a:spcPct val="107000"/>
                        </a:lnSpc>
                        <a:spcAft>
                          <a:spcPts val="800"/>
                        </a:spcAft>
                      </a:pPr>
                      <a:r>
                        <a:rPr lang="en-IN" sz="28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TC09</a:t>
                      </a:r>
                      <a:endPar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Expired card expiry date</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Error message</a:t>
                      </a:r>
                    </a:p>
                  </a:txBody>
                  <a:tcPr marL="63500" marR="63500" marT="63500" marB="63500" anchor="ctr"/>
                </a:tc>
                <a:tc>
                  <a:txBody>
                    <a:bodyPr/>
                    <a:lstStyle/>
                    <a:p>
                      <a:pPr algn="ctr">
                        <a:lnSpc>
                          <a:spcPct val="107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Fail</a:t>
                      </a:r>
                    </a:p>
                  </a:txBody>
                  <a:tcPr marL="63500" marR="63500" marT="63500" marB="63500" anchor="ctr"/>
                </a:tc>
                <a:extLst>
                  <a:ext uri="{0D108BD9-81ED-4DB2-BD59-A6C34878D82A}">
                    <a16:rowId xmlns:a16="http://schemas.microsoft.com/office/drawing/2014/main" val="1387474048"/>
                  </a:ext>
                </a:extLst>
              </a:tr>
            </a:tbl>
          </a:graphicData>
        </a:graphic>
      </p:graphicFrame>
    </p:spTree>
    <p:extLst>
      <p:ext uri="{BB962C8B-B14F-4D97-AF65-F5344CB8AC3E}">
        <p14:creationId xmlns:p14="http://schemas.microsoft.com/office/powerpoint/2010/main" val="2221654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SOFTWARE TESTING</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graphicFrame>
        <p:nvGraphicFramePr>
          <p:cNvPr id="5" name="Table 4">
            <a:extLst>
              <a:ext uri="{FF2B5EF4-FFF2-40B4-BE49-F238E27FC236}">
                <a16:creationId xmlns:a16="http://schemas.microsoft.com/office/drawing/2014/main" id="{AA4A477B-F430-C99A-B85E-7AC6209C0EF4}"/>
              </a:ext>
            </a:extLst>
          </p:cNvPr>
          <p:cNvGraphicFramePr>
            <a:graphicFrameLocks noGrp="1"/>
          </p:cNvGraphicFramePr>
          <p:nvPr>
            <p:extLst>
              <p:ext uri="{D42A27DB-BD31-4B8C-83A1-F6EECF244321}">
                <p14:modId xmlns:p14="http://schemas.microsoft.com/office/powerpoint/2010/main" val="921768251"/>
              </p:ext>
            </p:extLst>
          </p:nvPr>
        </p:nvGraphicFramePr>
        <p:xfrm>
          <a:off x="399869" y="2888109"/>
          <a:ext cx="18149386" cy="7416970"/>
        </p:xfrm>
        <a:graphic>
          <a:graphicData uri="http://schemas.openxmlformats.org/drawingml/2006/table">
            <a:tbl>
              <a:tblPr>
                <a:tableStyleId>{20C9CE97-CE7F-44E7-8DA9-80F1B485C8E6}</a:tableStyleId>
              </a:tblPr>
              <a:tblGrid>
                <a:gridCol w="2987375">
                  <a:extLst>
                    <a:ext uri="{9D8B030D-6E8A-4147-A177-3AD203B41FA5}">
                      <a16:colId xmlns:a16="http://schemas.microsoft.com/office/drawing/2014/main" val="1429532662"/>
                    </a:ext>
                  </a:extLst>
                </a:gridCol>
                <a:gridCol w="2987375">
                  <a:extLst>
                    <a:ext uri="{9D8B030D-6E8A-4147-A177-3AD203B41FA5}">
                      <a16:colId xmlns:a16="http://schemas.microsoft.com/office/drawing/2014/main" val="1118928338"/>
                    </a:ext>
                  </a:extLst>
                </a:gridCol>
                <a:gridCol w="3299102">
                  <a:extLst>
                    <a:ext uri="{9D8B030D-6E8A-4147-A177-3AD203B41FA5}">
                      <a16:colId xmlns:a16="http://schemas.microsoft.com/office/drawing/2014/main" val="1024749499"/>
                    </a:ext>
                  </a:extLst>
                </a:gridCol>
                <a:gridCol w="3299102">
                  <a:extLst>
                    <a:ext uri="{9D8B030D-6E8A-4147-A177-3AD203B41FA5}">
                      <a16:colId xmlns:a16="http://schemas.microsoft.com/office/drawing/2014/main" val="2761038249"/>
                    </a:ext>
                  </a:extLst>
                </a:gridCol>
                <a:gridCol w="5576432">
                  <a:extLst>
                    <a:ext uri="{9D8B030D-6E8A-4147-A177-3AD203B41FA5}">
                      <a16:colId xmlns:a16="http://schemas.microsoft.com/office/drawing/2014/main" val="3089658366"/>
                    </a:ext>
                  </a:extLst>
                </a:gridCol>
              </a:tblGrid>
              <a:tr h="1483394">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Test Scenario</a:t>
                      </a:r>
                    </a:p>
                  </a:txBody>
                  <a:tcPr marL="63500" marR="63500" marT="63500" marB="63500" anchor="ctr"/>
                </a:tc>
                <a:tc gridSpan="4">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Item Change</a:t>
                      </a:r>
                    </a:p>
                  </a:txBody>
                  <a:tcPr marL="63500" marR="63500" marT="63500" marB="6350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19960116"/>
                  </a:ext>
                </a:extLst>
              </a:tr>
              <a:tr h="1483394">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Test Scenario</a:t>
                      </a: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Step Details</a:t>
                      </a: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Expected Result</a:t>
                      </a: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Actual Result</a:t>
                      </a:r>
                    </a:p>
                  </a:txBody>
                  <a:tcPr marL="63500" marR="63500" marT="63500" marB="63500" anchor="ctr"/>
                </a:tc>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Pass/Fail</a:t>
                      </a:r>
                    </a:p>
                  </a:txBody>
                  <a:tcPr marL="63500" marR="63500" marT="63500" marB="63500" anchor="ctr"/>
                </a:tc>
                <a:extLst>
                  <a:ext uri="{0D108BD9-81ED-4DB2-BD59-A6C34878D82A}">
                    <a16:rowId xmlns:a16="http://schemas.microsoft.com/office/drawing/2014/main" val="3385340191"/>
                  </a:ext>
                </a:extLst>
              </a:tr>
              <a:tr h="2102126">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TC11</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Update Item Details</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Details Updated successfully</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Details Updated successfully</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1239968193"/>
                  </a:ext>
                </a:extLst>
              </a:tr>
              <a:tr h="864662">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TC12</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Delete Item</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Item deleted</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Item deleted</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3226436970"/>
                  </a:ext>
                </a:extLst>
              </a:tr>
              <a:tr h="1483394">
                <a:tc>
                  <a:txBody>
                    <a:bodyPr/>
                    <a:lstStyle/>
                    <a:p>
                      <a:pPr algn="ctr">
                        <a:lnSpc>
                          <a:spcPct val="150000"/>
                        </a:lnSpc>
                        <a:spcAft>
                          <a:spcPts val="800"/>
                        </a:spcAft>
                      </a:pPr>
                      <a:r>
                        <a:rPr lang="en-IN" sz="2400" b="1"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TC13</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Add new Item</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Item added successfully</a:t>
                      </a:r>
                    </a:p>
                  </a:txBody>
                  <a:tcPr marL="63500" marR="63500" marT="63500" marB="63500" anchor="ctr"/>
                </a:tc>
                <a:tc>
                  <a:txBody>
                    <a:bodyPr/>
                    <a:lstStyle/>
                    <a:p>
                      <a:pPr algn="ctr">
                        <a:lnSpc>
                          <a:spcPct val="150000"/>
                        </a:lnSpc>
                        <a:spcAft>
                          <a:spcPts val="800"/>
                        </a:spcAft>
                      </a:pPr>
                      <a:r>
                        <a:rPr lang="en-IN" sz="2400" kern="100">
                          <a:effectLst/>
                          <a:latin typeface="Microsoft Sans Serif" panose="020B0604020202020204" pitchFamily="34" charset="0"/>
                          <a:ea typeface="Microsoft Sans Serif" panose="020B0604020202020204" pitchFamily="34" charset="0"/>
                          <a:cs typeface="Microsoft Sans Serif" panose="020B0604020202020204" pitchFamily="34" charset="0"/>
                        </a:rPr>
                        <a:t>Item added successfully</a:t>
                      </a:r>
                    </a:p>
                  </a:txBody>
                  <a:tcPr marL="63500" marR="63500" marT="63500" marB="63500" anchor="ctr"/>
                </a:tc>
                <a:tc>
                  <a:txBody>
                    <a:bodyPr/>
                    <a:lstStyle/>
                    <a:p>
                      <a:pPr algn="ctr">
                        <a:lnSpc>
                          <a:spcPct val="150000"/>
                        </a:lnSpc>
                        <a:spcAft>
                          <a:spcPts val="800"/>
                        </a:spcAft>
                      </a:pPr>
                      <a:r>
                        <a:rPr lang="en-IN" sz="2400" kern="1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a:t>
                      </a:r>
                    </a:p>
                  </a:txBody>
                  <a:tcPr marL="63500" marR="63500" marT="63500" marB="63500" anchor="ctr"/>
                </a:tc>
                <a:extLst>
                  <a:ext uri="{0D108BD9-81ED-4DB2-BD59-A6C34878D82A}">
                    <a16:rowId xmlns:a16="http://schemas.microsoft.com/office/drawing/2014/main" val="352477900"/>
                  </a:ext>
                </a:extLst>
              </a:tr>
            </a:tbl>
          </a:graphicData>
        </a:graphic>
      </p:graphicFrame>
    </p:spTree>
    <p:extLst>
      <p:ext uri="{BB962C8B-B14F-4D97-AF65-F5344CB8AC3E}">
        <p14:creationId xmlns:p14="http://schemas.microsoft.com/office/powerpoint/2010/main" val="24180099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CONCLUSION</a:t>
            </a:r>
            <a:endParaRPr sz="4400" b="0" i="0" u="none" strike="noStrike" cap="none" dirty="0">
              <a:latin typeface="Arial"/>
              <a:ea typeface="Arial"/>
              <a:cs typeface="Arial"/>
              <a:sym typeface="Arial"/>
            </a:endParaRPr>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
        <p:nvSpPr>
          <p:cNvPr id="6" name="TextBox 5">
            <a:extLst>
              <a:ext uri="{FF2B5EF4-FFF2-40B4-BE49-F238E27FC236}">
                <a16:creationId xmlns:a16="http://schemas.microsoft.com/office/drawing/2014/main" id="{5C85328F-6D4B-E82C-58FB-D07B00D8AA5D}"/>
              </a:ext>
            </a:extLst>
          </p:cNvPr>
          <p:cNvSpPr txBox="1"/>
          <p:nvPr/>
        </p:nvSpPr>
        <p:spPr>
          <a:xfrm>
            <a:off x="157054" y="2484576"/>
            <a:ext cx="18696205" cy="5847755"/>
          </a:xfrm>
          <a:prstGeom prst="rect">
            <a:avLst/>
          </a:prstGeom>
          <a:noFill/>
        </p:spPr>
        <p:txBody>
          <a:bodyPr wrap="square">
            <a:spAutoFit/>
          </a:bodyPr>
          <a:lstStyle/>
          <a:p>
            <a:pPr algn="just"/>
            <a:r>
              <a:rPr lang="en-IN" sz="3400" dirty="0">
                <a:latin typeface="Microsoft Sans Serif" panose="020B0604020202020204" pitchFamily="34" charset="0"/>
                <a:ea typeface="Microsoft Sans Serif" panose="020B0604020202020204" pitchFamily="34" charset="0"/>
                <a:cs typeface="Microsoft Sans Serif" panose="020B0604020202020204" pitchFamily="34" charset="0"/>
              </a:rPr>
              <a:t>Taste of Home represents a groundbreaking initiative that harnesses technology to redefine the culinary landscape. By seamlessly connecting local food producers with consumers through its innovative MERN stack platform, it has successfully nurtured a vibrant community </a:t>
            </a:r>
            <a:r>
              <a:rPr lang="en-IN" sz="3400" dirty="0" err="1">
                <a:latin typeface="Microsoft Sans Serif" panose="020B0604020202020204" pitchFamily="34" charset="0"/>
                <a:ea typeface="Microsoft Sans Serif" panose="020B0604020202020204" pitchFamily="34" charset="0"/>
                <a:cs typeface="Microsoft Sans Serif" panose="020B0604020202020204" pitchFamily="34" charset="0"/>
              </a:rPr>
              <a:t>centered</a:t>
            </a:r>
            <a:r>
              <a:rPr lang="en-IN" sz="3400" dirty="0">
                <a:latin typeface="Microsoft Sans Serif" panose="020B0604020202020204" pitchFamily="34" charset="0"/>
                <a:ea typeface="Microsoft Sans Serif" panose="020B0604020202020204" pitchFamily="34" charset="0"/>
                <a:cs typeface="Microsoft Sans Serif" panose="020B0604020202020204" pitchFamily="34" charset="0"/>
              </a:rPr>
              <a:t> around culinary passion and expertise. Comprehensive user profiles, detailed listings, integrated messaging systems, secure payment gateways, and robust review mechanisms collectively foster transparency, trust, and personalized interactions. However, Taste of Home's impact transcends mere technological prowess – it embodies a profound commitment to champion local talents, combat food waste, promote sustainability, and contribute to the growth of local economies. Through nurturing strong community connections and enabling the celebration of homemade culinary delights, Taste of Home envisions a future where authentic </a:t>
            </a:r>
            <a:r>
              <a:rPr lang="en-IN" sz="3400" dirty="0" err="1">
                <a:latin typeface="Microsoft Sans Serif" panose="020B0604020202020204" pitchFamily="34" charset="0"/>
                <a:ea typeface="Microsoft Sans Serif" panose="020B0604020202020204" pitchFamily="34" charset="0"/>
                <a:cs typeface="Microsoft Sans Serif" panose="020B0604020202020204" pitchFamily="34" charset="0"/>
              </a:rPr>
              <a:t>flavors</a:t>
            </a:r>
            <a:r>
              <a:rPr lang="en-IN" sz="3400" dirty="0">
                <a:latin typeface="Microsoft Sans Serif" panose="020B0604020202020204" pitchFamily="34" charset="0"/>
                <a:ea typeface="Microsoft Sans Serif" panose="020B0604020202020204" pitchFamily="34" charset="0"/>
                <a:cs typeface="Microsoft Sans Serif" panose="020B0604020202020204" pitchFamily="34" charset="0"/>
              </a:rPr>
              <a:t> enrich lives and redefine the way we experience food.</a:t>
            </a:r>
          </a:p>
        </p:txBody>
      </p:sp>
    </p:spTree>
    <p:extLst>
      <p:ext uri="{BB962C8B-B14F-4D97-AF65-F5344CB8AC3E}">
        <p14:creationId xmlns:p14="http://schemas.microsoft.com/office/powerpoint/2010/main" val="37253317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Future Enhancement</a:t>
            </a:r>
            <a:endParaRPr sz="4400" b="0" i="0" u="none" strike="noStrike" cap="none" dirty="0">
              <a:latin typeface="Arial"/>
              <a:ea typeface="Arial"/>
              <a:cs typeface="Arial"/>
              <a:sym typeface="Arial"/>
            </a:endParaRPr>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TEST CASES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
        <p:nvSpPr>
          <p:cNvPr id="6" name="TextBox 5">
            <a:extLst>
              <a:ext uri="{FF2B5EF4-FFF2-40B4-BE49-F238E27FC236}">
                <a16:creationId xmlns:a16="http://schemas.microsoft.com/office/drawing/2014/main" id="{5C85328F-6D4B-E82C-58FB-D07B00D8AA5D}"/>
              </a:ext>
            </a:extLst>
          </p:cNvPr>
          <p:cNvSpPr txBox="1"/>
          <p:nvPr/>
        </p:nvSpPr>
        <p:spPr>
          <a:xfrm>
            <a:off x="157054" y="2484576"/>
            <a:ext cx="18696205" cy="6986528"/>
          </a:xfrm>
          <a:prstGeom prst="rect">
            <a:avLst/>
          </a:prstGeom>
          <a:noFill/>
        </p:spPr>
        <p:txBody>
          <a:bodyPr wrap="square">
            <a:spAutoFit/>
          </a:bodyPr>
          <a:lstStyle/>
          <a:p>
            <a:pPr algn="just"/>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Taste of Home aims to continuously evolve and expand its impact, driven by a steadfast commitment to innovation and sustainability. Leveraging advanced data analytics and machine learning techniques, the platform could introduce personalized recommendations tailored to individual preferences, dietary requirements, and local food trends. This would further streamline the discovery process, ensuring a curated and delightful experience for consumers while maximizing exposure for local producers. Additionally, the integration of cutting-edge technologies could revolutionize the user experience:</a:t>
            </a:r>
          </a:p>
          <a:p>
            <a:pPr algn="just"/>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 Virtual and augmented reality for immersive visual explorations of offerings </a:t>
            </a:r>
          </a:p>
          <a:p>
            <a:pPr algn="just"/>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 AI-powered chatbots for seamless communication and query resolution</a:t>
            </a:r>
          </a:p>
          <a:p>
            <a:pPr algn="just"/>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 Blockchain integration for enhanced transparency and traceability</a:t>
            </a:r>
          </a:p>
          <a:p>
            <a:pPr algn="just"/>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Taste of Home also recognizes the immense potential of fostering a collaborative ecosystem, where producers can share best practices, techniques, and resources, fostering a supportive community of culinary excellence. By embracing emerging technologies and fostering collaboration, Taste of Home is poised to solidify its position as a trailblazer, driving positive change in the culinary industry while promoting sustainable practices and nurturing a deep appreciation for the art of homemade cuisine.</a:t>
            </a:r>
          </a:p>
        </p:txBody>
      </p:sp>
    </p:spTree>
    <p:extLst>
      <p:ext uri="{BB962C8B-B14F-4D97-AF65-F5344CB8AC3E}">
        <p14:creationId xmlns:p14="http://schemas.microsoft.com/office/powerpoint/2010/main" val="11866834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Application in Real World</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828C5FB-93BD-0969-0281-F7DC4308E1D8}"/>
              </a:ext>
            </a:extLst>
          </p:cNvPr>
          <p:cNvSpPr txBox="1"/>
          <p:nvPr/>
        </p:nvSpPr>
        <p:spPr>
          <a:xfrm>
            <a:off x="351692" y="2625969"/>
            <a:ext cx="17139139" cy="3539430"/>
          </a:xfrm>
          <a:prstGeom prst="rect">
            <a:avLst/>
          </a:prstGeom>
          <a:noFill/>
        </p:spPr>
        <p:txBody>
          <a:bodyPr wrap="square" rtlCol="0">
            <a:spAutoFit/>
          </a:bodyPr>
          <a:lstStyle/>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In the real world,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provides a platform for discovering and sharing authentic homemade 	food, bringing the comfort of home-cooked meals to users.</a:t>
            </a:r>
          </a:p>
          <a:p>
            <a:pPr marL="571500" indent="-571500" algn="l">
              <a:buFont typeface="Arial" panose="020B0604020202020204" pitchFamily="34" charset="0"/>
              <a:buChar char="•"/>
            </a:pPr>
            <a:endParaRPr lang="en-IN" sz="3200" b="0" i="0" dirty="0">
              <a:solidFill>
                <a:srgbClr val="CECAC3"/>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It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ontribute to a more sustainable and localized food supply chain, promoting environmental responsibility and reducing the carbon footprint associated with food production and distribution.</a:t>
            </a:r>
          </a:p>
          <a:p>
            <a:pPr marL="571500" indent="-571500">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08AA84B8-E1E0-5CC1-C22E-1E33865C7779}"/>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9516964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References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181A116-867F-F4E9-5862-CD913A604EC8}"/>
              </a:ext>
            </a:extLst>
          </p:cNvPr>
          <p:cNvSpPr txBox="1"/>
          <p:nvPr/>
        </p:nvSpPr>
        <p:spPr>
          <a:xfrm>
            <a:off x="171360" y="2656114"/>
            <a:ext cx="17898926" cy="7417415"/>
          </a:xfrm>
          <a:prstGeom prst="rect">
            <a:avLst/>
          </a:prstGeom>
          <a:noFill/>
        </p:spPr>
        <p:txBody>
          <a:bodyPr wrap="square" rtlCol="0">
            <a:spAutoFit/>
          </a:bodyPr>
          <a:lstStyle/>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[1] A REAL TIME WEB SERVICE SYSTEM FOR FOOD DELIVERY | Journal of Data Acquisition and Processing | 2023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3"/>
              </a:rPr>
              <a:t>https://sjcjycl.cn/article/view-2023/pdf/02_1628.pdf</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[2] Causal analysis of factors contributing to food wastage in restaurants of India | International Conference on Computational Intelligence and Sustainable Engineering Solutions (CISES) | 2023-12-27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4"/>
              </a:rPr>
              <a:t>https://ieeexplore.ieee.org/document/10183615</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[3] Food Ordering website "Cooked with care" developed using MERN stack | IEEE Xplore | 2022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5"/>
              </a:rPr>
              <a:t>https://www.researchgate.net/publication/361178168_Food_Ordering_website_Cooked_with_care_developed_using_MERN_stack</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[4] Web Based Application for Ordering Food Raw Materials | 1st International Conference on Computer Science and Artificial Intelligence | 2021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6"/>
              </a:rPr>
              <a:t>https://ieeexplore.ieee.org/document/9609733</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[5] Design of Web App for Online Food Services | International Journal for Research in Applied Science &amp; Engineering Technology (IJRASET) | May 2022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7"/>
              </a:rPr>
              <a:t>https://www.ijraset.com/research-paper/design-of-web-app-for-online-food-services</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F051A2CB-4013-BEF8-08D0-6F2C2DE44D7C}"/>
              </a:ext>
            </a:extLst>
          </p:cNvPr>
          <p:cNvPicPr>
            <a:picLocks noChangeAspect="1"/>
          </p:cNvPicPr>
          <p:nvPr/>
        </p:nvPicPr>
        <p:blipFill>
          <a:blip r:embed="rId8"/>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1688231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References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181A116-867F-F4E9-5862-CD913A604EC8}"/>
              </a:ext>
            </a:extLst>
          </p:cNvPr>
          <p:cNvSpPr txBox="1"/>
          <p:nvPr/>
        </p:nvSpPr>
        <p:spPr>
          <a:xfrm>
            <a:off x="171360" y="2656114"/>
            <a:ext cx="17898926" cy="6986528"/>
          </a:xfrm>
          <a:prstGeom prst="rect">
            <a:avLst/>
          </a:prstGeom>
          <a:noFill/>
        </p:spPr>
        <p:txBody>
          <a:bodyPr wrap="square" rtlCol="0">
            <a:spAutoFit/>
          </a:bodyPr>
          <a:lstStyle/>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[6] E-Commerce web Application by using MERN Technology | International Journal for Modern Trends in Science and Technology | June 2021|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3"/>
              </a:rPr>
              <a:t>https://www.ijmtst.com/vol7issue05.html</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[7] MERN Stack Web Development | Annals of R.S.C.B | May 2021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4"/>
              </a:rPr>
              <a:t>http://annalsofrscb.ro/index.php/journal</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[8] CHALLENGES OF FOOD SECURITY | International Conference on Research in Humanities, Applied Sciences and Education| June 5th 2022|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5"/>
              </a:rPr>
              <a:t>https://www.researchgate.net/publication/312093853_Challenges_of_Food_Security_in_India</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[9] Investigating the Feasibility of a Restaurant Delivery Service to Improve Food Security among College Students Experiencing Marginal Food Security, a Head-to-Head Trial with Grocery Store Gift Cards | Int. J. Environ. Res. Public Health | 2021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6"/>
              </a:rPr>
              <a:t>https://doi.org/10.3390/ijerph18189680</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[10] Implementation of RESTful API Web Services Architecture in Takeaway Application Development  | 1st International Conference on Electronic and Electrical Engineering and Intelligent System (ICE3IS)| 2021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7"/>
              </a:rPr>
              <a:t>https://ieeexplore.ieee.org/document/9649679</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F051A2CB-4013-BEF8-08D0-6F2C2DE44D7C}"/>
              </a:ext>
            </a:extLst>
          </p:cNvPr>
          <p:cNvPicPr>
            <a:picLocks noChangeAspect="1"/>
          </p:cNvPicPr>
          <p:nvPr/>
        </p:nvPicPr>
        <p:blipFill>
          <a:blip r:embed="rId8"/>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4924997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References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181A116-867F-F4E9-5862-CD913A604EC8}"/>
              </a:ext>
            </a:extLst>
          </p:cNvPr>
          <p:cNvSpPr txBox="1"/>
          <p:nvPr/>
        </p:nvSpPr>
        <p:spPr>
          <a:xfrm>
            <a:off x="171360" y="2656114"/>
            <a:ext cx="17898926" cy="2677656"/>
          </a:xfrm>
          <a:prstGeom prst="rect">
            <a:avLst/>
          </a:prstGeom>
          <a:noFill/>
        </p:spPr>
        <p:txBody>
          <a:bodyPr wrap="square" rtlCol="0">
            <a:spAutoFit/>
          </a:bodyPr>
          <a:lstStyle/>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[11] Solving Food Wastage issues through BYOD application | Fifth National Conference of Saudi Computers Colleges (NCCC) | 2022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3"/>
              </a:rPr>
              <a:t>https://ieeexplore.ieee.org/document/10067735</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[12] Review of Online Food Delivery Platforms and their Impacts on Sustainability | Fifth National Conference of Saudi Computers Colleges (NCCC) | 8 July 2020|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4"/>
              </a:rPr>
              <a:t>https://ideas.repec.org/a/gam/jsusta/v12y2020i14p5528-d382021.html</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F051A2CB-4013-BEF8-08D0-6F2C2DE44D7C}"/>
              </a:ext>
            </a:extLst>
          </p:cNvPr>
          <p:cNvPicPr>
            <a:picLocks noChangeAspect="1"/>
          </p:cNvPicPr>
          <p:nvPr/>
        </p:nvPicPr>
        <p:blipFill>
          <a:blip r:embed="rId5"/>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5182863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16"/>
          <p:cNvSpPr/>
          <p:nvPr/>
        </p:nvSpPr>
        <p:spPr>
          <a:xfrm>
            <a:off x="1920240" y="3647160"/>
            <a:ext cx="14812920" cy="1109880"/>
          </a:xfrm>
          <a:prstGeom prst="rect">
            <a:avLst/>
          </a:prstGeom>
          <a:noFill/>
          <a:ln>
            <a:noFill/>
          </a:ln>
        </p:spPr>
        <p:txBody>
          <a:bodyPr spcFirstLastPara="1" wrap="square" lIns="0" tIns="12600" rIns="0" bIns="0" anchor="t" anchorCtr="0">
            <a:spAutoFit/>
          </a:bodyPr>
          <a:lstStyle/>
          <a:p>
            <a:pPr marL="1222920" marR="0" lvl="0" indent="-1211040" algn="ctr" rtl="0">
              <a:lnSpc>
                <a:spcPct val="100000"/>
              </a:lnSpc>
              <a:spcBef>
                <a:spcPts val="0"/>
              </a:spcBef>
              <a:spcAft>
                <a:spcPts val="0"/>
              </a:spcAft>
              <a:buClr>
                <a:srgbClr val="00318B"/>
              </a:buClr>
              <a:buSzPts val="7200"/>
              <a:buFont typeface="Calibri"/>
              <a:buNone/>
            </a:pPr>
            <a:r>
              <a:rPr lang="en-US" sz="7200" b="0" i="0" u="none" strike="noStrike" cap="none" dirty="0">
                <a:solidFill>
                  <a:srgbClr val="00318B"/>
                </a:solidFill>
                <a:latin typeface="Calibri"/>
                <a:ea typeface="Calibri"/>
                <a:cs typeface="Calibri"/>
                <a:sym typeface="Calibri"/>
              </a:rPr>
              <a:t>Thank You !!</a:t>
            </a:r>
            <a:endParaRPr sz="7200" b="0" i="0" u="none" strike="noStrike" cap="none" dirty="0">
              <a:latin typeface="Arial"/>
              <a:ea typeface="Arial"/>
              <a:cs typeface="Arial"/>
              <a:sym typeface="Arial"/>
            </a:endParaRPr>
          </a:p>
        </p:txBody>
      </p:sp>
      <p:sp>
        <p:nvSpPr>
          <p:cNvPr id="786" name="Google Shape;786;p16"/>
          <p:cNvSpPr/>
          <p:nvPr/>
        </p:nvSpPr>
        <p:spPr>
          <a:xfrm rot="10800000" flipH="1">
            <a:off x="2651760" y="4740480"/>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787" name="Google Shape;787;p1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90" name="Google Shape;790;p1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E0E84962-1964-DB2A-BD92-F06962832C05}"/>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D87683AF-D1BB-DA26-1F22-24E75F0A90AC}"/>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3475</TotalTime>
  <Words>3848</Words>
  <Application>Microsoft Office PowerPoint</Application>
  <PresentationFormat>Custom</PresentationFormat>
  <Paragraphs>583</Paragraphs>
  <Slides>48</Slides>
  <Notes>48</Notes>
  <HiddenSlides>1</HiddenSlides>
  <MMClips>0</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48</vt:i4>
      </vt:variant>
    </vt:vector>
  </HeadingPairs>
  <TitlesOfParts>
    <vt:vector size="61" baseType="lpstr">
      <vt:lpstr>Arial</vt:lpstr>
      <vt:lpstr>Calibri</vt:lpstr>
      <vt:lpstr>Microsoft Sans Serif</vt:lpstr>
      <vt:lpstr>Symbol</vt:lpstr>
      <vt:lpstr>Times New Roman</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Nisarg Gandhi</dc:creator>
  <cp:lastModifiedBy>Nisarg Gandhi</cp:lastModifiedBy>
  <cp:revision>37</cp:revision>
  <dcterms:created xsi:type="dcterms:W3CDTF">2022-03-06T10:12:11Z</dcterms:created>
  <dcterms:modified xsi:type="dcterms:W3CDTF">2024-06-20T19:20:00Z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