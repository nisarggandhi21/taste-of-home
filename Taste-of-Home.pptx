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theme/theme4.xml" ContentType="application/vnd.openxmlformats-officedocument.theme+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theme/theme5.xml" ContentType="application/vnd.openxmlformats-officedocument.theme+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theme/theme6.xml" ContentType="application/vnd.openxmlformats-officedocument.theme+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theme/theme7.xml" ContentType="application/vnd.openxmlformats-officedocument.theme+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 id="2147483661" r:id="rId2"/>
    <p:sldMasterId id="2147483674" r:id="rId3"/>
    <p:sldMasterId id="2147483687" r:id="rId4"/>
    <p:sldMasterId id="2147483700" r:id="rId5"/>
    <p:sldMasterId id="2147483713" r:id="rId6"/>
    <p:sldMasterId id="2147483726" r:id="rId7"/>
    <p:sldMasterId id="2147483739" r:id="rId8"/>
  </p:sldMasterIdLst>
  <p:notesMasterIdLst>
    <p:notesMasterId r:id="rId50"/>
  </p:notesMasterIdLst>
  <p:sldIdLst>
    <p:sldId id="256" r:id="rId9"/>
    <p:sldId id="257" r:id="rId10"/>
    <p:sldId id="285" r:id="rId11"/>
    <p:sldId id="284" r:id="rId12"/>
    <p:sldId id="259" r:id="rId13"/>
    <p:sldId id="260" r:id="rId14"/>
    <p:sldId id="303" r:id="rId15"/>
    <p:sldId id="261" r:id="rId16"/>
    <p:sldId id="288" r:id="rId17"/>
    <p:sldId id="287" r:id="rId18"/>
    <p:sldId id="289" r:id="rId19"/>
    <p:sldId id="286" r:id="rId20"/>
    <p:sldId id="263" r:id="rId21"/>
    <p:sldId id="264" r:id="rId22"/>
    <p:sldId id="265" r:id="rId23"/>
    <p:sldId id="272" r:id="rId24"/>
    <p:sldId id="266" r:id="rId25"/>
    <p:sldId id="267" r:id="rId26"/>
    <p:sldId id="268" r:id="rId27"/>
    <p:sldId id="269" r:id="rId28"/>
    <p:sldId id="275" r:id="rId29"/>
    <p:sldId id="276" r:id="rId30"/>
    <p:sldId id="297" r:id="rId31"/>
    <p:sldId id="298" r:id="rId32"/>
    <p:sldId id="299" r:id="rId33"/>
    <p:sldId id="300" r:id="rId34"/>
    <p:sldId id="304" r:id="rId35"/>
    <p:sldId id="305" r:id="rId36"/>
    <p:sldId id="306" r:id="rId37"/>
    <p:sldId id="307" r:id="rId38"/>
    <p:sldId id="308" r:id="rId39"/>
    <p:sldId id="309" r:id="rId40"/>
    <p:sldId id="310" r:id="rId41"/>
    <p:sldId id="311" r:id="rId42"/>
    <p:sldId id="312" r:id="rId43"/>
    <p:sldId id="313" r:id="rId44"/>
    <p:sldId id="314" r:id="rId45"/>
    <p:sldId id="296" r:id="rId46"/>
    <p:sldId id="290" r:id="rId47"/>
    <p:sldId id="301" r:id="rId48"/>
    <p:sldId id="271" r:id="rId49"/>
  </p:sldIdLst>
  <p:sldSz cx="19010313" cy="10693400"/>
  <p:notesSz cx="7556500" cy="106934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1" roundtripDataSignature="AMtx7mjn1jvKmrymfdZTSoBjtkdAZ6/ov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0C9CE97-CE7F-44E7-8DA9-80F1B485C8E6}">
  <a:tblStyle styleId="{20C9CE97-CE7F-44E7-8DA9-80F1B485C8E6}"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17" autoAdjust="0"/>
    <p:restoredTop sz="60261" autoAdjust="0"/>
  </p:normalViewPr>
  <p:slideViewPr>
    <p:cSldViewPr snapToGrid="0">
      <p:cViewPr varScale="1">
        <p:scale>
          <a:sx n="31" d="100"/>
          <a:sy n="31" d="100"/>
        </p:scale>
        <p:origin x="43" y="79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5.xml"/><Relationship Id="rId18" Type="http://schemas.openxmlformats.org/officeDocument/2006/relationships/slide" Target="slides/slide10.xml"/><Relationship Id="rId26" Type="http://schemas.openxmlformats.org/officeDocument/2006/relationships/slide" Target="slides/slide18.xml"/><Relationship Id="rId39" Type="http://schemas.openxmlformats.org/officeDocument/2006/relationships/slide" Target="slides/slide31.xml"/><Relationship Id="rId21" Type="http://schemas.openxmlformats.org/officeDocument/2006/relationships/slide" Target="slides/slide13.xml"/><Relationship Id="rId34" Type="http://schemas.openxmlformats.org/officeDocument/2006/relationships/slide" Target="slides/slide26.xml"/><Relationship Id="rId42" Type="http://schemas.openxmlformats.org/officeDocument/2006/relationships/slide" Target="slides/slide34.xml"/><Relationship Id="rId47" Type="http://schemas.openxmlformats.org/officeDocument/2006/relationships/slide" Target="slides/slide39.xml"/><Relationship Id="rId50" Type="http://schemas.openxmlformats.org/officeDocument/2006/relationships/notesMaster" Target="notesMasters/notesMaster1.xml"/><Relationship Id="rId55" Type="http://schemas.openxmlformats.org/officeDocument/2006/relationships/tableStyles" Target="tableStyles.xml"/><Relationship Id="rId7" Type="http://schemas.openxmlformats.org/officeDocument/2006/relationships/slideMaster" Target="slideMasters/slideMaster7.xml"/><Relationship Id="rId2" Type="http://schemas.openxmlformats.org/officeDocument/2006/relationships/slideMaster" Target="slideMasters/slideMaster2.xml"/><Relationship Id="rId16" Type="http://schemas.openxmlformats.org/officeDocument/2006/relationships/slide" Target="slides/slide8.xml"/><Relationship Id="rId29" Type="http://schemas.openxmlformats.org/officeDocument/2006/relationships/slide" Target="slides/slide21.xml"/><Relationship Id="rId11" Type="http://schemas.openxmlformats.org/officeDocument/2006/relationships/slide" Target="slides/slide3.xml"/><Relationship Id="rId24" Type="http://schemas.openxmlformats.org/officeDocument/2006/relationships/slide" Target="slides/slide16.xml"/><Relationship Id="rId32" Type="http://schemas.openxmlformats.org/officeDocument/2006/relationships/slide" Target="slides/slide24.xml"/><Relationship Id="rId37" Type="http://schemas.openxmlformats.org/officeDocument/2006/relationships/slide" Target="slides/slide29.xml"/><Relationship Id="rId40" Type="http://schemas.openxmlformats.org/officeDocument/2006/relationships/slide" Target="slides/slide32.xml"/><Relationship Id="rId45" Type="http://schemas.openxmlformats.org/officeDocument/2006/relationships/slide" Target="slides/slide37.xml"/><Relationship Id="rId53" Type="http://schemas.openxmlformats.org/officeDocument/2006/relationships/viewProps" Target="viewProps.xml"/><Relationship Id="rId5" Type="http://schemas.openxmlformats.org/officeDocument/2006/relationships/slideMaster" Target="slideMasters/slideMaster5.xml"/><Relationship Id="rId10" Type="http://schemas.openxmlformats.org/officeDocument/2006/relationships/slide" Target="slides/slide2.xml"/><Relationship Id="rId19" Type="http://schemas.openxmlformats.org/officeDocument/2006/relationships/slide" Target="slides/slide11.xml"/><Relationship Id="rId31" Type="http://schemas.openxmlformats.org/officeDocument/2006/relationships/slide" Target="slides/slide23.xml"/><Relationship Id="rId44" Type="http://schemas.openxmlformats.org/officeDocument/2006/relationships/slide" Target="slides/slide36.xml"/><Relationship Id="rId52"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slide" Target="slides/slide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slide" Target="slides/slide19.xml"/><Relationship Id="rId30" Type="http://schemas.openxmlformats.org/officeDocument/2006/relationships/slide" Target="slides/slide22.xml"/><Relationship Id="rId35" Type="http://schemas.openxmlformats.org/officeDocument/2006/relationships/slide" Target="slides/slide27.xml"/><Relationship Id="rId43" Type="http://schemas.openxmlformats.org/officeDocument/2006/relationships/slide" Target="slides/slide35.xml"/><Relationship Id="rId48" Type="http://schemas.openxmlformats.org/officeDocument/2006/relationships/slide" Target="slides/slide40.xml"/><Relationship Id="rId8" Type="http://schemas.openxmlformats.org/officeDocument/2006/relationships/slideMaster" Target="slideMasters/slideMaster8.xml"/><Relationship Id="rId51" Type="http://customschemas.google.com/relationships/presentationmetadata" Target="metadata"/><Relationship Id="rId3" Type="http://schemas.openxmlformats.org/officeDocument/2006/relationships/slideMaster" Target="slideMasters/slideMaster3.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openxmlformats.org/officeDocument/2006/relationships/slide" Target="slides/slide25.xml"/><Relationship Id="rId38" Type="http://schemas.openxmlformats.org/officeDocument/2006/relationships/slide" Target="slides/slide30.xml"/><Relationship Id="rId46" Type="http://schemas.openxmlformats.org/officeDocument/2006/relationships/slide" Target="slides/slide38.xml"/><Relationship Id="rId20" Type="http://schemas.openxmlformats.org/officeDocument/2006/relationships/slide" Target="slides/slide12.xml"/><Relationship Id="rId41" Type="http://schemas.openxmlformats.org/officeDocument/2006/relationships/slide" Target="slides/slide33.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slide" Target="slides/slide20.xml"/><Relationship Id="rId36" Type="http://schemas.openxmlformats.org/officeDocument/2006/relationships/slide" Target="slides/slide28.xml"/><Relationship Id="rId49"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216000" y="812520"/>
            <a:ext cx="7127280" cy="400896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756000" y="5078520"/>
            <a:ext cx="6047640" cy="4811040"/>
          </a:xfrm>
          <a:prstGeom prst="rect">
            <a:avLst/>
          </a:prstGeom>
          <a:noFill/>
          <a:ln>
            <a:noFill/>
          </a:ln>
        </p:spPr>
        <p:txBody>
          <a:bodyPr spcFirstLastPara="1" wrap="square" lIns="0" tIns="0" rIns="0" bIns="0" anchor="t" anchorCtr="0">
            <a:no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
        <p:nvSpPr>
          <p:cNvPr id="5" name="Google Shape;5;n"/>
          <p:cNvSpPr txBox="1">
            <a:spLocks noGrp="1"/>
          </p:cNvSpPr>
          <p:nvPr>
            <p:ph type="hdr" idx="3"/>
          </p:nvPr>
        </p:nvSpPr>
        <p:spPr>
          <a:xfrm>
            <a:off x="0" y="0"/>
            <a:ext cx="3280680" cy="534240"/>
          </a:xfrm>
          <a:prstGeom prst="rect">
            <a:avLst/>
          </a:prstGeom>
          <a:noFill/>
          <a:ln>
            <a:noFill/>
          </a:ln>
        </p:spPr>
        <p:txBody>
          <a:bodyPr spcFirstLastPara="1" wrap="square" lIns="0" tIns="0" rIns="0" bIns="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6" name="Google Shape;6;n"/>
          <p:cNvSpPr txBox="1">
            <a:spLocks noGrp="1"/>
          </p:cNvSpPr>
          <p:nvPr>
            <p:ph type="dt" idx="10"/>
          </p:nvPr>
        </p:nvSpPr>
        <p:spPr>
          <a:xfrm>
            <a:off x="4278960" y="0"/>
            <a:ext cx="3280680" cy="534240"/>
          </a:xfrm>
          <a:prstGeom prst="rect">
            <a:avLst/>
          </a:prstGeom>
          <a:noFill/>
          <a:ln>
            <a:noFill/>
          </a:ln>
        </p:spPr>
        <p:txBody>
          <a:bodyPr spcFirstLastPara="1" wrap="square" lIns="0" tIns="0" rIns="0" bIns="0" anchor="t" anchorCtr="0">
            <a:noAutofit/>
          </a:bodyPr>
          <a:lstStyle>
            <a:lvl1pPr marR="0" lvl="0" algn="r" rtl="0">
              <a:spcBef>
                <a:spcPts val="0"/>
              </a:spcBef>
              <a:spcAft>
                <a:spcPts val="0"/>
              </a:spcAft>
              <a:buSzPts val="1400"/>
              <a:buFont typeface="Times New Roman"/>
              <a:buNone/>
              <a:defRPr sz="1400" b="0" i="0" u="none" strike="noStrike" cap="none">
                <a:latin typeface="Times New Roman"/>
                <a:ea typeface="Times New Roman"/>
                <a:cs typeface="Times New Roman"/>
                <a:sym typeface="Times New Roman"/>
              </a:defRPr>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7" name="Google Shape;7;n"/>
          <p:cNvSpPr txBox="1">
            <a:spLocks noGrp="1"/>
          </p:cNvSpPr>
          <p:nvPr>
            <p:ph type="ftr" idx="11"/>
          </p:nvPr>
        </p:nvSpPr>
        <p:spPr>
          <a:xfrm>
            <a:off x="0" y="10157400"/>
            <a:ext cx="3280680" cy="534240"/>
          </a:xfrm>
          <a:prstGeom prst="rect">
            <a:avLst/>
          </a:prstGeom>
          <a:noFill/>
          <a:ln>
            <a:noFill/>
          </a:ln>
        </p:spPr>
        <p:txBody>
          <a:bodyPr spcFirstLastPara="1" wrap="square" lIns="0" tIns="0" rIns="0" bIns="0" anchor="b" anchorCtr="0">
            <a:noAutofit/>
          </a:bodyPr>
          <a:lstStyle>
            <a:lvl1pPr marR="0" lvl="0" algn="l" rtl="0">
              <a:spcBef>
                <a:spcPts val="0"/>
              </a:spcBef>
              <a:spcAft>
                <a:spcPts val="0"/>
              </a:spcAft>
              <a:buSzPts val="1400"/>
              <a:buNone/>
              <a:defRPr sz="1400" b="0" i="0" u="none" strike="noStrike" cap="none">
                <a:latin typeface="Times New Roman"/>
                <a:ea typeface="Times New Roman"/>
                <a:cs typeface="Times New Roman"/>
                <a:sym typeface="Times New Roman"/>
              </a:defRPr>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8" name="Google Shape;8;n"/>
          <p:cNvSpPr txBox="1">
            <a:spLocks noGrp="1"/>
          </p:cNvSpPr>
          <p:nvPr>
            <p:ph type="sldNum" idx="12"/>
          </p:nvPr>
        </p:nvSpPr>
        <p:spPr>
          <a:xfrm>
            <a:off x="4278960" y="10157400"/>
            <a:ext cx="3280680" cy="534240"/>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SzPts val="1400"/>
              <a:buFont typeface="Times New Roman"/>
              <a:buNone/>
            </a:pPr>
            <a:fld id="{00000000-1234-1234-1234-123412341234}" type="slidenum">
              <a:rPr lang="en-US" sz="1400" b="0" i="0" u="none" strike="noStrike" cap="none">
                <a:latin typeface="Times New Roman"/>
                <a:ea typeface="Times New Roman"/>
                <a:cs typeface="Times New Roman"/>
                <a:sym typeface="Times New Roman"/>
              </a:rPr>
              <a:t>‹#›</a:t>
            </a:fld>
            <a:endParaRPr sz="1400" b="0" i="0" u="none" strike="noStrike" cap="none">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7"/>
        <p:cNvGrpSpPr/>
        <p:nvPr/>
      </p:nvGrpSpPr>
      <p:grpSpPr>
        <a:xfrm>
          <a:off x="0" y="0"/>
          <a:ext cx="0" cy="0"/>
          <a:chOff x="0" y="0"/>
          <a:chExt cx="0" cy="0"/>
        </a:xfrm>
      </p:grpSpPr>
      <p:sp>
        <p:nvSpPr>
          <p:cNvPr id="568" name="Google Shape;568;p1:notes"/>
          <p:cNvSpPr>
            <a:spLocks noGrp="1" noRot="1" noChangeAspect="1"/>
          </p:cNvSpPr>
          <p:nvPr>
            <p:ph type="sldImg" idx="2"/>
          </p:nvPr>
        </p:nvSpPr>
        <p:spPr>
          <a:xfrm>
            <a:off x="571500" y="1336675"/>
            <a:ext cx="6413500" cy="36068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69" name="Google Shape;569;p1:notes"/>
          <p:cNvSpPr txBox="1">
            <a:spLocks noGrp="1"/>
          </p:cNvSpPr>
          <p:nvPr>
            <p:ph type="body" idx="1"/>
          </p:nvPr>
        </p:nvSpPr>
        <p:spPr>
          <a:xfrm>
            <a:off x="755640" y="5146560"/>
            <a:ext cx="6044400" cy="420948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endParaRPr sz="2000" b="0" strike="noStrike" dirty="0">
              <a:latin typeface="Arial"/>
              <a:ea typeface="Arial"/>
              <a:cs typeface="Arial"/>
              <a:sym typeface="Arial"/>
            </a:endParaRPr>
          </a:p>
        </p:txBody>
      </p:sp>
      <p:sp>
        <p:nvSpPr>
          <p:cNvPr id="570" name="Google Shape;570;p1:notes"/>
          <p:cNvSpPr txBox="1">
            <a:spLocks noGrp="1"/>
          </p:cNvSpPr>
          <p:nvPr>
            <p:ph type="sldNum" idx="12"/>
          </p:nvPr>
        </p:nvSpPr>
        <p:spPr>
          <a:xfrm>
            <a:off x="4280040" y="10156680"/>
            <a:ext cx="3274200" cy="53568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SzPts val="1200"/>
              <a:buFont typeface="Times New Roman"/>
              <a:buNone/>
            </a:pPr>
            <a:fld id="{00000000-1234-1234-1234-123412341234}" type="slidenum">
              <a:rPr lang="en-US" sz="1200" b="0" i="0" u="none" strike="noStrike" cap="none">
                <a:latin typeface="Times New Roman"/>
                <a:ea typeface="Times New Roman"/>
                <a:cs typeface="Times New Roman"/>
                <a:sym typeface="Times New Roman"/>
              </a:rPr>
              <a:t>1</a:t>
            </a:fld>
            <a:endParaRPr sz="1200" b="0" i="0" u="none" strike="noStrike" cap="none">
              <a:latin typeface="Times New Roman"/>
              <a:ea typeface="Times New Roman"/>
              <a:cs typeface="Times New Roman"/>
              <a:sym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6"/>
        <p:cNvGrpSpPr/>
        <p:nvPr/>
      </p:nvGrpSpPr>
      <p:grpSpPr>
        <a:xfrm>
          <a:off x="0" y="0"/>
          <a:ext cx="0" cy="0"/>
          <a:chOff x="0" y="0"/>
          <a:chExt cx="0" cy="0"/>
        </a:xfrm>
      </p:grpSpPr>
      <p:sp>
        <p:nvSpPr>
          <p:cNvPr id="587" name="Google Shape;587;p2: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IN" dirty="0"/>
              <a:t>Intro</a:t>
            </a:r>
          </a:p>
          <a:p>
            <a:pPr marL="0" lvl="0" indent="0" algn="l" rtl="0">
              <a:spcBef>
                <a:spcPts val="0"/>
              </a:spcBef>
              <a:spcAft>
                <a:spcPts val="0"/>
              </a:spcAft>
              <a:buNone/>
            </a:pPr>
            <a:r>
              <a:rPr lang="en-IN" dirty="0"/>
              <a:t>Key features </a:t>
            </a:r>
          </a:p>
          <a:p>
            <a:pPr marL="0" lvl="0" indent="0" algn="l" rtl="0">
              <a:spcBef>
                <a:spcPts val="0"/>
              </a:spcBef>
              <a:spcAft>
                <a:spcPts val="0"/>
              </a:spcAft>
              <a:buNone/>
            </a:pPr>
            <a:r>
              <a:rPr lang="en-IN" dirty="0"/>
              <a:t>Aims – reduce food waste and contribute to local economies since it supply on demand model</a:t>
            </a:r>
            <a:endParaRPr dirty="0"/>
          </a:p>
        </p:txBody>
      </p:sp>
      <p:sp>
        <p:nvSpPr>
          <p:cNvPr id="588" name="Google Shape;588;p2: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9"/>
        <p:cNvGrpSpPr/>
        <p:nvPr/>
      </p:nvGrpSpPr>
      <p:grpSpPr>
        <a:xfrm>
          <a:off x="0" y="0"/>
          <a:ext cx="0" cy="0"/>
          <a:chOff x="0" y="0"/>
          <a:chExt cx="0" cy="0"/>
        </a:xfrm>
      </p:grpSpPr>
      <p:sp>
        <p:nvSpPr>
          <p:cNvPr id="600" name="Google Shape;600;p3: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IN" dirty="0"/>
              <a:t>limited connectivity</a:t>
            </a:r>
          </a:p>
          <a:p>
            <a:pPr marL="0" lvl="0" indent="0" algn="l" rtl="0">
              <a:spcBef>
                <a:spcPts val="0"/>
              </a:spcBef>
              <a:spcAft>
                <a:spcPts val="0"/>
              </a:spcAft>
              <a:buNone/>
            </a:pPr>
            <a:r>
              <a:rPr lang="en-IN" dirty="0"/>
              <a:t>Underutilized culinary talents</a:t>
            </a:r>
          </a:p>
          <a:p>
            <a:pPr marL="0" lvl="0" indent="0" algn="l" rtl="0">
              <a:spcBef>
                <a:spcPts val="0"/>
              </a:spcBef>
              <a:spcAft>
                <a:spcPts val="0"/>
              </a:spcAft>
              <a:buNone/>
            </a:pPr>
            <a:r>
              <a:rPr lang="en-IN" dirty="0"/>
              <a:t>Food waste in traditional supply chain</a:t>
            </a:r>
            <a:endParaRPr dirty="0"/>
          </a:p>
        </p:txBody>
      </p:sp>
      <p:sp>
        <p:nvSpPr>
          <p:cNvPr id="601" name="Google Shape;601;p3: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348363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7488" y="812800"/>
            <a:ext cx="7124700" cy="4008438"/>
          </a:xfrm>
        </p:spPr>
      </p:sp>
      <p:sp>
        <p:nvSpPr>
          <p:cNvPr id="3" name="Notes Placeholder 2"/>
          <p:cNvSpPr>
            <a:spLocks noGrp="1"/>
          </p:cNvSpPr>
          <p:nvPr>
            <p:ph type="body" idx="1"/>
          </p:nvPr>
        </p:nvSpPr>
        <p:spPr/>
        <p:txBody>
          <a:bodyPr/>
          <a:lstStyle/>
          <a:p>
            <a:r>
              <a:rPr lang="en-IN" dirty="0"/>
              <a:t>Digital bridge and connectivity</a:t>
            </a:r>
          </a:p>
          <a:p>
            <a:r>
              <a:rPr lang="en-IN" dirty="0"/>
              <a:t>Supply on demand model</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SzPts val="1400"/>
              <a:buFont typeface="Times New Roman"/>
              <a:buNone/>
            </a:pPr>
            <a:fld id="{00000000-1234-1234-1234-123412341234}" type="slidenum">
              <a:rPr lang="en-US" sz="1400" b="0" i="0" u="none" strike="noStrike" cap="none" smtClean="0">
                <a:latin typeface="Times New Roman"/>
                <a:ea typeface="Times New Roman"/>
                <a:cs typeface="Times New Roman"/>
                <a:sym typeface="Times New Roman"/>
              </a:rPr>
              <a:t>4</a:t>
            </a:fld>
            <a:endParaRPr lang="en-US" sz="1400" b="0" i="0" u="none" strike="noStrike" cap="none">
              <a:latin typeface="Times New Roman"/>
              <a:ea typeface="Times New Roman"/>
              <a:cs typeface="Times New Roman"/>
              <a:sym typeface="Times New Roman"/>
            </a:endParaRPr>
          </a:p>
        </p:txBody>
      </p:sp>
    </p:spTree>
    <p:extLst>
      <p:ext uri="{BB962C8B-B14F-4D97-AF65-F5344CB8AC3E}">
        <p14:creationId xmlns:p14="http://schemas.microsoft.com/office/powerpoint/2010/main" val="30921920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2"/>
        <p:cNvGrpSpPr/>
        <p:nvPr/>
      </p:nvGrpSpPr>
      <p:grpSpPr>
        <a:xfrm>
          <a:off x="0" y="0"/>
          <a:ext cx="0" cy="0"/>
          <a:chOff x="0" y="0"/>
          <a:chExt cx="0" cy="0"/>
        </a:xfrm>
      </p:grpSpPr>
      <p:sp>
        <p:nvSpPr>
          <p:cNvPr id="613" name="Google Shape;613;p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14" name="Google Shape;614;p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5"/>
        <p:cNvGrpSpPr/>
        <p:nvPr/>
      </p:nvGrpSpPr>
      <p:grpSpPr>
        <a:xfrm>
          <a:off x="0" y="0"/>
          <a:ext cx="0" cy="0"/>
          <a:chOff x="0" y="0"/>
          <a:chExt cx="0" cy="0"/>
        </a:xfrm>
      </p:grpSpPr>
      <p:sp>
        <p:nvSpPr>
          <p:cNvPr id="626" name="Google Shape;626;p5: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IN" dirty="0"/>
              <a:t>Ecosystem and promoting local culinary talents</a:t>
            </a:r>
          </a:p>
          <a:p>
            <a:pPr marL="0" lvl="0" indent="0" algn="l" rtl="0">
              <a:spcBef>
                <a:spcPts val="0"/>
              </a:spcBef>
              <a:spcAft>
                <a:spcPts val="0"/>
              </a:spcAft>
              <a:buNone/>
            </a:pPr>
            <a:r>
              <a:rPr lang="en-IN" dirty="0"/>
              <a:t>And address critical issues</a:t>
            </a:r>
            <a:endParaRPr dirty="0"/>
          </a:p>
        </p:txBody>
      </p:sp>
      <p:sp>
        <p:nvSpPr>
          <p:cNvPr id="627" name="Google Shape;627;p5: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5"/>
        <p:cNvGrpSpPr/>
        <p:nvPr/>
      </p:nvGrpSpPr>
      <p:grpSpPr>
        <a:xfrm>
          <a:off x="0" y="0"/>
          <a:ext cx="0" cy="0"/>
          <a:chOff x="0" y="0"/>
          <a:chExt cx="0" cy="0"/>
        </a:xfrm>
      </p:grpSpPr>
      <p:sp>
        <p:nvSpPr>
          <p:cNvPr id="626" name="Google Shape;626;p5: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IN" dirty="0"/>
              <a:t>survey</a:t>
            </a:r>
            <a:endParaRPr dirty="0"/>
          </a:p>
        </p:txBody>
      </p:sp>
      <p:sp>
        <p:nvSpPr>
          <p:cNvPr id="627" name="Google Shape;627;p5: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356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p6: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IN" dirty="0"/>
              <a:t>Food delivery</a:t>
            </a:r>
          </a:p>
          <a:p>
            <a:pPr marL="0" lvl="0" indent="0" algn="l" rtl="0">
              <a:spcBef>
                <a:spcPts val="0"/>
              </a:spcBef>
              <a:spcAft>
                <a:spcPts val="0"/>
              </a:spcAft>
              <a:buNone/>
            </a:pPr>
            <a:r>
              <a:rPr lang="en-IN" dirty="0"/>
              <a:t>Need of nutritious and healthy food options</a:t>
            </a:r>
          </a:p>
          <a:p>
            <a:pPr marL="0" lvl="0" indent="0" algn="l" rtl="0">
              <a:spcBef>
                <a:spcPts val="0"/>
              </a:spcBef>
              <a:spcAft>
                <a:spcPts val="0"/>
              </a:spcAft>
              <a:buNone/>
            </a:pPr>
            <a:r>
              <a:rPr lang="en-IN" dirty="0"/>
              <a:t>Purpose – web service that aims to offer quality food at reasonable price</a:t>
            </a:r>
          </a:p>
          <a:p>
            <a:pPr marL="0" lvl="0" indent="0" algn="l" rtl="0">
              <a:spcBef>
                <a:spcPts val="0"/>
              </a:spcBef>
              <a:spcAft>
                <a:spcPts val="0"/>
              </a:spcAft>
              <a:buNone/>
            </a:pPr>
            <a:r>
              <a:rPr lang="en-IN" dirty="0"/>
              <a:t>System include – database </a:t>
            </a:r>
            <a:r>
              <a:rPr lang="en-IN" dirty="0" err="1"/>
              <a:t>design,user</a:t>
            </a:r>
            <a:r>
              <a:rPr lang="en-IN" dirty="0"/>
              <a:t> interface, payment </a:t>
            </a:r>
            <a:r>
              <a:rPr lang="en-IN" dirty="0" err="1"/>
              <a:t>methods,order</a:t>
            </a:r>
            <a:r>
              <a:rPr lang="en-IN" dirty="0"/>
              <a:t> </a:t>
            </a:r>
            <a:r>
              <a:rPr lang="en-IN" dirty="0" err="1"/>
              <a:t>tracking,process</a:t>
            </a:r>
            <a:r>
              <a:rPr lang="en-IN" dirty="0"/>
              <a:t> diagram</a:t>
            </a:r>
          </a:p>
        </p:txBody>
      </p:sp>
      <p:sp>
        <p:nvSpPr>
          <p:cNvPr id="640" name="Google Shape;640;p6: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p6: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IN" dirty="0"/>
              <a:t>Food ordering website using </a:t>
            </a:r>
            <a:r>
              <a:rPr lang="en-IN" dirty="0" err="1"/>
              <a:t>mern</a:t>
            </a:r>
            <a:r>
              <a:rPr lang="en-IN" dirty="0"/>
              <a:t> stack</a:t>
            </a:r>
          </a:p>
          <a:p>
            <a:pPr marL="0" lvl="0" indent="0" algn="l" rtl="0">
              <a:spcBef>
                <a:spcPts val="0"/>
              </a:spcBef>
              <a:spcAft>
                <a:spcPts val="0"/>
              </a:spcAft>
              <a:buNone/>
            </a:pPr>
            <a:r>
              <a:rPr lang="en-IN" dirty="0"/>
              <a:t>Digital platform for home makers and restaurant owners</a:t>
            </a:r>
          </a:p>
          <a:p>
            <a:pPr marL="0" lvl="0" indent="0" algn="l" rtl="0">
              <a:spcBef>
                <a:spcPts val="0"/>
              </a:spcBef>
              <a:spcAft>
                <a:spcPts val="0"/>
              </a:spcAft>
              <a:buNone/>
            </a:pPr>
            <a:r>
              <a:rPr lang="en-IN" dirty="0"/>
              <a:t>Design and implementation of website</a:t>
            </a:r>
          </a:p>
          <a:p>
            <a:pPr marL="0" lvl="0" indent="0" algn="l" rtl="0">
              <a:spcBef>
                <a:spcPts val="0"/>
              </a:spcBef>
              <a:spcAft>
                <a:spcPts val="0"/>
              </a:spcAft>
              <a:buNone/>
            </a:pPr>
            <a:r>
              <a:rPr lang="en-IN" dirty="0"/>
              <a:t>Customer payment </a:t>
            </a:r>
            <a:r>
              <a:rPr lang="en-IN" dirty="0" err="1"/>
              <a:t>gateway,order</a:t>
            </a:r>
            <a:r>
              <a:rPr lang="en-IN" dirty="0"/>
              <a:t> management and generating </a:t>
            </a:r>
            <a:r>
              <a:rPr lang="en-IN" dirty="0" err="1"/>
              <a:t>biilss</a:t>
            </a:r>
            <a:r>
              <a:rPr lang="en-IN" dirty="0"/>
              <a:t> and invoice</a:t>
            </a:r>
          </a:p>
        </p:txBody>
      </p:sp>
      <p:sp>
        <p:nvSpPr>
          <p:cNvPr id="640" name="Google Shape;640;p6: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80970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p6: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dirty="0"/>
          </a:p>
        </p:txBody>
      </p:sp>
      <p:sp>
        <p:nvSpPr>
          <p:cNvPr id="640" name="Google Shape;640;p6: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807256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p6: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40" name="Google Shape;640;p6: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55971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p6: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40" name="Google Shape;640;p6: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3683754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Google Shape;665;p8: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66" name="Google Shape;666;p8: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9"/>
        <p:cNvGrpSpPr/>
        <p:nvPr/>
      </p:nvGrpSpPr>
      <p:grpSpPr>
        <a:xfrm>
          <a:off x="0" y="0"/>
          <a:ext cx="0" cy="0"/>
          <a:chOff x="0" y="0"/>
          <a:chExt cx="0" cy="0"/>
        </a:xfrm>
      </p:grpSpPr>
      <p:sp>
        <p:nvSpPr>
          <p:cNvPr id="680" name="Google Shape;680;p9: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81" name="Google Shape;681;p9: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4"/>
        <p:cNvGrpSpPr/>
        <p:nvPr/>
      </p:nvGrpSpPr>
      <p:grpSpPr>
        <a:xfrm>
          <a:off x="0" y="0"/>
          <a:ext cx="0" cy="0"/>
          <a:chOff x="0" y="0"/>
          <a:chExt cx="0" cy="0"/>
        </a:xfrm>
      </p:grpSpPr>
      <p:sp>
        <p:nvSpPr>
          <p:cNvPr id="695" name="Google Shape;695;p10: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96" name="Google Shape;696;p10: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4"/>
        <p:cNvGrpSpPr/>
        <p:nvPr/>
      </p:nvGrpSpPr>
      <p:grpSpPr>
        <a:xfrm>
          <a:off x="0" y="0"/>
          <a:ext cx="0" cy="0"/>
          <a:chOff x="0" y="0"/>
          <a:chExt cx="0" cy="0"/>
        </a:xfrm>
      </p:grpSpPr>
      <p:sp>
        <p:nvSpPr>
          <p:cNvPr id="695" name="Google Shape;695;p10: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96" name="Google Shape;696;p10: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8863460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
        <p:cNvGrpSpPr/>
        <p:nvPr/>
      </p:nvGrpSpPr>
      <p:grpSpPr>
        <a:xfrm>
          <a:off x="0" y="0"/>
          <a:ext cx="0" cy="0"/>
          <a:chOff x="0" y="0"/>
          <a:chExt cx="0" cy="0"/>
        </a:xfrm>
      </p:grpSpPr>
      <p:sp>
        <p:nvSpPr>
          <p:cNvPr id="710" name="Google Shape;710;p11: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11" name="Google Shape;711;p11: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3"/>
        <p:cNvGrpSpPr/>
        <p:nvPr/>
      </p:nvGrpSpPr>
      <p:grpSpPr>
        <a:xfrm>
          <a:off x="0" y="0"/>
          <a:ext cx="0" cy="0"/>
          <a:chOff x="0" y="0"/>
          <a:chExt cx="0" cy="0"/>
        </a:xfrm>
      </p:grpSpPr>
      <p:sp>
        <p:nvSpPr>
          <p:cNvPr id="724" name="Google Shape;724;p12: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25" name="Google Shape;725;p12: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8"/>
        <p:cNvGrpSpPr/>
        <p:nvPr/>
      </p:nvGrpSpPr>
      <p:grpSpPr>
        <a:xfrm>
          <a:off x="0" y="0"/>
          <a:ext cx="0" cy="0"/>
          <a:chOff x="0" y="0"/>
          <a:chExt cx="0" cy="0"/>
        </a:xfrm>
      </p:grpSpPr>
      <p:sp>
        <p:nvSpPr>
          <p:cNvPr id="739" name="Google Shape;739;p13: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40" name="Google Shape;740;p13: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812970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980308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786606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256240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200842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55492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052692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7134069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6367860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1685611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789565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553684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922647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1487676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0106654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6660676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726763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4906186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9796280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3116175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1"/>
        <p:cNvGrpSpPr/>
        <p:nvPr/>
      </p:nvGrpSpPr>
      <p:grpSpPr>
        <a:xfrm>
          <a:off x="0" y="0"/>
          <a:ext cx="0" cy="0"/>
          <a:chOff x="0" y="0"/>
          <a:chExt cx="0" cy="0"/>
        </a:xfrm>
      </p:grpSpPr>
      <p:sp>
        <p:nvSpPr>
          <p:cNvPr id="782" name="Google Shape;782;p16: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83" name="Google Shape;783;p16: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23"/>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24"/>
        <p:cNvGrpSpPr/>
        <p:nvPr/>
      </p:nvGrpSpPr>
      <p:grpSpPr>
        <a:xfrm>
          <a:off x="0" y="0"/>
          <a:ext cx="0" cy="0"/>
          <a:chOff x="0" y="0"/>
          <a:chExt cx="0" cy="0"/>
        </a:xfrm>
      </p:grpSpPr>
      <p:sp>
        <p:nvSpPr>
          <p:cNvPr id="25" name="Google Shape;25;p3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5"/>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27"/>
        <p:cNvGrpSpPr/>
        <p:nvPr/>
      </p:nvGrpSpPr>
      <p:grpSpPr>
        <a:xfrm>
          <a:off x="0" y="0"/>
          <a:ext cx="0" cy="0"/>
          <a:chOff x="0" y="0"/>
          <a:chExt cx="0" cy="0"/>
        </a:xfrm>
      </p:grpSpPr>
      <p:sp>
        <p:nvSpPr>
          <p:cNvPr id="28" name="Google Shape;28;p3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36"/>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30"/>
        <p:cNvGrpSpPr/>
        <p:nvPr/>
      </p:nvGrpSpPr>
      <p:grpSpPr>
        <a:xfrm>
          <a:off x="0" y="0"/>
          <a:ext cx="0" cy="0"/>
          <a:chOff x="0" y="0"/>
          <a:chExt cx="0" cy="0"/>
        </a:xfrm>
      </p:grpSpPr>
      <p:sp>
        <p:nvSpPr>
          <p:cNvPr id="31" name="Google Shape;31;p3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37"/>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3" name="Google Shape;33;p37"/>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
        <p:cNvGrpSpPr/>
        <p:nvPr/>
      </p:nvGrpSpPr>
      <p:grpSpPr>
        <a:xfrm>
          <a:off x="0" y="0"/>
          <a:ext cx="0" cy="0"/>
          <a:chOff x="0" y="0"/>
          <a:chExt cx="0" cy="0"/>
        </a:xfrm>
      </p:grpSpPr>
      <p:sp>
        <p:nvSpPr>
          <p:cNvPr id="35" name="Google Shape;35;p3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36"/>
        <p:cNvGrpSpPr/>
        <p:nvPr/>
      </p:nvGrpSpPr>
      <p:grpSpPr>
        <a:xfrm>
          <a:off x="0" y="0"/>
          <a:ext cx="0" cy="0"/>
          <a:chOff x="0" y="0"/>
          <a:chExt cx="0" cy="0"/>
        </a:xfrm>
      </p:grpSpPr>
      <p:sp>
        <p:nvSpPr>
          <p:cNvPr id="37" name="Google Shape;37;p39"/>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38"/>
        <p:cNvGrpSpPr/>
        <p:nvPr/>
      </p:nvGrpSpPr>
      <p:grpSpPr>
        <a:xfrm>
          <a:off x="0" y="0"/>
          <a:ext cx="0" cy="0"/>
          <a:chOff x="0" y="0"/>
          <a:chExt cx="0" cy="0"/>
        </a:xfrm>
      </p:grpSpPr>
      <p:sp>
        <p:nvSpPr>
          <p:cNvPr id="39" name="Google Shape;39;p4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 name="Google Shape;40;p40"/>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1" name="Google Shape;41;p40"/>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2" name="Google Shape;42;p40"/>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43"/>
        <p:cNvGrpSpPr/>
        <p:nvPr/>
      </p:nvGrpSpPr>
      <p:grpSpPr>
        <a:xfrm>
          <a:off x="0" y="0"/>
          <a:ext cx="0" cy="0"/>
          <a:chOff x="0" y="0"/>
          <a:chExt cx="0" cy="0"/>
        </a:xfrm>
      </p:grpSpPr>
      <p:sp>
        <p:nvSpPr>
          <p:cNvPr id="44" name="Google Shape;44;p4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5" name="Google Shape;45;p41"/>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6" name="Google Shape;46;p41"/>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7" name="Google Shape;47;p41"/>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48"/>
        <p:cNvGrpSpPr/>
        <p:nvPr/>
      </p:nvGrpSpPr>
      <p:grpSpPr>
        <a:xfrm>
          <a:off x="0" y="0"/>
          <a:ext cx="0" cy="0"/>
          <a:chOff x="0" y="0"/>
          <a:chExt cx="0" cy="0"/>
        </a:xfrm>
      </p:grpSpPr>
      <p:sp>
        <p:nvSpPr>
          <p:cNvPr id="49" name="Google Shape;49;p4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0" name="Google Shape;50;p42"/>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1" name="Google Shape;51;p42"/>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2" name="Google Shape;52;p42"/>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53"/>
        <p:cNvGrpSpPr/>
        <p:nvPr/>
      </p:nvGrpSpPr>
      <p:grpSpPr>
        <a:xfrm>
          <a:off x="0" y="0"/>
          <a:ext cx="0" cy="0"/>
          <a:chOff x="0" y="0"/>
          <a:chExt cx="0" cy="0"/>
        </a:xfrm>
      </p:grpSpPr>
      <p:sp>
        <p:nvSpPr>
          <p:cNvPr id="54" name="Google Shape;54;p4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43"/>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6" name="Google Shape;56;p43"/>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57"/>
        <p:cNvGrpSpPr/>
        <p:nvPr/>
      </p:nvGrpSpPr>
      <p:grpSpPr>
        <a:xfrm>
          <a:off x="0" y="0"/>
          <a:ext cx="0" cy="0"/>
          <a:chOff x="0" y="0"/>
          <a:chExt cx="0" cy="0"/>
        </a:xfrm>
      </p:grpSpPr>
      <p:sp>
        <p:nvSpPr>
          <p:cNvPr id="58" name="Google Shape;58;p4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44"/>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0" name="Google Shape;60;p44"/>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1" name="Google Shape;61;p44"/>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2" name="Google Shape;62;p44"/>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63"/>
        <p:cNvGrpSpPr/>
        <p:nvPr/>
      </p:nvGrpSpPr>
      <p:grpSpPr>
        <a:xfrm>
          <a:off x="0" y="0"/>
          <a:ext cx="0" cy="0"/>
          <a:chOff x="0" y="0"/>
          <a:chExt cx="0" cy="0"/>
        </a:xfrm>
      </p:grpSpPr>
      <p:sp>
        <p:nvSpPr>
          <p:cNvPr id="64" name="Google Shape;64;p4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5" name="Google Shape;65;p45"/>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6" name="Google Shape;66;p45"/>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7" name="Google Shape;67;p45"/>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8" name="Google Shape;68;p45"/>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9" name="Google Shape;69;p45"/>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70" name="Google Shape;70;p45"/>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85"/>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86"/>
        <p:cNvGrpSpPr/>
        <p:nvPr/>
      </p:nvGrpSpPr>
      <p:grpSpPr>
        <a:xfrm>
          <a:off x="0" y="0"/>
          <a:ext cx="0" cy="0"/>
          <a:chOff x="0" y="0"/>
          <a:chExt cx="0" cy="0"/>
        </a:xfrm>
      </p:grpSpPr>
      <p:sp>
        <p:nvSpPr>
          <p:cNvPr id="87" name="Google Shape;87;p4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46"/>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89"/>
        <p:cNvGrpSpPr/>
        <p:nvPr/>
      </p:nvGrpSpPr>
      <p:grpSpPr>
        <a:xfrm>
          <a:off x="0" y="0"/>
          <a:ext cx="0" cy="0"/>
          <a:chOff x="0" y="0"/>
          <a:chExt cx="0" cy="0"/>
        </a:xfrm>
      </p:grpSpPr>
      <p:sp>
        <p:nvSpPr>
          <p:cNvPr id="90" name="Google Shape;90;p4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47"/>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92"/>
        <p:cNvGrpSpPr/>
        <p:nvPr/>
      </p:nvGrpSpPr>
      <p:grpSpPr>
        <a:xfrm>
          <a:off x="0" y="0"/>
          <a:ext cx="0" cy="0"/>
          <a:chOff x="0" y="0"/>
          <a:chExt cx="0" cy="0"/>
        </a:xfrm>
      </p:grpSpPr>
      <p:sp>
        <p:nvSpPr>
          <p:cNvPr id="93" name="Google Shape;93;p4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48"/>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95" name="Google Shape;95;p48"/>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96"/>
        <p:cNvGrpSpPr/>
        <p:nvPr/>
      </p:nvGrpSpPr>
      <p:grpSpPr>
        <a:xfrm>
          <a:off x="0" y="0"/>
          <a:ext cx="0" cy="0"/>
          <a:chOff x="0" y="0"/>
          <a:chExt cx="0" cy="0"/>
        </a:xfrm>
      </p:grpSpPr>
      <p:sp>
        <p:nvSpPr>
          <p:cNvPr id="97" name="Google Shape;97;p4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98"/>
        <p:cNvGrpSpPr/>
        <p:nvPr/>
      </p:nvGrpSpPr>
      <p:grpSpPr>
        <a:xfrm>
          <a:off x="0" y="0"/>
          <a:ext cx="0" cy="0"/>
          <a:chOff x="0" y="0"/>
          <a:chExt cx="0" cy="0"/>
        </a:xfrm>
      </p:grpSpPr>
      <p:sp>
        <p:nvSpPr>
          <p:cNvPr id="99" name="Google Shape;99;p50"/>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100"/>
        <p:cNvGrpSpPr/>
        <p:nvPr/>
      </p:nvGrpSpPr>
      <p:grpSpPr>
        <a:xfrm>
          <a:off x="0" y="0"/>
          <a:ext cx="0" cy="0"/>
          <a:chOff x="0" y="0"/>
          <a:chExt cx="0" cy="0"/>
        </a:xfrm>
      </p:grpSpPr>
      <p:sp>
        <p:nvSpPr>
          <p:cNvPr id="101" name="Google Shape;101;p5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2" name="Google Shape;102;p51"/>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03" name="Google Shape;103;p51"/>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04" name="Google Shape;104;p51"/>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105"/>
        <p:cNvGrpSpPr/>
        <p:nvPr/>
      </p:nvGrpSpPr>
      <p:grpSpPr>
        <a:xfrm>
          <a:off x="0" y="0"/>
          <a:ext cx="0" cy="0"/>
          <a:chOff x="0" y="0"/>
          <a:chExt cx="0" cy="0"/>
        </a:xfrm>
      </p:grpSpPr>
      <p:sp>
        <p:nvSpPr>
          <p:cNvPr id="106" name="Google Shape;106;p5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7" name="Google Shape;107;p52"/>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08" name="Google Shape;108;p52"/>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09" name="Google Shape;109;p52"/>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110"/>
        <p:cNvGrpSpPr/>
        <p:nvPr/>
      </p:nvGrpSpPr>
      <p:grpSpPr>
        <a:xfrm>
          <a:off x="0" y="0"/>
          <a:ext cx="0" cy="0"/>
          <a:chOff x="0" y="0"/>
          <a:chExt cx="0" cy="0"/>
        </a:xfrm>
      </p:grpSpPr>
      <p:sp>
        <p:nvSpPr>
          <p:cNvPr id="111" name="Google Shape;111;p5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2" name="Google Shape;112;p53"/>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13" name="Google Shape;113;p53"/>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14" name="Google Shape;114;p53"/>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115"/>
        <p:cNvGrpSpPr/>
        <p:nvPr/>
      </p:nvGrpSpPr>
      <p:grpSpPr>
        <a:xfrm>
          <a:off x="0" y="0"/>
          <a:ext cx="0" cy="0"/>
          <a:chOff x="0" y="0"/>
          <a:chExt cx="0" cy="0"/>
        </a:xfrm>
      </p:grpSpPr>
      <p:sp>
        <p:nvSpPr>
          <p:cNvPr id="116" name="Google Shape;116;p5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7" name="Google Shape;117;p54"/>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18" name="Google Shape;118;p54"/>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119"/>
        <p:cNvGrpSpPr/>
        <p:nvPr/>
      </p:nvGrpSpPr>
      <p:grpSpPr>
        <a:xfrm>
          <a:off x="0" y="0"/>
          <a:ext cx="0" cy="0"/>
          <a:chOff x="0" y="0"/>
          <a:chExt cx="0" cy="0"/>
        </a:xfrm>
      </p:grpSpPr>
      <p:sp>
        <p:nvSpPr>
          <p:cNvPr id="120" name="Google Shape;120;p5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1" name="Google Shape;121;p55"/>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22" name="Google Shape;122;p55"/>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23" name="Google Shape;123;p55"/>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24" name="Google Shape;124;p55"/>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125"/>
        <p:cNvGrpSpPr/>
        <p:nvPr/>
      </p:nvGrpSpPr>
      <p:grpSpPr>
        <a:xfrm>
          <a:off x="0" y="0"/>
          <a:ext cx="0" cy="0"/>
          <a:chOff x="0" y="0"/>
          <a:chExt cx="0" cy="0"/>
        </a:xfrm>
      </p:grpSpPr>
      <p:sp>
        <p:nvSpPr>
          <p:cNvPr id="126" name="Google Shape;126;p5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7" name="Google Shape;127;p56"/>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28" name="Google Shape;128;p56"/>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29" name="Google Shape;129;p56"/>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30" name="Google Shape;130;p56"/>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31" name="Google Shape;131;p56"/>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32" name="Google Shape;132;p56"/>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47"/>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148"/>
        <p:cNvGrpSpPr/>
        <p:nvPr/>
      </p:nvGrpSpPr>
      <p:grpSpPr>
        <a:xfrm>
          <a:off x="0" y="0"/>
          <a:ext cx="0" cy="0"/>
          <a:chOff x="0" y="0"/>
          <a:chExt cx="0" cy="0"/>
        </a:xfrm>
      </p:grpSpPr>
      <p:sp>
        <p:nvSpPr>
          <p:cNvPr id="149" name="Google Shape;149;p5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0" name="Google Shape;150;p57"/>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151"/>
        <p:cNvGrpSpPr/>
        <p:nvPr/>
      </p:nvGrpSpPr>
      <p:grpSpPr>
        <a:xfrm>
          <a:off x="0" y="0"/>
          <a:ext cx="0" cy="0"/>
          <a:chOff x="0" y="0"/>
          <a:chExt cx="0" cy="0"/>
        </a:xfrm>
      </p:grpSpPr>
      <p:sp>
        <p:nvSpPr>
          <p:cNvPr id="152" name="Google Shape;152;p5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3" name="Google Shape;153;p58"/>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154"/>
        <p:cNvGrpSpPr/>
        <p:nvPr/>
      </p:nvGrpSpPr>
      <p:grpSpPr>
        <a:xfrm>
          <a:off x="0" y="0"/>
          <a:ext cx="0" cy="0"/>
          <a:chOff x="0" y="0"/>
          <a:chExt cx="0" cy="0"/>
        </a:xfrm>
      </p:grpSpPr>
      <p:sp>
        <p:nvSpPr>
          <p:cNvPr id="155" name="Google Shape;155;p5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6" name="Google Shape;156;p59"/>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57" name="Google Shape;157;p59"/>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58"/>
        <p:cNvGrpSpPr/>
        <p:nvPr/>
      </p:nvGrpSpPr>
      <p:grpSpPr>
        <a:xfrm>
          <a:off x="0" y="0"/>
          <a:ext cx="0" cy="0"/>
          <a:chOff x="0" y="0"/>
          <a:chExt cx="0" cy="0"/>
        </a:xfrm>
      </p:grpSpPr>
      <p:sp>
        <p:nvSpPr>
          <p:cNvPr id="159" name="Google Shape;159;p6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160"/>
        <p:cNvGrpSpPr/>
        <p:nvPr/>
      </p:nvGrpSpPr>
      <p:grpSpPr>
        <a:xfrm>
          <a:off x="0" y="0"/>
          <a:ext cx="0" cy="0"/>
          <a:chOff x="0" y="0"/>
          <a:chExt cx="0" cy="0"/>
        </a:xfrm>
      </p:grpSpPr>
      <p:sp>
        <p:nvSpPr>
          <p:cNvPr id="161" name="Google Shape;161;p61"/>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162"/>
        <p:cNvGrpSpPr/>
        <p:nvPr/>
      </p:nvGrpSpPr>
      <p:grpSpPr>
        <a:xfrm>
          <a:off x="0" y="0"/>
          <a:ext cx="0" cy="0"/>
          <a:chOff x="0" y="0"/>
          <a:chExt cx="0" cy="0"/>
        </a:xfrm>
      </p:grpSpPr>
      <p:sp>
        <p:nvSpPr>
          <p:cNvPr id="163" name="Google Shape;163;p6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4" name="Google Shape;164;p62"/>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65" name="Google Shape;165;p62"/>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66" name="Google Shape;166;p62"/>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167"/>
        <p:cNvGrpSpPr/>
        <p:nvPr/>
      </p:nvGrpSpPr>
      <p:grpSpPr>
        <a:xfrm>
          <a:off x="0" y="0"/>
          <a:ext cx="0" cy="0"/>
          <a:chOff x="0" y="0"/>
          <a:chExt cx="0" cy="0"/>
        </a:xfrm>
      </p:grpSpPr>
      <p:sp>
        <p:nvSpPr>
          <p:cNvPr id="168" name="Google Shape;168;p6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9" name="Google Shape;169;p63"/>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70" name="Google Shape;170;p63"/>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71" name="Google Shape;171;p63"/>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172"/>
        <p:cNvGrpSpPr/>
        <p:nvPr/>
      </p:nvGrpSpPr>
      <p:grpSpPr>
        <a:xfrm>
          <a:off x="0" y="0"/>
          <a:ext cx="0" cy="0"/>
          <a:chOff x="0" y="0"/>
          <a:chExt cx="0" cy="0"/>
        </a:xfrm>
      </p:grpSpPr>
      <p:sp>
        <p:nvSpPr>
          <p:cNvPr id="173" name="Google Shape;173;p6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4" name="Google Shape;174;p64"/>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75" name="Google Shape;175;p64"/>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76" name="Google Shape;176;p64"/>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177"/>
        <p:cNvGrpSpPr/>
        <p:nvPr/>
      </p:nvGrpSpPr>
      <p:grpSpPr>
        <a:xfrm>
          <a:off x="0" y="0"/>
          <a:ext cx="0" cy="0"/>
          <a:chOff x="0" y="0"/>
          <a:chExt cx="0" cy="0"/>
        </a:xfrm>
      </p:grpSpPr>
      <p:sp>
        <p:nvSpPr>
          <p:cNvPr id="178" name="Google Shape;178;p6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9" name="Google Shape;179;p65"/>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80" name="Google Shape;180;p65"/>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181"/>
        <p:cNvGrpSpPr/>
        <p:nvPr/>
      </p:nvGrpSpPr>
      <p:grpSpPr>
        <a:xfrm>
          <a:off x="0" y="0"/>
          <a:ext cx="0" cy="0"/>
          <a:chOff x="0" y="0"/>
          <a:chExt cx="0" cy="0"/>
        </a:xfrm>
      </p:grpSpPr>
      <p:sp>
        <p:nvSpPr>
          <p:cNvPr id="182" name="Google Shape;182;p6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3" name="Google Shape;183;p66"/>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84" name="Google Shape;184;p66"/>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85" name="Google Shape;185;p66"/>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86" name="Google Shape;186;p66"/>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187"/>
        <p:cNvGrpSpPr/>
        <p:nvPr/>
      </p:nvGrpSpPr>
      <p:grpSpPr>
        <a:xfrm>
          <a:off x="0" y="0"/>
          <a:ext cx="0" cy="0"/>
          <a:chOff x="0" y="0"/>
          <a:chExt cx="0" cy="0"/>
        </a:xfrm>
      </p:grpSpPr>
      <p:sp>
        <p:nvSpPr>
          <p:cNvPr id="188" name="Google Shape;188;p6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9" name="Google Shape;189;p67"/>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0" name="Google Shape;190;p67"/>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1" name="Google Shape;191;p67"/>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2" name="Google Shape;192;p67"/>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3" name="Google Shape;193;p67"/>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4" name="Google Shape;194;p67"/>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209"/>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210"/>
        <p:cNvGrpSpPr/>
        <p:nvPr/>
      </p:nvGrpSpPr>
      <p:grpSpPr>
        <a:xfrm>
          <a:off x="0" y="0"/>
          <a:ext cx="0" cy="0"/>
          <a:chOff x="0" y="0"/>
          <a:chExt cx="0" cy="0"/>
        </a:xfrm>
      </p:grpSpPr>
      <p:sp>
        <p:nvSpPr>
          <p:cNvPr id="211" name="Google Shape;211;p6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2" name="Google Shape;212;p68"/>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213"/>
        <p:cNvGrpSpPr/>
        <p:nvPr/>
      </p:nvGrpSpPr>
      <p:grpSpPr>
        <a:xfrm>
          <a:off x="0" y="0"/>
          <a:ext cx="0" cy="0"/>
          <a:chOff x="0" y="0"/>
          <a:chExt cx="0" cy="0"/>
        </a:xfrm>
      </p:grpSpPr>
      <p:sp>
        <p:nvSpPr>
          <p:cNvPr id="214" name="Google Shape;214;p6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5" name="Google Shape;215;p69"/>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216"/>
        <p:cNvGrpSpPr/>
        <p:nvPr/>
      </p:nvGrpSpPr>
      <p:grpSpPr>
        <a:xfrm>
          <a:off x="0" y="0"/>
          <a:ext cx="0" cy="0"/>
          <a:chOff x="0" y="0"/>
          <a:chExt cx="0" cy="0"/>
        </a:xfrm>
      </p:grpSpPr>
      <p:sp>
        <p:nvSpPr>
          <p:cNvPr id="217" name="Google Shape;217;p7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8" name="Google Shape;218;p70"/>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19" name="Google Shape;219;p70"/>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20"/>
        <p:cNvGrpSpPr/>
        <p:nvPr/>
      </p:nvGrpSpPr>
      <p:grpSpPr>
        <a:xfrm>
          <a:off x="0" y="0"/>
          <a:ext cx="0" cy="0"/>
          <a:chOff x="0" y="0"/>
          <a:chExt cx="0" cy="0"/>
        </a:xfrm>
      </p:grpSpPr>
      <p:sp>
        <p:nvSpPr>
          <p:cNvPr id="221" name="Google Shape;221;p7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222"/>
        <p:cNvGrpSpPr/>
        <p:nvPr/>
      </p:nvGrpSpPr>
      <p:grpSpPr>
        <a:xfrm>
          <a:off x="0" y="0"/>
          <a:ext cx="0" cy="0"/>
          <a:chOff x="0" y="0"/>
          <a:chExt cx="0" cy="0"/>
        </a:xfrm>
      </p:grpSpPr>
      <p:sp>
        <p:nvSpPr>
          <p:cNvPr id="223" name="Google Shape;223;p72"/>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224"/>
        <p:cNvGrpSpPr/>
        <p:nvPr/>
      </p:nvGrpSpPr>
      <p:grpSpPr>
        <a:xfrm>
          <a:off x="0" y="0"/>
          <a:ext cx="0" cy="0"/>
          <a:chOff x="0" y="0"/>
          <a:chExt cx="0" cy="0"/>
        </a:xfrm>
      </p:grpSpPr>
      <p:sp>
        <p:nvSpPr>
          <p:cNvPr id="225" name="Google Shape;225;p7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6" name="Google Shape;226;p73"/>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27" name="Google Shape;227;p73"/>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28" name="Google Shape;228;p73"/>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229"/>
        <p:cNvGrpSpPr/>
        <p:nvPr/>
      </p:nvGrpSpPr>
      <p:grpSpPr>
        <a:xfrm>
          <a:off x="0" y="0"/>
          <a:ext cx="0" cy="0"/>
          <a:chOff x="0" y="0"/>
          <a:chExt cx="0" cy="0"/>
        </a:xfrm>
      </p:grpSpPr>
      <p:sp>
        <p:nvSpPr>
          <p:cNvPr id="230" name="Google Shape;230;p7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1" name="Google Shape;231;p74"/>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32" name="Google Shape;232;p74"/>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33" name="Google Shape;233;p74"/>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234"/>
        <p:cNvGrpSpPr/>
        <p:nvPr/>
      </p:nvGrpSpPr>
      <p:grpSpPr>
        <a:xfrm>
          <a:off x="0" y="0"/>
          <a:ext cx="0" cy="0"/>
          <a:chOff x="0" y="0"/>
          <a:chExt cx="0" cy="0"/>
        </a:xfrm>
      </p:grpSpPr>
      <p:sp>
        <p:nvSpPr>
          <p:cNvPr id="235" name="Google Shape;235;p7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75"/>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37" name="Google Shape;237;p75"/>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38" name="Google Shape;238;p75"/>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239"/>
        <p:cNvGrpSpPr/>
        <p:nvPr/>
      </p:nvGrpSpPr>
      <p:grpSpPr>
        <a:xfrm>
          <a:off x="0" y="0"/>
          <a:ext cx="0" cy="0"/>
          <a:chOff x="0" y="0"/>
          <a:chExt cx="0" cy="0"/>
        </a:xfrm>
      </p:grpSpPr>
      <p:sp>
        <p:nvSpPr>
          <p:cNvPr id="240" name="Google Shape;240;p7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1" name="Google Shape;241;p76"/>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42" name="Google Shape;242;p76"/>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243"/>
        <p:cNvGrpSpPr/>
        <p:nvPr/>
      </p:nvGrpSpPr>
      <p:grpSpPr>
        <a:xfrm>
          <a:off x="0" y="0"/>
          <a:ext cx="0" cy="0"/>
          <a:chOff x="0" y="0"/>
          <a:chExt cx="0" cy="0"/>
        </a:xfrm>
      </p:grpSpPr>
      <p:sp>
        <p:nvSpPr>
          <p:cNvPr id="244" name="Google Shape;244;p7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5" name="Google Shape;245;p77"/>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46" name="Google Shape;246;p77"/>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47" name="Google Shape;247;p77"/>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48" name="Google Shape;248;p77"/>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249"/>
        <p:cNvGrpSpPr/>
        <p:nvPr/>
      </p:nvGrpSpPr>
      <p:grpSpPr>
        <a:xfrm>
          <a:off x="0" y="0"/>
          <a:ext cx="0" cy="0"/>
          <a:chOff x="0" y="0"/>
          <a:chExt cx="0" cy="0"/>
        </a:xfrm>
      </p:grpSpPr>
      <p:sp>
        <p:nvSpPr>
          <p:cNvPr id="250" name="Google Shape;250;p7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1" name="Google Shape;251;p78"/>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52" name="Google Shape;252;p78"/>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53" name="Google Shape;253;p78"/>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54" name="Google Shape;254;p78"/>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55" name="Google Shape;255;p78"/>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56" name="Google Shape;256;p78"/>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27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272"/>
        <p:cNvGrpSpPr/>
        <p:nvPr/>
      </p:nvGrpSpPr>
      <p:grpSpPr>
        <a:xfrm>
          <a:off x="0" y="0"/>
          <a:ext cx="0" cy="0"/>
          <a:chOff x="0" y="0"/>
          <a:chExt cx="0" cy="0"/>
        </a:xfrm>
      </p:grpSpPr>
      <p:sp>
        <p:nvSpPr>
          <p:cNvPr id="273" name="Google Shape;273;p7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4" name="Google Shape;274;p79"/>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275"/>
        <p:cNvGrpSpPr/>
        <p:nvPr/>
      </p:nvGrpSpPr>
      <p:grpSpPr>
        <a:xfrm>
          <a:off x="0" y="0"/>
          <a:ext cx="0" cy="0"/>
          <a:chOff x="0" y="0"/>
          <a:chExt cx="0" cy="0"/>
        </a:xfrm>
      </p:grpSpPr>
      <p:sp>
        <p:nvSpPr>
          <p:cNvPr id="276" name="Google Shape;276;p8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7" name="Google Shape;277;p80"/>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278"/>
        <p:cNvGrpSpPr/>
        <p:nvPr/>
      </p:nvGrpSpPr>
      <p:grpSpPr>
        <a:xfrm>
          <a:off x="0" y="0"/>
          <a:ext cx="0" cy="0"/>
          <a:chOff x="0" y="0"/>
          <a:chExt cx="0" cy="0"/>
        </a:xfrm>
      </p:grpSpPr>
      <p:sp>
        <p:nvSpPr>
          <p:cNvPr id="279" name="Google Shape;279;p8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0" name="Google Shape;280;p81"/>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81" name="Google Shape;281;p81"/>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82"/>
        <p:cNvGrpSpPr/>
        <p:nvPr/>
      </p:nvGrpSpPr>
      <p:grpSpPr>
        <a:xfrm>
          <a:off x="0" y="0"/>
          <a:ext cx="0" cy="0"/>
          <a:chOff x="0" y="0"/>
          <a:chExt cx="0" cy="0"/>
        </a:xfrm>
      </p:grpSpPr>
      <p:sp>
        <p:nvSpPr>
          <p:cNvPr id="283" name="Google Shape;283;p8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284"/>
        <p:cNvGrpSpPr/>
        <p:nvPr/>
      </p:nvGrpSpPr>
      <p:grpSpPr>
        <a:xfrm>
          <a:off x="0" y="0"/>
          <a:ext cx="0" cy="0"/>
          <a:chOff x="0" y="0"/>
          <a:chExt cx="0" cy="0"/>
        </a:xfrm>
      </p:grpSpPr>
      <p:sp>
        <p:nvSpPr>
          <p:cNvPr id="285" name="Google Shape;285;p83"/>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286"/>
        <p:cNvGrpSpPr/>
        <p:nvPr/>
      </p:nvGrpSpPr>
      <p:grpSpPr>
        <a:xfrm>
          <a:off x="0" y="0"/>
          <a:ext cx="0" cy="0"/>
          <a:chOff x="0" y="0"/>
          <a:chExt cx="0" cy="0"/>
        </a:xfrm>
      </p:grpSpPr>
      <p:sp>
        <p:nvSpPr>
          <p:cNvPr id="287" name="Google Shape;287;p8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8" name="Google Shape;288;p84"/>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89" name="Google Shape;289;p84"/>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90" name="Google Shape;290;p84"/>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291"/>
        <p:cNvGrpSpPr/>
        <p:nvPr/>
      </p:nvGrpSpPr>
      <p:grpSpPr>
        <a:xfrm>
          <a:off x="0" y="0"/>
          <a:ext cx="0" cy="0"/>
          <a:chOff x="0" y="0"/>
          <a:chExt cx="0" cy="0"/>
        </a:xfrm>
      </p:grpSpPr>
      <p:sp>
        <p:nvSpPr>
          <p:cNvPr id="292" name="Google Shape;292;p8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3" name="Google Shape;293;p85"/>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94" name="Google Shape;294;p85"/>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95" name="Google Shape;295;p85"/>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296"/>
        <p:cNvGrpSpPr/>
        <p:nvPr/>
      </p:nvGrpSpPr>
      <p:grpSpPr>
        <a:xfrm>
          <a:off x="0" y="0"/>
          <a:ext cx="0" cy="0"/>
          <a:chOff x="0" y="0"/>
          <a:chExt cx="0" cy="0"/>
        </a:xfrm>
      </p:grpSpPr>
      <p:sp>
        <p:nvSpPr>
          <p:cNvPr id="297" name="Google Shape;297;p8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8" name="Google Shape;298;p86"/>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99" name="Google Shape;299;p86"/>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00" name="Google Shape;300;p86"/>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301"/>
        <p:cNvGrpSpPr/>
        <p:nvPr/>
      </p:nvGrpSpPr>
      <p:grpSpPr>
        <a:xfrm>
          <a:off x="0" y="0"/>
          <a:ext cx="0" cy="0"/>
          <a:chOff x="0" y="0"/>
          <a:chExt cx="0" cy="0"/>
        </a:xfrm>
      </p:grpSpPr>
      <p:sp>
        <p:nvSpPr>
          <p:cNvPr id="302" name="Google Shape;302;p8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3" name="Google Shape;303;p87"/>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04" name="Google Shape;304;p87"/>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305"/>
        <p:cNvGrpSpPr/>
        <p:nvPr/>
      </p:nvGrpSpPr>
      <p:grpSpPr>
        <a:xfrm>
          <a:off x="0" y="0"/>
          <a:ext cx="0" cy="0"/>
          <a:chOff x="0" y="0"/>
          <a:chExt cx="0" cy="0"/>
        </a:xfrm>
      </p:grpSpPr>
      <p:sp>
        <p:nvSpPr>
          <p:cNvPr id="306" name="Google Shape;306;p8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7" name="Google Shape;307;p88"/>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08" name="Google Shape;308;p88"/>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09" name="Google Shape;309;p88"/>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0" name="Google Shape;310;p88"/>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311"/>
        <p:cNvGrpSpPr/>
        <p:nvPr/>
      </p:nvGrpSpPr>
      <p:grpSpPr>
        <a:xfrm>
          <a:off x="0" y="0"/>
          <a:ext cx="0" cy="0"/>
          <a:chOff x="0" y="0"/>
          <a:chExt cx="0" cy="0"/>
        </a:xfrm>
      </p:grpSpPr>
      <p:sp>
        <p:nvSpPr>
          <p:cNvPr id="312" name="Google Shape;312;p8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3" name="Google Shape;313;p89"/>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4" name="Google Shape;314;p89"/>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5" name="Google Shape;315;p89"/>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6" name="Google Shape;316;p89"/>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7" name="Google Shape;317;p89"/>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8" name="Google Shape;318;p89"/>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333"/>
        <p:cNvGrpSpPr/>
        <p:nvPr/>
      </p:nvGrpSpPr>
      <p:grpSpPr>
        <a:xfrm>
          <a:off x="0" y="0"/>
          <a:ext cx="0" cy="0"/>
          <a:chOff x="0" y="0"/>
          <a:chExt cx="0" cy="0"/>
        </a:xfrm>
      </p:grpSpPr>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334"/>
        <p:cNvGrpSpPr/>
        <p:nvPr/>
      </p:nvGrpSpPr>
      <p:grpSpPr>
        <a:xfrm>
          <a:off x="0" y="0"/>
          <a:ext cx="0" cy="0"/>
          <a:chOff x="0" y="0"/>
          <a:chExt cx="0" cy="0"/>
        </a:xfrm>
      </p:grpSpPr>
      <p:sp>
        <p:nvSpPr>
          <p:cNvPr id="335" name="Google Shape;335;p9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6" name="Google Shape;336;p90"/>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337"/>
        <p:cNvGrpSpPr/>
        <p:nvPr/>
      </p:nvGrpSpPr>
      <p:grpSpPr>
        <a:xfrm>
          <a:off x="0" y="0"/>
          <a:ext cx="0" cy="0"/>
          <a:chOff x="0" y="0"/>
          <a:chExt cx="0" cy="0"/>
        </a:xfrm>
      </p:grpSpPr>
      <p:sp>
        <p:nvSpPr>
          <p:cNvPr id="338" name="Google Shape;338;p9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9" name="Google Shape;339;p91"/>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340"/>
        <p:cNvGrpSpPr/>
        <p:nvPr/>
      </p:nvGrpSpPr>
      <p:grpSpPr>
        <a:xfrm>
          <a:off x="0" y="0"/>
          <a:ext cx="0" cy="0"/>
          <a:chOff x="0" y="0"/>
          <a:chExt cx="0" cy="0"/>
        </a:xfrm>
      </p:grpSpPr>
      <p:sp>
        <p:nvSpPr>
          <p:cNvPr id="341" name="Google Shape;341;p9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2" name="Google Shape;342;p92"/>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43" name="Google Shape;343;p92"/>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4"/>
        <p:cNvGrpSpPr/>
        <p:nvPr/>
      </p:nvGrpSpPr>
      <p:grpSpPr>
        <a:xfrm>
          <a:off x="0" y="0"/>
          <a:ext cx="0" cy="0"/>
          <a:chOff x="0" y="0"/>
          <a:chExt cx="0" cy="0"/>
        </a:xfrm>
      </p:grpSpPr>
      <p:sp>
        <p:nvSpPr>
          <p:cNvPr id="345" name="Google Shape;345;p9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346"/>
        <p:cNvGrpSpPr/>
        <p:nvPr/>
      </p:nvGrpSpPr>
      <p:grpSpPr>
        <a:xfrm>
          <a:off x="0" y="0"/>
          <a:ext cx="0" cy="0"/>
          <a:chOff x="0" y="0"/>
          <a:chExt cx="0" cy="0"/>
        </a:xfrm>
      </p:grpSpPr>
      <p:sp>
        <p:nvSpPr>
          <p:cNvPr id="347" name="Google Shape;347;p94"/>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348"/>
        <p:cNvGrpSpPr/>
        <p:nvPr/>
      </p:nvGrpSpPr>
      <p:grpSpPr>
        <a:xfrm>
          <a:off x="0" y="0"/>
          <a:ext cx="0" cy="0"/>
          <a:chOff x="0" y="0"/>
          <a:chExt cx="0" cy="0"/>
        </a:xfrm>
      </p:grpSpPr>
      <p:sp>
        <p:nvSpPr>
          <p:cNvPr id="349" name="Google Shape;349;p9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0" name="Google Shape;350;p95"/>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51" name="Google Shape;351;p95"/>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52" name="Google Shape;352;p95"/>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353"/>
        <p:cNvGrpSpPr/>
        <p:nvPr/>
      </p:nvGrpSpPr>
      <p:grpSpPr>
        <a:xfrm>
          <a:off x="0" y="0"/>
          <a:ext cx="0" cy="0"/>
          <a:chOff x="0" y="0"/>
          <a:chExt cx="0" cy="0"/>
        </a:xfrm>
      </p:grpSpPr>
      <p:sp>
        <p:nvSpPr>
          <p:cNvPr id="354" name="Google Shape;354;p9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5" name="Google Shape;355;p96"/>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56" name="Google Shape;356;p96"/>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57" name="Google Shape;357;p96"/>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358"/>
        <p:cNvGrpSpPr/>
        <p:nvPr/>
      </p:nvGrpSpPr>
      <p:grpSpPr>
        <a:xfrm>
          <a:off x="0" y="0"/>
          <a:ext cx="0" cy="0"/>
          <a:chOff x="0" y="0"/>
          <a:chExt cx="0" cy="0"/>
        </a:xfrm>
      </p:grpSpPr>
      <p:sp>
        <p:nvSpPr>
          <p:cNvPr id="359" name="Google Shape;359;p9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0" name="Google Shape;360;p97"/>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61" name="Google Shape;361;p97"/>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62" name="Google Shape;362;p97"/>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363"/>
        <p:cNvGrpSpPr/>
        <p:nvPr/>
      </p:nvGrpSpPr>
      <p:grpSpPr>
        <a:xfrm>
          <a:off x="0" y="0"/>
          <a:ext cx="0" cy="0"/>
          <a:chOff x="0" y="0"/>
          <a:chExt cx="0" cy="0"/>
        </a:xfrm>
      </p:grpSpPr>
      <p:sp>
        <p:nvSpPr>
          <p:cNvPr id="364" name="Google Shape;364;p9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5" name="Google Shape;365;p98"/>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66" name="Google Shape;366;p98"/>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367"/>
        <p:cNvGrpSpPr/>
        <p:nvPr/>
      </p:nvGrpSpPr>
      <p:grpSpPr>
        <a:xfrm>
          <a:off x="0" y="0"/>
          <a:ext cx="0" cy="0"/>
          <a:chOff x="0" y="0"/>
          <a:chExt cx="0" cy="0"/>
        </a:xfrm>
      </p:grpSpPr>
      <p:sp>
        <p:nvSpPr>
          <p:cNvPr id="368" name="Google Shape;368;p9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9" name="Google Shape;369;p99"/>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0" name="Google Shape;370;p99"/>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1" name="Google Shape;371;p99"/>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2" name="Google Shape;372;p99"/>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373"/>
        <p:cNvGrpSpPr/>
        <p:nvPr/>
      </p:nvGrpSpPr>
      <p:grpSpPr>
        <a:xfrm>
          <a:off x="0" y="0"/>
          <a:ext cx="0" cy="0"/>
          <a:chOff x="0" y="0"/>
          <a:chExt cx="0" cy="0"/>
        </a:xfrm>
      </p:grpSpPr>
      <p:sp>
        <p:nvSpPr>
          <p:cNvPr id="374" name="Google Shape;374;p10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5" name="Google Shape;375;p100"/>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6" name="Google Shape;376;p100"/>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7" name="Google Shape;377;p100"/>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8" name="Google Shape;378;p100"/>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9" name="Google Shape;379;p100"/>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80" name="Google Shape;380;p100"/>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395"/>
        <p:cNvGrpSpPr/>
        <p:nvPr/>
      </p:nvGrpSpPr>
      <p:grpSpPr>
        <a:xfrm>
          <a:off x="0" y="0"/>
          <a:ext cx="0" cy="0"/>
          <a:chOff x="0" y="0"/>
          <a:chExt cx="0" cy="0"/>
        </a:xfrm>
      </p:grpSpPr>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396"/>
        <p:cNvGrpSpPr/>
        <p:nvPr/>
      </p:nvGrpSpPr>
      <p:grpSpPr>
        <a:xfrm>
          <a:off x="0" y="0"/>
          <a:ext cx="0" cy="0"/>
          <a:chOff x="0" y="0"/>
          <a:chExt cx="0" cy="0"/>
        </a:xfrm>
      </p:grpSpPr>
      <p:sp>
        <p:nvSpPr>
          <p:cNvPr id="397" name="Google Shape;397;p10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8" name="Google Shape;398;p101"/>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399"/>
        <p:cNvGrpSpPr/>
        <p:nvPr/>
      </p:nvGrpSpPr>
      <p:grpSpPr>
        <a:xfrm>
          <a:off x="0" y="0"/>
          <a:ext cx="0" cy="0"/>
          <a:chOff x="0" y="0"/>
          <a:chExt cx="0" cy="0"/>
        </a:xfrm>
      </p:grpSpPr>
      <p:sp>
        <p:nvSpPr>
          <p:cNvPr id="400" name="Google Shape;400;p10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1" name="Google Shape;401;p102"/>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402"/>
        <p:cNvGrpSpPr/>
        <p:nvPr/>
      </p:nvGrpSpPr>
      <p:grpSpPr>
        <a:xfrm>
          <a:off x="0" y="0"/>
          <a:ext cx="0" cy="0"/>
          <a:chOff x="0" y="0"/>
          <a:chExt cx="0" cy="0"/>
        </a:xfrm>
      </p:grpSpPr>
      <p:sp>
        <p:nvSpPr>
          <p:cNvPr id="403" name="Google Shape;403;p10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4" name="Google Shape;404;p103"/>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05" name="Google Shape;405;p103"/>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06"/>
        <p:cNvGrpSpPr/>
        <p:nvPr/>
      </p:nvGrpSpPr>
      <p:grpSpPr>
        <a:xfrm>
          <a:off x="0" y="0"/>
          <a:ext cx="0" cy="0"/>
          <a:chOff x="0" y="0"/>
          <a:chExt cx="0" cy="0"/>
        </a:xfrm>
      </p:grpSpPr>
      <p:sp>
        <p:nvSpPr>
          <p:cNvPr id="407" name="Google Shape;407;p10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408"/>
        <p:cNvGrpSpPr/>
        <p:nvPr/>
      </p:nvGrpSpPr>
      <p:grpSpPr>
        <a:xfrm>
          <a:off x="0" y="0"/>
          <a:ext cx="0" cy="0"/>
          <a:chOff x="0" y="0"/>
          <a:chExt cx="0" cy="0"/>
        </a:xfrm>
      </p:grpSpPr>
      <p:sp>
        <p:nvSpPr>
          <p:cNvPr id="409" name="Google Shape;409;p105"/>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410"/>
        <p:cNvGrpSpPr/>
        <p:nvPr/>
      </p:nvGrpSpPr>
      <p:grpSpPr>
        <a:xfrm>
          <a:off x="0" y="0"/>
          <a:ext cx="0" cy="0"/>
          <a:chOff x="0" y="0"/>
          <a:chExt cx="0" cy="0"/>
        </a:xfrm>
      </p:grpSpPr>
      <p:sp>
        <p:nvSpPr>
          <p:cNvPr id="411" name="Google Shape;411;p10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2" name="Google Shape;412;p106"/>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13" name="Google Shape;413;p106"/>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14" name="Google Shape;414;p106"/>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415"/>
        <p:cNvGrpSpPr/>
        <p:nvPr/>
      </p:nvGrpSpPr>
      <p:grpSpPr>
        <a:xfrm>
          <a:off x="0" y="0"/>
          <a:ext cx="0" cy="0"/>
          <a:chOff x="0" y="0"/>
          <a:chExt cx="0" cy="0"/>
        </a:xfrm>
      </p:grpSpPr>
      <p:sp>
        <p:nvSpPr>
          <p:cNvPr id="416" name="Google Shape;416;p10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7" name="Google Shape;417;p107"/>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18" name="Google Shape;418;p107"/>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19" name="Google Shape;419;p107"/>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420"/>
        <p:cNvGrpSpPr/>
        <p:nvPr/>
      </p:nvGrpSpPr>
      <p:grpSpPr>
        <a:xfrm>
          <a:off x="0" y="0"/>
          <a:ext cx="0" cy="0"/>
          <a:chOff x="0" y="0"/>
          <a:chExt cx="0" cy="0"/>
        </a:xfrm>
      </p:grpSpPr>
      <p:sp>
        <p:nvSpPr>
          <p:cNvPr id="421" name="Google Shape;421;p10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2" name="Google Shape;422;p108"/>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23" name="Google Shape;423;p108"/>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24" name="Google Shape;424;p108"/>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425"/>
        <p:cNvGrpSpPr/>
        <p:nvPr/>
      </p:nvGrpSpPr>
      <p:grpSpPr>
        <a:xfrm>
          <a:off x="0" y="0"/>
          <a:ext cx="0" cy="0"/>
          <a:chOff x="0" y="0"/>
          <a:chExt cx="0" cy="0"/>
        </a:xfrm>
      </p:grpSpPr>
      <p:sp>
        <p:nvSpPr>
          <p:cNvPr id="426" name="Google Shape;426;p10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7" name="Google Shape;427;p109"/>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28" name="Google Shape;428;p109"/>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429"/>
        <p:cNvGrpSpPr/>
        <p:nvPr/>
      </p:nvGrpSpPr>
      <p:grpSpPr>
        <a:xfrm>
          <a:off x="0" y="0"/>
          <a:ext cx="0" cy="0"/>
          <a:chOff x="0" y="0"/>
          <a:chExt cx="0" cy="0"/>
        </a:xfrm>
      </p:grpSpPr>
      <p:sp>
        <p:nvSpPr>
          <p:cNvPr id="430" name="Google Shape;430;p11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1" name="Google Shape;431;p110"/>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32" name="Google Shape;432;p110"/>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33" name="Google Shape;433;p110"/>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34" name="Google Shape;434;p110"/>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435"/>
        <p:cNvGrpSpPr/>
        <p:nvPr/>
      </p:nvGrpSpPr>
      <p:grpSpPr>
        <a:xfrm>
          <a:off x="0" y="0"/>
          <a:ext cx="0" cy="0"/>
          <a:chOff x="0" y="0"/>
          <a:chExt cx="0" cy="0"/>
        </a:xfrm>
      </p:grpSpPr>
      <p:sp>
        <p:nvSpPr>
          <p:cNvPr id="436" name="Google Shape;436;p11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7" name="Google Shape;437;p111"/>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38" name="Google Shape;438;p111"/>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39" name="Google Shape;439;p111"/>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40" name="Google Shape;440;p111"/>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41" name="Google Shape;441;p111"/>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42" name="Google Shape;442;p111"/>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457"/>
        <p:cNvGrpSpPr/>
        <p:nvPr/>
      </p:nvGrpSpPr>
      <p:grpSpPr>
        <a:xfrm>
          <a:off x="0" y="0"/>
          <a:ext cx="0" cy="0"/>
          <a:chOff x="0" y="0"/>
          <a:chExt cx="0" cy="0"/>
        </a:xfrm>
      </p:grpSpPr>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458"/>
        <p:cNvGrpSpPr/>
        <p:nvPr/>
      </p:nvGrpSpPr>
      <p:grpSpPr>
        <a:xfrm>
          <a:off x="0" y="0"/>
          <a:ext cx="0" cy="0"/>
          <a:chOff x="0" y="0"/>
          <a:chExt cx="0" cy="0"/>
        </a:xfrm>
      </p:grpSpPr>
      <p:sp>
        <p:nvSpPr>
          <p:cNvPr id="459" name="Google Shape;459;p11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0" name="Google Shape;460;p112"/>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461"/>
        <p:cNvGrpSpPr/>
        <p:nvPr/>
      </p:nvGrpSpPr>
      <p:grpSpPr>
        <a:xfrm>
          <a:off x="0" y="0"/>
          <a:ext cx="0" cy="0"/>
          <a:chOff x="0" y="0"/>
          <a:chExt cx="0" cy="0"/>
        </a:xfrm>
      </p:grpSpPr>
      <p:sp>
        <p:nvSpPr>
          <p:cNvPr id="462" name="Google Shape;462;p11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3" name="Google Shape;463;p113"/>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464"/>
        <p:cNvGrpSpPr/>
        <p:nvPr/>
      </p:nvGrpSpPr>
      <p:grpSpPr>
        <a:xfrm>
          <a:off x="0" y="0"/>
          <a:ext cx="0" cy="0"/>
          <a:chOff x="0" y="0"/>
          <a:chExt cx="0" cy="0"/>
        </a:xfrm>
      </p:grpSpPr>
      <p:sp>
        <p:nvSpPr>
          <p:cNvPr id="465" name="Google Shape;465;p11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6" name="Google Shape;466;p114"/>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67" name="Google Shape;467;p114"/>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68"/>
        <p:cNvGrpSpPr/>
        <p:nvPr/>
      </p:nvGrpSpPr>
      <p:grpSpPr>
        <a:xfrm>
          <a:off x="0" y="0"/>
          <a:ext cx="0" cy="0"/>
          <a:chOff x="0" y="0"/>
          <a:chExt cx="0" cy="0"/>
        </a:xfrm>
      </p:grpSpPr>
      <p:sp>
        <p:nvSpPr>
          <p:cNvPr id="469" name="Google Shape;469;p11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470"/>
        <p:cNvGrpSpPr/>
        <p:nvPr/>
      </p:nvGrpSpPr>
      <p:grpSpPr>
        <a:xfrm>
          <a:off x="0" y="0"/>
          <a:ext cx="0" cy="0"/>
          <a:chOff x="0" y="0"/>
          <a:chExt cx="0" cy="0"/>
        </a:xfrm>
      </p:grpSpPr>
      <p:sp>
        <p:nvSpPr>
          <p:cNvPr id="471" name="Google Shape;471;p116"/>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472"/>
        <p:cNvGrpSpPr/>
        <p:nvPr/>
      </p:nvGrpSpPr>
      <p:grpSpPr>
        <a:xfrm>
          <a:off x="0" y="0"/>
          <a:ext cx="0" cy="0"/>
          <a:chOff x="0" y="0"/>
          <a:chExt cx="0" cy="0"/>
        </a:xfrm>
      </p:grpSpPr>
      <p:sp>
        <p:nvSpPr>
          <p:cNvPr id="473" name="Google Shape;473;p11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4" name="Google Shape;474;p117"/>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75" name="Google Shape;475;p117"/>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76" name="Google Shape;476;p117"/>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477"/>
        <p:cNvGrpSpPr/>
        <p:nvPr/>
      </p:nvGrpSpPr>
      <p:grpSpPr>
        <a:xfrm>
          <a:off x="0" y="0"/>
          <a:ext cx="0" cy="0"/>
          <a:chOff x="0" y="0"/>
          <a:chExt cx="0" cy="0"/>
        </a:xfrm>
      </p:grpSpPr>
      <p:sp>
        <p:nvSpPr>
          <p:cNvPr id="478" name="Google Shape;478;p11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9" name="Google Shape;479;p118"/>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80" name="Google Shape;480;p118"/>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81" name="Google Shape;481;p118"/>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482"/>
        <p:cNvGrpSpPr/>
        <p:nvPr/>
      </p:nvGrpSpPr>
      <p:grpSpPr>
        <a:xfrm>
          <a:off x="0" y="0"/>
          <a:ext cx="0" cy="0"/>
          <a:chOff x="0" y="0"/>
          <a:chExt cx="0" cy="0"/>
        </a:xfrm>
      </p:grpSpPr>
      <p:sp>
        <p:nvSpPr>
          <p:cNvPr id="483" name="Google Shape;483;p11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4" name="Google Shape;484;p119"/>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85" name="Google Shape;485;p119"/>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86" name="Google Shape;486;p119"/>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487"/>
        <p:cNvGrpSpPr/>
        <p:nvPr/>
      </p:nvGrpSpPr>
      <p:grpSpPr>
        <a:xfrm>
          <a:off x="0" y="0"/>
          <a:ext cx="0" cy="0"/>
          <a:chOff x="0" y="0"/>
          <a:chExt cx="0" cy="0"/>
        </a:xfrm>
      </p:grpSpPr>
      <p:sp>
        <p:nvSpPr>
          <p:cNvPr id="488" name="Google Shape;488;p12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9" name="Google Shape;489;p120"/>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90" name="Google Shape;490;p120"/>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491"/>
        <p:cNvGrpSpPr/>
        <p:nvPr/>
      </p:nvGrpSpPr>
      <p:grpSpPr>
        <a:xfrm>
          <a:off x="0" y="0"/>
          <a:ext cx="0" cy="0"/>
          <a:chOff x="0" y="0"/>
          <a:chExt cx="0" cy="0"/>
        </a:xfrm>
      </p:grpSpPr>
      <p:sp>
        <p:nvSpPr>
          <p:cNvPr id="492" name="Google Shape;492;p12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3" name="Google Shape;493;p121"/>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94" name="Google Shape;494;p121"/>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95" name="Google Shape;495;p121"/>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96" name="Google Shape;496;p121"/>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497"/>
        <p:cNvGrpSpPr/>
        <p:nvPr/>
      </p:nvGrpSpPr>
      <p:grpSpPr>
        <a:xfrm>
          <a:off x="0" y="0"/>
          <a:ext cx="0" cy="0"/>
          <a:chOff x="0" y="0"/>
          <a:chExt cx="0" cy="0"/>
        </a:xfrm>
      </p:grpSpPr>
      <p:sp>
        <p:nvSpPr>
          <p:cNvPr id="498" name="Google Shape;498;p12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9" name="Google Shape;499;p122"/>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00" name="Google Shape;500;p122"/>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01" name="Google Shape;501;p122"/>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02" name="Google Shape;502;p122"/>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03" name="Google Shape;503;p122"/>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04" name="Google Shape;504;p122"/>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image" Target="../media/image1.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theme" Target="../theme/theme3.xml"/><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slideLayout" Target="../slideLayouts/slideLayout36.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 Id="rId14" Type="http://schemas.openxmlformats.org/officeDocument/2006/relationships/image" Target="../media/image1.pn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4.xml"/><Relationship Id="rId13" Type="http://schemas.openxmlformats.org/officeDocument/2006/relationships/theme" Target="../theme/theme4.xml"/><Relationship Id="rId3" Type="http://schemas.openxmlformats.org/officeDocument/2006/relationships/slideLayout" Target="../slideLayouts/slideLayout39.xml"/><Relationship Id="rId7" Type="http://schemas.openxmlformats.org/officeDocument/2006/relationships/slideLayout" Target="../slideLayouts/slideLayout43.xml"/><Relationship Id="rId12" Type="http://schemas.openxmlformats.org/officeDocument/2006/relationships/slideLayout" Target="../slideLayouts/slideLayout48.xml"/><Relationship Id="rId2" Type="http://schemas.openxmlformats.org/officeDocument/2006/relationships/slideLayout" Target="../slideLayouts/slideLayout38.xml"/><Relationship Id="rId1" Type="http://schemas.openxmlformats.org/officeDocument/2006/relationships/slideLayout" Target="../slideLayouts/slideLayout37.xml"/><Relationship Id="rId6" Type="http://schemas.openxmlformats.org/officeDocument/2006/relationships/slideLayout" Target="../slideLayouts/slideLayout42.xml"/><Relationship Id="rId11" Type="http://schemas.openxmlformats.org/officeDocument/2006/relationships/slideLayout" Target="../slideLayouts/slideLayout47.xml"/><Relationship Id="rId5" Type="http://schemas.openxmlformats.org/officeDocument/2006/relationships/slideLayout" Target="../slideLayouts/slideLayout41.xml"/><Relationship Id="rId10" Type="http://schemas.openxmlformats.org/officeDocument/2006/relationships/slideLayout" Target="../slideLayouts/slideLayout46.xml"/><Relationship Id="rId4" Type="http://schemas.openxmlformats.org/officeDocument/2006/relationships/slideLayout" Target="../slideLayouts/slideLayout40.xml"/><Relationship Id="rId9" Type="http://schemas.openxmlformats.org/officeDocument/2006/relationships/slideLayout" Target="../slideLayouts/slideLayout45.xml"/><Relationship Id="rId14" Type="http://schemas.openxmlformats.org/officeDocument/2006/relationships/image" Target="../media/image1.png"/></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6.xml"/><Relationship Id="rId13" Type="http://schemas.openxmlformats.org/officeDocument/2006/relationships/theme" Target="../theme/theme5.xml"/><Relationship Id="rId3" Type="http://schemas.openxmlformats.org/officeDocument/2006/relationships/slideLayout" Target="../slideLayouts/slideLayout51.xml"/><Relationship Id="rId7" Type="http://schemas.openxmlformats.org/officeDocument/2006/relationships/slideLayout" Target="../slideLayouts/slideLayout55.xml"/><Relationship Id="rId12" Type="http://schemas.openxmlformats.org/officeDocument/2006/relationships/slideLayout" Target="../slideLayouts/slideLayout60.xml"/><Relationship Id="rId2" Type="http://schemas.openxmlformats.org/officeDocument/2006/relationships/slideLayout" Target="../slideLayouts/slideLayout50.xml"/><Relationship Id="rId1" Type="http://schemas.openxmlformats.org/officeDocument/2006/relationships/slideLayout" Target="../slideLayouts/slideLayout49.xml"/><Relationship Id="rId6" Type="http://schemas.openxmlformats.org/officeDocument/2006/relationships/slideLayout" Target="../slideLayouts/slideLayout54.xml"/><Relationship Id="rId11" Type="http://schemas.openxmlformats.org/officeDocument/2006/relationships/slideLayout" Target="../slideLayouts/slideLayout59.xml"/><Relationship Id="rId5" Type="http://schemas.openxmlformats.org/officeDocument/2006/relationships/slideLayout" Target="../slideLayouts/slideLayout53.xml"/><Relationship Id="rId10" Type="http://schemas.openxmlformats.org/officeDocument/2006/relationships/slideLayout" Target="../slideLayouts/slideLayout58.xml"/><Relationship Id="rId4" Type="http://schemas.openxmlformats.org/officeDocument/2006/relationships/slideLayout" Target="../slideLayouts/slideLayout52.xml"/><Relationship Id="rId9" Type="http://schemas.openxmlformats.org/officeDocument/2006/relationships/slideLayout" Target="../slideLayouts/slideLayout57.xml"/><Relationship Id="rId14" Type="http://schemas.openxmlformats.org/officeDocument/2006/relationships/image" Target="../media/image1.png"/></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68.xml"/><Relationship Id="rId13" Type="http://schemas.openxmlformats.org/officeDocument/2006/relationships/theme" Target="../theme/theme6.xml"/><Relationship Id="rId3" Type="http://schemas.openxmlformats.org/officeDocument/2006/relationships/slideLayout" Target="../slideLayouts/slideLayout63.xml"/><Relationship Id="rId7" Type="http://schemas.openxmlformats.org/officeDocument/2006/relationships/slideLayout" Target="../slideLayouts/slideLayout67.xml"/><Relationship Id="rId12" Type="http://schemas.openxmlformats.org/officeDocument/2006/relationships/slideLayout" Target="../slideLayouts/slideLayout72.xml"/><Relationship Id="rId2" Type="http://schemas.openxmlformats.org/officeDocument/2006/relationships/slideLayout" Target="../slideLayouts/slideLayout62.xml"/><Relationship Id="rId1" Type="http://schemas.openxmlformats.org/officeDocument/2006/relationships/slideLayout" Target="../slideLayouts/slideLayout61.xml"/><Relationship Id="rId6" Type="http://schemas.openxmlformats.org/officeDocument/2006/relationships/slideLayout" Target="../slideLayouts/slideLayout66.xml"/><Relationship Id="rId11" Type="http://schemas.openxmlformats.org/officeDocument/2006/relationships/slideLayout" Target="../slideLayouts/slideLayout71.xml"/><Relationship Id="rId5" Type="http://schemas.openxmlformats.org/officeDocument/2006/relationships/slideLayout" Target="../slideLayouts/slideLayout65.xml"/><Relationship Id="rId10" Type="http://schemas.openxmlformats.org/officeDocument/2006/relationships/slideLayout" Target="../slideLayouts/slideLayout70.xml"/><Relationship Id="rId4" Type="http://schemas.openxmlformats.org/officeDocument/2006/relationships/slideLayout" Target="../slideLayouts/slideLayout64.xml"/><Relationship Id="rId9" Type="http://schemas.openxmlformats.org/officeDocument/2006/relationships/slideLayout" Target="../slideLayouts/slideLayout69.xml"/><Relationship Id="rId14" Type="http://schemas.openxmlformats.org/officeDocument/2006/relationships/image" Target="../media/image1.png"/></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80.xml"/><Relationship Id="rId13" Type="http://schemas.openxmlformats.org/officeDocument/2006/relationships/theme" Target="../theme/theme7.xml"/><Relationship Id="rId3" Type="http://schemas.openxmlformats.org/officeDocument/2006/relationships/slideLayout" Target="../slideLayouts/slideLayout75.xml"/><Relationship Id="rId7" Type="http://schemas.openxmlformats.org/officeDocument/2006/relationships/slideLayout" Target="../slideLayouts/slideLayout79.xml"/><Relationship Id="rId12" Type="http://schemas.openxmlformats.org/officeDocument/2006/relationships/slideLayout" Target="../slideLayouts/slideLayout84.xml"/><Relationship Id="rId2" Type="http://schemas.openxmlformats.org/officeDocument/2006/relationships/slideLayout" Target="../slideLayouts/slideLayout74.xml"/><Relationship Id="rId1" Type="http://schemas.openxmlformats.org/officeDocument/2006/relationships/slideLayout" Target="../slideLayouts/slideLayout73.xml"/><Relationship Id="rId6" Type="http://schemas.openxmlformats.org/officeDocument/2006/relationships/slideLayout" Target="../slideLayouts/slideLayout78.xml"/><Relationship Id="rId11" Type="http://schemas.openxmlformats.org/officeDocument/2006/relationships/slideLayout" Target="../slideLayouts/slideLayout83.xml"/><Relationship Id="rId5" Type="http://schemas.openxmlformats.org/officeDocument/2006/relationships/slideLayout" Target="../slideLayouts/slideLayout77.xml"/><Relationship Id="rId10" Type="http://schemas.openxmlformats.org/officeDocument/2006/relationships/slideLayout" Target="../slideLayouts/slideLayout82.xml"/><Relationship Id="rId4" Type="http://schemas.openxmlformats.org/officeDocument/2006/relationships/slideLayout" Target="../slideLayouts/slideLayout76.xml"/><Relationship Id="rId9" Type="http://schemas.openxmlformats.org/officeDocument/2006/relationships/slideLayout" Target="../slideLayouts/slideLayout81.xml"/><Relationship Id="rId14" Type="http://schemas.openxmlformats.org/officeDocument/2006/relationships/image" Target="../media/image1.png"/></Relationships>
</file>

<file path=ppt/slideMasters/_rels/slideMaster8.xml.rels><?xml version="1.0" encoding="UTF-8" standalone="yes"?>
<Relationships xmlns="http://schemas.openxmlformats.org/package/2006/relationships"><Relationship Id="rId8" Type="http://schemas.openxmlformats.org/officeDocument/2006/relationships/slideLayout" Target="../slideLayouts/slideLayout92.xml"/><Relationship Id="rId13" Type="http://schemas.openxmlformats.org/officeDocument/2006/relationships/theme" Target="../theme/theme8.xml"/><Relationship Id="rId3" Type="http://schemas.openxmlformats.org/officeDocument/2006/relationships/slideLayout" Target="../slideLayouts/slideLayout87.xml"/><Relationship Id="rId7" Type="http://schemas.openxmlformats.org/officeDocument/2006/relationships/slideLayout" Target="../slideLayouts/slideLayout91.xml"/><Relationship Id="rId12" Type="http://schemas.openxmlformats.org/officeDocument/2006/relationships/slideLayout" Target="../slideLayouts/slideLayout96.xml"/><Relationship Id="rId2" Type="http://schemas.openxmlformats.org/officeDocument/2006/relationships/slideLayout" Target="../slideLayouts/slideLayout86.xml"/><Relationship Id="rId1" Type="http://schemas.openxmlformats.org/officeDocument/2006/relationships/slideLayout" Target="../slideLayouts/slideLayout85.xml"/><Relationship Id="rId6" Type="http://schemas.openxmlformats.org/officeDocument/2006/relationships/slideLayout" Target="../slideLayouts/slideLayout90.xml"/><Relationship Id="rId11" Type="http://schemas.openxmlformats.org/officeDocument/2006/relationships/slideLayout" Target="../slideLayouts/slideLayout95.xml"/><Relationship Id="rId5" Type="http://schemas.openxmlformats.org/officeDocument/2006/relationships/slideLayout" Target="../slideLayouts/slideLayout89.xml"/><Relationship Id="rId10" Type="http://schemas.openxmlformats.org/officeDocument/2006/relationships/slideLayout" Target="../slideLayouts/slideLayout94.xml"/><Relationship Id="rId4" Type="http://schemas.openxmlformats.org/officeDocument/2006/relationships/slideLayout" Target="../slideLayouts/slideLayout88.xml"/><Relationship Id="rId9" Type="http://schemas.openxmlformats.org/officeDocument/2006/relationships/slideLayout" Target="../slideLayouts/slideLayout93.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
        <p:cNvGrpSpPr/>
        <p:nvPr/>
      </p:nvGrpSpPr>
      <p:grpSpPr>
        <a:xfrm>
          <a:off x="0" y="0"/>
          <a:ext cx="0" cy="0"/>
          <a:chOff x="0" y="0"/>
          <a:chExt cx="0" cy="0"/>
        </a:xfrm>
      </p:grpSpPr>
      <p:pic>
        <p:nvPicPr>
          <p:cNvPr id="10" name="Google Shape;10;p17"/>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11" name="Google Shape;11;p17"/>
          <p:cNvGrpSpPr/>
          <p:nvPr/>
        </p:nvGrpSpPr>
        <p:grpSpPr>
          <a:xfrm>
            <a:off x="0" y="9865080"/>
            <a:ext cx="19009800" cy="809640"/>
            <a:chOff x="0" y="9865080"/>
            <a:chExt cx="19009800" cy="809640"/>
          </a:xfrm>
        </p:grpSpPr>
        <p:grpSp>
          <p:nvGrpSpPr>
            <p:cNvPr id="12" name="Google Shape;12;p17"/>
            <p:cNvGrpSpPr/>
            <p:nvPr/>
          </p:nvGrpSpPr>
          <p:grpSpPr>
            <a:xfrm>
              <a:off x="0" y="9865080"/>
              <a:ext cx="19009800" cy="809640"/>
              <a:chOff x="0" y="9865080"/>
              <a:chExt cx="19009800" cy="809640"/>
            </a:xfrm>
          </p:grpSpPr>
          <p:sp>
            <p:nvSpPr>
              <p:cNvPr id="13" name="Google Shape;13;p17"/>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14" name="Google Shape;14;p17"/>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15" name="Google Shape;15;p17"/>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16" name="Google Shape;16;p17"/>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17" name="Google Shape;17;p17"/>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18" name="Google Shape;18;p17"/>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19" name="Google Shape;19;p17"/>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20" name="Google Shape;20;p17"/>
            <p:cNvSpPr/>
            <p:nvPr/>
          </p:nvSpPr>
          <p:spPr>
            <a:xfrm>
              <a:off x="14227920" y="10028880"/>
              <a:ext cx="4781520" cy="51372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21" name="Google Shape;21;p1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22" name="Google Shape;22;p17"/>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1"/>
        <p:cNvGrpSpPr/>
        <p:nvPr/>
      </p:nvGrpSpPr>
      <p:grpSpPr>
        <a:xfrm>
          <a:off x="0" y="0"/>
          <a:ext cx="0" cy="0"/>
          <a:chOff x="0" y="0"/>
          <a:chExt cx="0" cy="0"/>
        </a:xfrm>
      </p:grpSpPr>
      <p:pic>
        <p:nvPicPr>
          <p:cNvPr id="72" name="Google Shape;72;p19"/>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73" name="Google Shape;73;p19"/>
          <p:cNvGrpSpPr/>
          <p:nvPr/>
        </p:nvGrpSpPr>
        <p:grpSpPr>
          <a:xfrm>
            <a:off x="0" y="9865080"/>
            <a:ext cx="19009800" cy="809640"/>
            <a:chOff x="0" y="9865080"/>
            <a:chExt cx="19009800" cy="809640"/>
          </a:xfrm>
        </p:grpSpPr>
        <p:grpSp>
          <p:nvGrpSpPr>
            <p:cNvPr id="74" name="Google Shape;74;p19"/>
            <p:cNvGrpSpPr/>
            <p:nvPr/>
          </p:nvGrpSpPr>
          <p:grpSpPr>
            <a:xfrm>
              <a:off x="0" y="9865080"/>
              <a:ext cx="19009800" cy="809640"/>
              <a:chOff x="0" y="9865080"/>
              <a:chExt cx="19009800" cy="809640"/>
            </a:xfrm>
          </p:grpSpPr>
          <p:sp>
            <p:nvSpPr>
              <p:cNvPr id="75" name="Google Shape;75;p19"/>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76" name="Google Shape;76;p19"/>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77" name="Google Shape;77;p19"/>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78" name="Google Shape;78;p19"/>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79" name="Google Shape;79;p19"/>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80" name="Google Shape;80;p19"/>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81" name="Google Shape;81;p19"/>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82" name="Google Shape;82;p19"/>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83" name="Google Shape;83;p1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84" name="Google Shape;84;p19"/>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3"/>
        <p:cNvGrpSpPr/>
        <p:nvPr/>
      </p:nvGrpSpPr>
      <p:grpSpPr>
        <a:xfrm>
          <a:off x="0" y="0"/>
          <a:ext cx="0" cy="0"/>
          <a:chOff x="0" y="0"/>
          <a:chExt cx="0" cy="0"/>
        </a:xfrm>
      </p:grpSpPr>
      <p:pic>
        <p:nvPicPr>
          <p:cNvPr id="134" name="Google Shape;134;p21"/>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135" name="Google Shape;135;p21"/>
          <p:cNvGrpSpPr/>
          <p:nvPr/>
        </p:nvGrpSpPr>
        <p:grpSpPr>
          <a:xfrm>
            <a:off x="0" y="9865080"/>
            <a:ext cx="19009800" cy="809640"/>
            <a:chOff x="0" y="9865080"/>
            <a:chExt cx="19009800" cy="809640"/>
          </a:xfrm>
        </p:grpSpPr>
        <p:grpSp>
          <p:nvGrpSpPr>
            <p:cNvPr id="136" name="Google Shape;136;p21"/>
            <p:cNvGrpSpPr/>
            <p:nvPr/>
          </p:nvGrpSpPr>
          <p:grpSpPr>
            <a:xfrm>
              <a:off x="0" y="9865080"/>
              <a:ext cx="19009800" cy="809640"/>
              <a:chOff x="0" y="9865080"/>
              <a:chExt cx="19009800" cy="809640"/>
            </a:xfrm>
          </p:grpSpPr>
          <p:sp>
            <p:nvSpPr>
              <p:cNvPr id="137" name="Google Shape;137;p21"/>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138" name="Google Shape;138;p21"/>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139" name="Google Shape;139;p21"/>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140" name="Google Shape;140;p21"/>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141" name="Google Shape;141;p21"/>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142" name="Google Shape;142;p21"/>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143" name="Google Shape;143;p21"/>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144" name="Google Shape;144;p21"/>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145" name="Google Shape;145;p2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146" name="Google Shape;146;p21"/>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5"/>
        <p:cNvGrpSpPr/>
        <p:nvPr/>
      </p:nvGrpSpPr>
      <p:grpSpPr>
        <a:xfrm>
          <a:off x="0" y="0"/>
          <a:ext cx="0" cy="0"/>
          <a:chOff x="0" y="0"/>
          <a:chExt cx="0" cy="0"/>
        </a:xfrm>
      </p:grpSpPr>
      <p:pic>
        <p:nvPicPr>
          <p:cNvPr id="196" name="Google Shape;196;p23"/>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197" name="Google Shape;197;p23"/>
          <p:cNvGrpSpPr/>
          <p:nvPr/>
        </p:nvGrpSpPr>
        <p:grpSpPr>
          <a:xfrm>
            <a:off x="0" y="9865080"/>
            <a:ext cx="19009800" cy="809640"/>
            <a:chOff x="0" y="9865080"/>
            <a:chExt cx="19009800" cy="809640"/>
          </a:xfrm>
        </p:grpSpPr>
        <p:grpSp>
          <p:nvGrpSpPr>
            <p:cNvPr id="198" name="Google Shape;198;p23"/>
            <p:cNvGrpSpPr/>
            <p:nvPr/>
          </p:nvGrpSpPr>
          <p:grpSpPr>
            <a:xfrm>
              <a:off x="0" y="9865080"/>
              <a:ext cx="19009800" cy="809640"/>
              <a:chOff x="0" y="9865080"/>
              <a:chExt cx="19009800" cy="809640"/>
            </a:xfrm>
          </p:grpSpPr>
          <p:sp>
            <p:nvSpPr>
              <p:cNvPr id="199" name="Google Shape;199;p23"/>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200" name="Google Shape;200;p23"/>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201" name="Google Shape;201;p23"/>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202" name="Google Shape;202;p23"/>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203" name="Google Shape;203;p23"/>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204" name="Google Shape;204;p23"/>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205" name="Google Shape;205;p23"/>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206" name="Google Shape;206;p23"/>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207" name="Google Shape;207;p2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208" name="Google Shape;208;p23"/>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 id="2147483694" r:id="rId7"/>
    <p:sldLayoutId id="2147483695" r:id="rId8"/>
    <p:sldLayoutId id="2147483696" r:id="rId9"/>
    <p:sldLayoutId id="2147483697" r:id="rId10"/>
    <p:sldLayoutId id="2147483698" r:id="rId11"/>
    <p:sldLayoutId id="214748369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7"/>
        <p:cNvGrpSpPr/>
        <p:nvPr/>
      </p:nvGrpSpPr>
      <p:grpSpPr>
        <a:xfrm>
          <a:off x="0" y="0"/>
          <a:ext cx="0" cy="0"/>
          <a:chOff x="0" y="0"/>
          <a:chExt cx="0" cy="0"/>
        </a:xfrm>
      </p:grpSpPr>
      <p:pic>
        <p:nvPicPr>
          <p:cNvPr id="258" name="Google Shape;258;p25"/>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259" name="Google Shape;259;p25"/>
          <p:cNvGrpSpPr/>
          <p:nvPr/>
        </p:nvGrpSpPr>
        <p:grpSpPr>
          <a:xfrm>
            <a:off x="0" y="9865080"/>
            <a:ext cx="19009800" cy="809640"/>
            <a:chOff x="0" y="9865080"/>
            <a:chExt cx="19009800" cy="809640"/>
          </a:xfrm>
        </p:grpSpPr>
        <p:grpSp>
          <p:nvGrpSpPr>
            <p:cNvPr id="260" name="Google Shape;260;p25"/>
            <p:cNvGrpSpPr/>
            <p:nvPr/>
          </p:nvGrpSpPr>
          <p:grpSpPr>
            <a:xfrm>
              <a:off x="0" y="9865080"/>
              <a:ext cx="19009800" cy="809640"/>
              <a:chOff x="0" y="9865080"/>
              <a:chExt cx="19009800" cy="809640"/>
            </a:xfrm>
          </p:grpSpPr>
          <p:sp>
            <p:nvSpPr>
              <p:cNvPr id="261" name="Google Shape;261;p25"/>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262" name="Google Shape;262;p25"/>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263" name="Google Shape;263;p25"/>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264" name="Google Shape;264;p25"/>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265" name="Google Shape;265;p25"/>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266" name="Google Shape;266;p25"/>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267" name="Google Shape;267;p25"/>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268" name="Google Shape;268;p25"/>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269" name="Google Shape;269;p2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270" name="Google Shape;270;p25"/>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701" r:id="rId1"/>
    <p:sldLayoutId id="2147483702" r:id="rId2"/>
    <p:sldLayoutId id="2147483703" r:id="rId3"/>
    <p:sldLayoutId id="2147483704" r:id="rId4"/>
    <p:sldLayoutId id="2147483705" r:id="rId5"/>
    <p:sldLayoutId id="2147483706" r:id="rId6"/>
    <p:sldLayoutId id="2147483707" r:id="rId7"/>
    <p:sldLayoutId id="2147483708" r:id="rId8"/>
    <p:sldLayoutId id="2147483709" r:id="rId9"/>
    <p:sldLayoutId id="2147483710" r:id="rId10"/>
    <p:sldLayoutId id="2147483711" r:id="rId11"/>
    <p:sldLayoutId id="2147483712"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19"/>
        <p:cNvGrpSpPr/>
        <p:nvPr/>
      </p:nvGrpSpPr>
      <p:grpSpPr>
        <a:xfrm>
          <a:off x="0" y="0"/>
          <a:ext cx="0" cy="0"/>
          <a:chOff x="0" y="0"/>
          <a:chExt cx="0" cy="0"/>
        </a:xfrm>
      </p:grpSpPr>
      <p:pic>
        <p:nvPicPr>
          <p:cNvPr id="320" name="Google Shape;320;p27"/>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321" name="Google Shape;321;p27"/>
          <p:cNvGrpSpPr/>
          <p:nvPr/>
        </p:nvGrpSpPr>
        <p:grpSpPr>
          <a:xfrm>
            <a:off x="0" y="9865080"/>
            <a:ext cx="19009800" cy="809640"/>
            <a:chOff x="0" y="9865080"/>
            <a:chExt cx="19009800" cy="809640"/>
          </a:xfrm>
        </p:grpSpPr>
        <p:grpSp>
          <p:nvGrpSpPr>
            <p:cNvPr id="322" name="Google Shape;322;p27"/>
            <p:cNvGrpSpPr/>
            <p:nvPr/>
          </p:nvGrpSpPr>
          <p:grpSpPr>
            <a:xfrm>
              <a:off x="0" y="9865080"/>
              <a:ext cx="19009800" cy="809640"/>
              <a:chOff x="0" y="9865080"/>
              <a:chExt cx="19009800" cy="809640"/>
            </a:xfrm>
          </p:grpSpPr>
          <p:sp>
            <p:nvSpPr>
              <p:cNvPr id="323" name="Google Shape;323;p27"/>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324" name="Google Shape;324;p27"/>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325" name="Google Shape;325;p27"/>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326" name="Google Shape;326;p27"/>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327" name="Google Shape;327;p27"/>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328" name="Google Shape;328;p27"/>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329" name="Google Shape;329;p27"/>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330" name="Google Shape;330;p27"/>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331" name="Google Shape;331;p2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332" name="Google Shape;332;p27"/>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1"/>
        <p:cNvGrpSpPr/>
        <p:nvPr/>
      </p:nvGrpSpPr>
      <p:grpSpPr>
        <a:xfrm>
          <a:off x="0" y="0"/>
          <a:ext cx="0" cy="0"/>
          <a:chOff x="0" y="0"/>
          <a:chExt cx="0" cy="0"/>
        </a:xfrm>
      </p:grpSpPr>
      <p:pic>
        <p:nvPicPr>
          <p:cNvPr id="382" name="Google Shape;382;p29"/>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383" name="Google Shape;383;p29"/>
          <p:cNvGrpSpPr/>
          <p:nvPr/>
        </p:nvGrpSpPr>
        <p:grpSpPr>
          <a:xfrm>
            <a:off x="0" y="9865080"/>
            <a:ext cx="19009800" cy="809640"/>
            <a:chOff x="0" y="9865080"/>
            <a:chExt cx="19009800" cy="809640"/>
          </a:xfrm>
        </p:grpSpPr>
        <p:grpSp>
          <p:nvGrpSpPr>
            <p:cNvPr id="384" name="Google Shape;384;p29"/>
            <p:cNvGrpSpPr/>
            <p:nvPr/>
          </p:nvGrpSpPr>
          <p:grpSpPr>
            <a:xfrm>
              <a:off x="0" y="9865080"/>
              <a:ext cx="19009800" cy="809640"/>
              <a:chOff x="0" y="9865080"/>
              <a:chExt cx="19009800" cy="809640"/>
            </a:xfrm>
          </p:grpSpPr>
          <p:sp>
            <p:nvSpPr>
              <p:cNvPr id="385" name="Google Shape;385;p29"/>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386" name="Google Shape;386;p29"/>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387" name="Google Shape;387;p29"/>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388" name="Google Shape;388;p29"/>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389" name="Google Shape;389;p29"/>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390" name="Google Shape;390;p29"/>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391" name="Google Shape;391;p29"/>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392" name="Google Shape;392;p29"/>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393" name="Google Shape;393;p2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394" name="Google Shape;394;p29"/>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36" r:id="rId10"/>
    <p:sldLayoutId id="2147483737" r:id="rId11"/>
    <p:sldLayoutId id="2147483738"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43"/>
        <p:cNvGrpSpPr/>
        <p:nvPr/>
      </p:nvGrpSpPr>
      <p:grpSpPr>
        <a:xfrm>
          <a:off x="0" y="0"/>
          <a:ext cx="0" cy="0"/>
          <a:chOff x="0" y="0"/>
          <a:chExt cx="0" cy="0"/>
        </a:xfrm>
      </p:grpSpPr>
      <p:pic>
        <p:nvPicPr>
          <p:cNvPr id="444" name="Google Shape;444;p31"/>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445" name="Google Shape;445;p31"/>
          <p:cNvGrpSpPr/>
          <p:nvPr/>
        </p:nvGrpSpPr>
        <p:grpSpPr>
          <a:xfrm>
            <a:off x="0" y="9865080"/>
            <a:ext cx="19009800" cy="809640"/>
            <a:chOff x="0" y="9865080"/>
            <a:chExt cx="19009800" cy="809640"/>
          </a:xfrm>
        </p:grpSpPr>
        <p:grpSp>
          <p:nvGrpSpPr>
            <p:cNvPr id="446" name="Google Shape;446;p31"/>
            <p:cNvGrpSpPr/>
            <p:nvPr/>
          </p:nvGrpSpPr>
          <p:grpSpPr>
            <a:xfrm>
              <a:off x="0" y="9865080"/>
              <a:ext cx="19009800" cy="809640"/>
              <a:chOff x="0" y="9865080"/>
              <a:chExt cx="19009800" cy="809640"/>
            </a:xfrm>
          </p:grpSpPr>
          <p:sp>
            <p:nvSpPr>
              <p:cNvPr id="447" name="Google Shape;447;p31"/>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448" name="Google Shape;448;p31"/>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449" name="Google Shape;449;p31"/>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450" name="Google Shape;450;p31"/>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451" name="Google Shape;451;p31"/>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452" name="Google Shape;452;p31"/>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453" name="Google Shape;453;p31"/>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454" name="Google Shape;454;p31"/>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455" name="Google Shape;455;p3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456" name="Google Shape;456;p31"/>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740" r:id="rId1"/>
    <p:sldLayoutId id="2147483741" r:id="rId2"/>
    <p:sldLayoutId id="2147483742" r:id="rId3"/>
    <p:sldLayoutId id="2147483743" r:id="rId4"/>
    <p:sldLayoutId id="2147483744" r:id="rId5"/>
    <p:sldLayoutId id="2147483745" r:id="rId6"/>
    <p:sldLayoutId id="2147483746" r:id="rId7"/>
    <p:sldLayoutId id="2147483747" r:id="rId8"/>
    <p:sldLayoutId id="2147483748" r:id="rId9"/>
    <p:sldLayoutId id="2147483749" r:id="rId10"/>
    <p:sldLayoutId id="2147483750" r:id="rId11"/>
    <p:sldLayoutId id="2147483751"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xml"/><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xml"/><Relationship Id="rId1" Type="http://schemas.openxmlformats.org/officeDocument/2006/relationships/slideLayout" Target="../slideLayouts/slideLayout25.xml"/></Relationships>
</file>

<file path=ppt/slides/_rels/slide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37.xml"/></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37.xml"/></Relationships>
</file>

<file path=ppt/slides/_rels/slide1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0.xml"/><Relationship Id="rId1" Type="http://schemas.openxmlformats.org/officeDocument/2006/relationships/slideLayout" Target="../slideLayouts/slideLayout37.xml"/></Relationships>
</file>

<file path=ppt/slides/_rels/slide1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1.xml"/><Relationship Id="rId1" Type="http://schemas.openxmlformats.org/officeDocument/2006/relationships/slideLayout" Target="../slideLayouts/slideLayout37.xml"/></Relationships>
</file>

<file path=ppt/slides/_rels/slide1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2.xml"/><Relationship Id="rId1" Type="http://schemas.openxmlformats.org/officeDocument/2006/relationships/slideLayout" Target="../slideLayouts/slideLayout37.xml"/></Relationships>
</file>

<file path=ppt/slides/_rels/slide1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3.xml"/><Relationship Id="rId1" Type="http://schemas.openxmlformats.org/officeDocument/2006/relationships/slideLayout" Target="../slideLayouts/slideLayout61.xml"/></Relationships>
</file>

<file path=ppt/slides/_rels/slide1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4.xml"/><Relationship Id="rId1" Type="http://schemas.openxmlformats.org/officeDocument/2006/relationships/slideLayout" Target="../slideLayouts/slideLayout49.xml"/></Relationships>
</file>

<file path=ppt/slides/_rels/slide1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5.xml"/><Relationship Id="rId1" Type="http://schemas.openxmlformats.org/officeDocument/2006/relationships/slideLayout" Target="../slideLayouts/slideLayout49.xml"/></Relationships>
</file>

<file path=ppt/slides/_rels/slide1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6.xml"/><Relationship Id="rId1" Type="http://schemas.openxmlformats.org/officeDocument/2006/relationships/slideLayout" Target="../slideLayouts/slideLayout49.xml"/></Relationships>
</file>

<file path=ppt/slides/_rels/slide1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7.xml"/><Relationship Id="rId1" Type="http://schemas.openxmlformats.org/officeDocument/2006/relationships/slideLayout" Target="../slideLayouts/slideLayout73.xml"/></Relationships>
</file>

<file path=ppt/slides/_rels/slide1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8.xml"/><Relationship Id="rId1" Type="http://schemas.openxmlformats.org/officeDocument/2006/relationships/slideLayout" Target="../slideLayouts/slideLayout49.xml"/></Relationships>
</file>

<file path=ppt/slides/_rels/slide1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9.xml"/><Relationship Id="rId1" Type="http://schemas.openxmlformats.org/officeDocument/2006/relationships/slideLayout" Target="../slideLayouts/slideLayout85.xml"/></Relationships>
</file>

<file path=ppt/slides/_rels/slide2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0.xml"/><Relationship Id="rId1" Type="http://schemas.openxmlformats.org/officeDocument/2006/relationships/slideLayout" Target="../slideLayouts/slideLayout85.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85.xml"/><Relationship Id="rId4" Type="http://schemas.openxmlformats.org/officeDocument/2006/relationships/image" Target="../media/image2.jpg"/></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85.xml"/><Relationship Id="rId4" Type="http://schemas.openxmlformats.org/officeDocument/2006/relationships/image" Target="../media/image2.jpg"/></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85.xml"/><Relationship Id="rId4" Type="http://schemas.openxmlformats.org/officeDocument/2006/relationships/image" Target="../media/image2.jpg"/></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4.xml"/><Relationship Id="rId1" Type="http://schemas.openxmlformats.org/officeDocument/2006/relationships/slideLayout" Target="../slideLayouts/slideLayout85.xml"/></Relationships>
</file>

<file path=ppt/slides/_rels/slide2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5.xml"/><Relationship Id="rId1" Type="http://schemas.openxmlformats.org/officeDocument/2006/relationships/slideLayout" Target="../slideLayouts/slideLayout85.xml"/></Relationships>
</file>

<file path=ppt/slides/_rels/slide2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6.xml"/><Relationship Id="rId1" Type="http://schemas.openxmlformats.org/officeDocument/2006/relationships/slideLayout" Target="../slideLayouts/slideLayout85.xml"/></Relationships>
</file>

<file path=ppt/slides/_rels/slide2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7.xml"/><Relationship Id="rId1" Type="http://schemas.openxmlformats.org/officeDocument/2006/relationships/slideLayout" Target="../slideLayouts/slideLayout85.xml"/></Relationships>
</file>

<file path=ppt/slides/_rels/slide2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8.xml"/><Relationship Id="rId1" Type="http://schemas.openxmlformats.org/officeDocument/2006/relationships/slideLayout" Target="../slideLayouts/slideLayout85.xml"/></Relationships>
</file>

<file path=ppt/slides/_rels/slide2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9.xml"/><Relationship Id="rId1" Type="http://schemas.openxmlformats.org/officeDocument/2006/relationships/slideLayout" Target="../slideLayouts/slideLayout85.xml"/></Relationships>
</file>

<file path=ppt/slides/_rels/slide3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0.xml"/><Relationship Id="rId1" Type="http://schemas.openxmlformats.org/officeDocument/2006/relationships/slideLayout" Target="../slideLayouts/slideLayout85.xml"/></Relationships>
</file>

<file path=ppt/slides/_rels/slide3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1.xml"/><Relationship Id="rId1" Type="http://schemas.openxmlformats.org/officeDocument/2006/relationships/slideLayout" Target="../slideLayouts/slideLayout85.xml"/><Relationship Id="rId4" Type="http://schemas.openxmlformats.org/officeDocument/2006/relationships/image" Target="../media/image7.png"/></Relationships>
</file>

<file path=ppt/slides/_rels/slide3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2.xml"/><Relationship Id="rId1" Type="http://schemas.openxmlformats.org/officeDocument/2006/relationships/slideLayout" Target="../slideLayouts/slideLayout85.xml"/><Relationship Id="rId4" Type="http://schemas.openxmlformats.org/officeDocument/2006/relationships/image" Target="../media/image8.png"/></Relationships>
</file>

<file path=ppt/slides/_rels/slide3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3.xml"/><Relationship Id="rId1" Type="http://schemas.openxmlformats.org/officeDocument/2006/relationships/slideLayout" Target="../slideLayouts/slideLayout85.xml"/><Relationship Id="rId4" Type="http://schemas.openxmlformats.org/officeDocument/2006/relationships/image" Target="../media/image9.png"/></Relationships>
</file>

<file path=ppt/slides/_rels/slide3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4.xml"/><Relationship Id="rId1" Type="http://schemas.openxmlformats.org/officeDocument/2006/relationships/slideLayout" Target="../slideLayouts/slideLayout85.xml"/><Relationship Id="rId4" Type="http://schemas.openxmlformats.org/officeDocument/2006/relationships/image" Target="../media/image10.png"/></Relationships>
</file>

<file path=ppt/slides/_rels/slide3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5.xml"/><Relationship Id="rId1" Type="http://schemas.openxmlformats.org/officeDocument/2006/relationships/slideLayout" Target="../slideLayouts/slideLayout85.xml"/><Relationship Id="rId4" Type="http://schemas.openxmlformats.org/officeDocument/2006/relationships/image" Target="../media/image10.png"/></Relationships>
</file>

<file path=ppt/slides/_rels/slide3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6.xml"/><Relationship Id="rId1" Type="http://schemas.openxmlformats.org/officeDocument/2006/relationships/slideLayout" Target="../slideLayouts/slideLayout85.xml"/><Relationship Id="rId4" Type="http://schemas.openxmlformats.org/officeDocument/2006/relationships/image" Target="../media/image11.png"/></Relationships>
</file>

<file path=ppt/slides/_rels/slide3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7.xml"/><Relationship Id="rId1" Type="http://schemas.openxmlformats.org/officeDocument/2006/relationships/slideLayout" Target="../slideLayouts/slideLayout85.xml"/><Relationship Id="rId4" Type="http://schemas.openxmlformats.org/officeDocument/2006/relationships/image" Target="../media/image12.png"/></Relationships>
</file>

<file path=ppt/slides/_rels/slide38.xml.rels><?xml version="1.0" encoding="UTF-8" standalone="yes"?>
<Relationships xmlns="http://schemas.openxmlformats.org/package/2006/relationships"><Relationship Id="rId3" Type="http://schemas.openxmlformats.org/officeDocument/2006/relationships/hyperlink" Target="https://www2.cloud.editorialmanager.com/jclepro/default2.aspx" TargetMode="External"/><Relationship Id="rId7" Type="http://schemas.openxmlformats.org/officeDocument/2006/relationships/image" Target="../media/image2.jpg"/><Relationship Id="rId2" Type="http://schemas.openxmlformats.org/officeDocument/2006/relationships/notesSlide" Target="../notesSlides/notesSlide38.xml"/><Relationship Id="rId1" Type="http://schemas.openxmlformats.org/officeDocument/2006/relationships/slideLayout" Target="../slideLayouts/slideLayout85.xml"/><Relationship Id="rId6" Type="http://schemas.openxmlformats.org/officeDocument/2006/relationships/hyperlink" Target="https://www2.cloud.editorialmanager.com/ifset/default2.aspx" TargetMode="External"/><Relationship Id="rId5" Type="http://schemas.openxmlformats.org/officeDocument/2006/relationships/hyperlink" Target="https://www2.cloud.editorialmanager.com/wm/default2.aspx" TargetMode="External"/><Relationship Id="rId4" Type="http://schemas.openxmlformats.org/officeDocument/2006/relationships/hyperlink" Target="https://www2.cloud.editorialmanager.com/tifs/default2.aspx" TargetMode="External"/></Relationships>
</file>

<file path=ppt/slides/_rels/slide3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9.xml"/><Relationship Id="rId1" Type="http://schemas.openxmlformats.org/officeDocument/2006/relationships/slideLayout" Target="../slideLayouts/slideLayout85.xml"/></Relationships>
</file>

<file path=ppt/slides/_rels/slide40.xml.rels><?xml version="1.0" encoding="UTF-8" standalone="yes"?>
<Relationships xmlns="http://schemas.openxmlformats.org/package/2006/relationships"><Relationship Id="rId8" Type="http://schemas.openxmlformats.org/officeDocument/2006/relationships/image" Target="../media/image2.jpg"/><Relationship Id="rId3" Type="http://schemas.openxmlformats.org/officeDocument/2006/relationships/hyperlink" Target="https://sjcjycl.cn/article/view-2023/pdf/02_1628.pdf" TargetMode="External"/><Relationship Id="rId7" Type="http://schemas.openxmlformats.org/officeDocument/2006/relationships/hyperlink" Target="https://www.ijraset.com/research-paper/design-of-web-app-for-online-food-services" TargetMode="External"/><Relationship Id="rId2" Type="http://schemas.openxmlformats.org/officeDocument/2006/relationships/notesSlide" Target="../notesSlides/notesSlide40.xml"/><Relationship Id="rId1" Type="http://schemas.openxmlformats.org/officeDocument/2006/relationships/slideLayout" Target="../slideLayouts/slideLayout85.xml"/><Relationship Id="rId6" Type="http://schemas.openxmlformats.org/officeDocument/2006/relationships/hyperlink" Target="https://ieeexplore.ieee.org/document/9609733" TargetMode="External"/><Relationship Id="rId5" Type="http://schemas.openxmlformats.org/officeDocument/2006/relationships/hyperlink" Target="https://www.researchgate.net/publication/361178168_Food_Ordering_website_Cooked_with_care_developed_using_MERN_stack" TargetMode="External"/><Relationship Id="rId4" Type="http://schemas.openxmlformats.org/officeDocument/2006/relationships/hyperlink" Target="https://ieeexplore.ieee.org/document/10183615" TargetMode="External"/></Relationships>
</file>

<file path=ppt/slides/_rels/slide4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71"/>
        <p:cNvGrpSpPr/>
        <p:nvPr/>
      </p:nvGrpSpPr>
      <p:grpSpPr>
        <a:xfrm>
          <a:off x="0" y="0"/>
          <a:ext cx="0" cy="0"/>
          <a:chOff x="0" y="0"/>
          <a:chExt cx="0" cy="0"/>
        </a:xfrm>
      </p:grpSpPr>
      <p:sp>
        <p:nvSpPr>
          <p:cNvPr id="573" name="Google Shape;573;p1"/>
          <p:cNvSpPr/>
          <p:nvPr/>
        </p:nvSpPr>
        <p:spPr>
          <a:xfrm>
            <a:off x="1775640" y="4199226"/>
            <a:ext cx="14812920" cy="1133543"/>
          </a:xfrm>
          <a:prstGeom prst="rect">
            <a:avLst/>
          </a:prstGeom>
          <a:noFill/>
          <a:ln>
            <a:noFill/>
          </a:ln>
        </p:spPr>
        <p:txBody>
          <a:bodyPr spcFirstLastPara="1" wrap="square" lIns="0" tIns="12600" rIns="0" bIns="0" anchor="t" anchorCtr="0">
            <a:spAutoFit/>
          </a:bodyPr>
          <a:lstStyle/>
          <a:p>
            <a:pPr marL="1222920" indent="-1211040" algn="ctr">
              <a:lnSpc>
                <a:spcPct val="100000"/>
              </a:lnSpc>
              <a:spcBef>
                <a:spcPts val="99"/>
              </a:spcBef>
              <a:buNone/>
              <a:tabLst>
                <a:tab pos="0" algn="l"/>
              </a:tabLst>
            </a:pPr>
            <a:r>
              <a:rPr lang="en-US" sz="7200" b="1" spc="-7" dirty="0">
                <a:solidFill>
                  <a:srgbClr val="00318B"/>
                </a:solidFill>
                <a:latin typeface="Calibri"/>
              </a:rPr>
              <a:t>Taste of Home</a:t>
            </a:r>
            <a:endParaRPr lang="en-US" sz="7200" b="1" strike="noStrike" spc="-1" dirty="0">
              <a:latin typeface="Arial"/>
            </a:endParaRPr>
          </a:p>
        </p:txBody>
      </p:sp>
      <p:sp>
        <p:nvSpPr>
          <p:cNvPr id="574" name="Google Shape;574;p1"/>
          <p:cNvSpPr/>
          <p:nvPr/>
        </p:nvSpPr>
        <p:spPr>
          <a:xfrm rot="10800000" flipH="1">
            <a:off x="2600810" y="4982061"/>
            <a:ext cx="13807080" cy="273600"/>
          </a:xfrm>
          <a:custGeom>
            <a:avLst/>
            <a:gdLst/>
            <a:ahLst/>
            <a:cxnLst/>
            <a:rect l="l" t="t" r="r" b="b"/>
            <a:pathLst>
              <a:path w="4686300" h="120000" extrusionOk="0">
                <a:moveTo>
                  <a:pt x="0" y="0"/>
                </a:moveTo>
                <a:lnTo>
                  <a:pt x="4686300" y="0"/>
                </a:lnTo>
              </a:path>
            </a:pathLst>
          </a:custGeom>
          <a:noFill/>
          <a:ln w="9525" cap="flat" cmpd="sng">
            <a:solidFill>
              <a:srgbClr val="002E8E"/>
            </a:solidFill>
            <a:prstDash val="solid"/>
            <a:round/>
            <a:headEnd type="none" w="sm" len="sm"/>
            <a:tailEnd type="none" w="sm" len="sm"/>
          </a:ln>
        </p:spPr>
      </p:sp>
      <p:sp>
        <p:nvSpPr>
          <p:cNvPr id="575" name="Google Shape;575;p1"/>
          <p:cNvSpPr/>
          <p:nvPr/>
        </p:nvSpPr>
        <p:spPr>
          <a:xfrm>
            <a:off x="183960" y="7299360"/>
            <a:ext cx="7496640" cy="1323384"/>
          </a:xfrm>
          <a:prstGeom prst="rect">
            <a:avLst/>
          </a:prstGeom>
          <a:noFill/>
          <a:ln>
            <a:noFill/>
          </a:ln>
        </p:spPr>
        <p:txBody>
          <a:bodyPr spcFirstLastPara="1" wrap="square" lIns="0" tIns="5025" rIns="0" bIns="0" anchor="t" anchorCtr="0">
            <a:spAutoFit/>
          </a:bodyPr>
          <a:lstStyle/>
          <a:p>
            <a:pPr>
              <a:lnSpc>
                <a:spcPct val="150000"/>
              </a:lnSpc>
              <a:spcBef>
                <a:spcPts val="99"/>
              </a:spcBef>
              <a:buNone/>
              <a:tabLst>
                <a:tab pos="128160" algn="l"/>
              </a:tabLst>
            </a:pPr>
            <a:r>
              <a:rPr lang="en-US" sz="2800" b="1" strike="noStrike" spc="-1" dirty="0">
                <a:solidFill>
                  <a:srgbClr val="231F20"/>
                </a:solidFill>
                <a:latin typeface="Calibri"/>
                <a:ea typeface="DejaVu Sans"/>
              </a:rPr>
              <a:t>Name	</a:t>
            </a:r>
            <a:r>
              <a:rPr lang="en-US" sz="2800" b="1" spc="-1" dirty="0">
                <a:solidFill>
                  <a:srgbClr val="231F20"/>
                </a:solidFill>
                <a:latin typeface="Calibri"/>
                <a:ea typeface="DejaVu Sans"/>
              </a:rPr>
              <a:t> </a:t>
            </a:r>
            <a:r>
              <a:rPr lang="en-US" sz="2800" b="1" strike="noStrike" spc="-1" dirty="0">
                <a:solidFill>
                  <a:srgbClr val="231F20"/>
                </a:solidFill>
                <a:latin typeface="Calibri"/>
                <a:ea typeface="DejaVu Sans"/>
              </a:rPr>
              <a:t>: Gandhi Nisarg Ketan</a:t>
            </a:r>
            <a:endParaRPr lang="en-US" sz="2800" b="0" strike="noStrike" spc="-1" dirty="0">
              <a:latin typeface="Arial"/>
            </a:endParaRPr>
          </a:p>
          <a:p>
            <a:pPr>
              <a:lnSpc>
                <a:spcPct val="150000"/>
              </a:lnSpc>
              <a:spcBef>
                <a:spcPts val="99"/>
              </a:spcBef>
              <a:buNone/>
              <a:tabLst>
                <a:tab pos="128160" algn="l"/>
              </a:tabLst>
            </a:pPr>
            <a:r>
              <a:rPr lang="en-US" sz="2800" b="1" strike="noStrike" spc="-1" dirty="0">
                <a:solidFill>
                  <a:srgbClr val="231F20"/>
                </a:solidFill>
                <a:latin typeface="Calibri"/>
                <a:ea typeface="DejaVu Sans"/>
              </a:rPr>
              <a:t>SRN</a:t>
            </a:r>
            <a:r>
              <a:rPr lang="en-US" sz="2800" b="1" spc="-1" dirty="0">
                <a:solidFill>
                  <a:srgbClr val="231F20"/>
                </a:solidFill>
                <a:latin typeface="Calibri"/>
                <a:ea typeface="DejaVu Sans"/>
              </a:rPr>
              <a:t> </a:t>
            </a:r>
            <a:r>
              <a:rPr lang="en-US" sz="2800" b="1" strike="noStrike" spc="-1" dirty="0">
                <a:solidFill>
                  <a:srgbClr val="231F20"/>
                </a:solidFill>
                <a:latin typeface="Calibri"/>
                <a:ea typeface="DejaVu Sans"/>
              </a:rPr>
              <a:t>:</a:t>
            </a:r>
            <a:r>
              <a:rPr lang="en-US" sz="2800" b="1" spc="-1" dirty="0">
                <a:solidFill>
                  <a:srgbClr val="231F20"/>
                </a:solidFill>
                <a:latin typeface="Calibri"/>
                <a:ea typeface="DejaVu Sans"/>
              </a:rPr>
              <a:t> </a:t>
            </a:r>
            <a:r>
              <a:rPr lang="en-US" sz="2800" b="1" strike="noStrike" spc="-1" dirty="0">
                <a:solidFill>
                  <a:srgbClr val="231F20"/>
                </a:solidFill>
                <a:latin typeface="Calibri"/>
                <a:ea typeface="DejaVu Sans"/>
              </a:rPr>
              <a:t>PES1PG22CA070</a:t>
            </a:r>
            <a:endParaRPr lang="en-US" sz="2800" b="0" strike="noStrike" spc="-1" dirty="0">
              <a:latin typeface="Arial"/>
            </a:endParaRPr>
          </a:p>
        </p:txBody>
      </p:sp>
      <p:sp>
        <p:nvSpPr>
          <p:cNvPr id="576" name="Google Shape;576;p1"/>
          <p:cNvSpPr/>
          <p:nvPr/>
        </p:nvSpPr>
        <p:spPr>
          <a:xfrm>
            <a:off x="0" y="6257880"/>
            <a:ext cx="4780080" cy="82728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577" name="Google Shape;577;p1"/>
          <p:cNvSpPr/>
          <p:nvPr/>
        </p:nvSpPr>
        <p:spPr>
          <a:xfrm>
            <a:off x="0" y="6368040"/>
            <a:ext cx="4780080" cy="560880"/>
          </a:xfrm>
          <a:prstGeom prst="rect">
            <a:avLst/>
          </a:prstGeom>
          <a:noFill/>
          <a:ln>
            <a:noFill/>
          </a:ln>
        </p:spPr>
        <p:txBody>
          <a:bodyPr spcFirstLastPara="1" wrap="square" lIns="0" tIns="12600" rIns="0" bIns="0" anchor="t" anchorCtr="0">
            <a:spAutoFit/>
          </a:bodyPr>
          <a:lstStyle/>
          <a:p>
            <a:pPr marL="12600" marR="0" lvl="0" indent="0" algn="ctr"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Student Details</a:t>
            </a:r>
            <a:endParaRPr sz="3600" b="0" i="0" u="none" strike="noStrike" cap="none">
              <a:latin typeface="Arial"/>
              <a:ea typeface="Arial"/>
              <a:cs typeface="Arial"/>
              <a:sym typeface="Arial"/>
            </a:endParaRPr>
          </a:p>
        </p:txBody>
      </p:sp>
      <p:grpSp>
        <p:nvGrpSpPr>
          <p:cNvPr id="578" name="Google Shape;578;p1"/>
          <p:cNvGrpSpPr/>
          <p:nvPr/>
        </p:nvGrpSpPr>
        <p:grpSpPr>
          <a:xfrm>
            <a:off x="14249160" y="6249240"/>
            <a:ext cx="4780440" cy="827280"/>
            <a:chOff x="14249160" y="6249240"/>
            <a:chExt cx="4780440" cy="827280"/>
          </a:xfrm>
        </p:grpSpPr>
        <p:sp>
          <p:nvSpPr>
            <p:cNvPr id="579" name="Google Shape;579;p1"/>
            <p:cNvSpPr/>
            <p:nvPr/>
          </p:nvSpPr>
          <p:spPr>
            <a:xfrm flipH="1">
              <a:off x="14704560" y="6249240"/>
              <a:ext cx="4325040" cy="8272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580" name="Google Shape;580;p1"/>
            <p:cNvSpPr/>
            <p:nvPr/>
          </p:nvSpPr>
          <p:spPr>
            <a:xfrm flipH="1">
              <a:off x="14249160" y="6249240"/>
              <a:ext cx="787320" cy="8272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581" name="Google Shape;581;p1"/>
          <p:cNvSpPr/>
          <p:nvPr/>
        </p:nvSpPr>
        <p:spPr>
          <a:xfrm flipH="1">
            <a:off x="14249520" y="6369480"/>
            <a:ext cx="4744800" cy="560880"/>
          </a:xfrm>
          <a:prstGeom prst="rect">
            <a:avLst/>
          </a:prstGeom>
          <a:noFill/>
          <a:ln>
            <a:noFill/>
          </a:ln>
        </p:spPr>
        <p:txBody>
          <a:bodyPr spcFirstLastPara="1" wrap="square" lIns="0" tIns="12600" rIns="0" bIns="0" anchor="t" anchorCtr="0">
            <a:spAutoFit/>
          </a:bodyPr>
          <a:lstStyle/>
          <a:p>
            <a:pPr marL="12600" marR="0" lvl="0" indent="0" algn="ctr"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Guide Details</a:t>
            </a:r>
            <a:endParaRPr sz="3600" b="0" i="0" u="none" strike="noStrike" cap="none">
              <a:latin typeface="Arial"/>
              <a:ea typeface="Arial"/>
              <a:cs typeface="Arial"/>
              <a:sym typeface="Arial"/>
            </a:endParaRPr>
          </a:p>
        </p:txBody>
      </p:sp>
      <p:sp>
        <p:nvSpPr>
          <p:cNvPr id="582" name="Google Shape;582;p1"/>
          <p:cNvSpPr/>
          <p:nvPr/>
        </p:nvSpPr>
        <p:spPr>
          <a:xfrm>
            <a:off x="14621553" y="7032384"/>
            <a:ext cx="4388760" cy="2628869"/>
          </a:xfrm>
          <a:prstGeom prst="rect">
            <a:avLst/>
          </a:prstGeom>
          <a:noFill/>
          <a:ln>
            <a:noFill/>
          </a:ln>
        </p:spPr>
        <p:txBody>
          <a:bodyPr spcFirstLastPara="1" wrap="square" lIns="0" tIns="5025" rIns="0" bIns="0" anchor="t" anchorCtr="0">
            <a:spAutoFit/>
          </a:bodyPr>
          <a:lstStyle/>
          <a:p>
            <a:pPr algn="ctr">
              <a:lnSpc>
                <a:spcPct val="150000"/>
              </a:lnSpc>
              <a:spcBef>
                <a:spcPts val="99"/>
              </a:spcBef>
              <a:buNone/>
              <a:tabLst>
                <a:tab pos="128160" algn="l"/>
              </a:tabLst>
            </a:pPr>
            <a:r>
              <a:rPr lang="en-US" sz="2800" b="1" spc="-1" dirty="0">
                <a:solidFill>
                  <a:srgbClr val="231F20"/>
                </a:solidFill>
                <a:latin typeface="Calibri"/>
              </a:rPr>
              <a:t>Ms. Ganga </a:t>
            </a:r>
            <a:r>
              <a:rPr lang="en-US" sz="2800" b="1" spc="-1" dirty="0" err="1">
                <a:solidFill>
                  <a:srgbClr val="231F20"/>
                </a:solidFill>
                <a:latin typeface="Calibri"/>
              </a:rPr>
              <a:t>Gudi</a:t>
            </a:r>
            <a:r>
              <a:rPr lang="en-US" sz="2800" b="1" spc="-1" dirty="0">
                <a:solidFill>
                  <a:srgbClr val="231F20"/>
                </a:solidFill>
                <a:latin typeface="Calibri"/>
              </a:rPr>
              <a:t>,</a:t>
            </a:r>
          </a:p>
          <a:p>
            <a:pPr algn="ctr">
              <a:lnSpc>
                <a:spcPct val="150000"/>
              </a:lnSpc>
              <a:spcBef>
                <a:spcPts val="99"/>
              </a:spcBef>
              <a:buNone/>
              <a:tabLst>
                <a:tab pos="128160" algn="l"/>
              </a:tabLst>
            </a:pPr>
            <a:r>
              <a:rPr lang="en-US" sz="2800" b="1" strike="noStrike" spc="-1" dirty="0">
                <a:solidFill>
                  <a:srgbClr val="231F20"/>
                </a:solidFill>
                <a:latin typeface="Calibri"/>
              </a:rPr>
              <a:t>Assistant Professor</a:t>
            </a:r>
          </a:p>
          <a:p>
            <a:pPr algn="ctr">
              <a:lnSpc>
                <a:spcPct val="150000"/>
              </a:lnSpc>
              <a:spcBef>
                <a:spcPts val="99"/>
              </a:spcBef>
              <a:buNone/>
              <a:tabLst>
                <a:tab pos="128160" algn="l"/>
              </a:tabLst>
            </a:pPr>
            <a:r>
              <a:rPr lang="en-US" sz="2800" b="1" spc="-1" dirty="0">
                <a:solidFill>
                  <a:srgbClr val="231F20"/>
                </a:solidFill>
                <a:latin typeface="Calibri"/>
              </a:rPr>
              <a:t>Department of Computer Applications</a:t>
            </a:r>
            <a:endParaRPr lang="en-US" sz="2800" b="0" strike="noStrike" spc="-1" dirty="0">
              <a:latin typeface="Arial"/>
            </a:endParaRPr>
          </a:p>
        </p:txBody>
      </p:sp>
      <p:sp>
        <p:nvSpPr>
          <p:cNvPr id="2" name="Rectangle 1">
            <a:extLst>
              <a:ext uri="{FF2B5EF4-FFF2-40B4-BE49-F238E27FC236}">
                <a16:creationId xmlns:a16="http://schemas.microsoft.com/office/drawing/2014/main" id="{A8ED01FF-FDC2-EC52-E8E5-F469F03691AA}"/>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a:extLst>
              <a:ext uri="{FF2B5EF4-FFF2-40B4-BE49-F238E27FC236}">
                <a16:creationId xmlns:a16="http://schemas.microsoft.com/office/drawing/2014/main" id="{DCE10B51-6092-1530-1E5F-5FE2152881F7}"/>
              </a:ext>
            </a:extLst>
          </p:cNvPr>
          <p:cNvPicPr>
            <a:picLocks noChangeAspect="1"/>
          </p:cNvPicPr>
          <p:nvPr/>
        </p:nvPicPr>
        <p:blipFill>
          <a:blip r:embed="rId3"/>
          <a:stretch>
            <a:fillRect/>
          </a:stretch>
        </p:blipFill>
        <p:spPr>
          <a:xfrm>
            <a:off x="14621553" y="219835"/>
            <a:ext cx="4231706" cy="245630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89"/>
        <p:cNvGrpSpPr/>
        <p:nvPr/>
      </p:nvGrpSpPr>
      <p:grpSpPr>
        <a:xfrm>
          <a:off x="0" y="0"/>
          <a:ext cx="0" cy="0"/>
          <a:chOff x="0" y="0"/>
          <a:chExt cx="0" cy="0"/>
        </a:xfrm>
      </p:grpSpPr>
      <p:grpSp>
        <p:nvGrpSpPr>
          <p:cNvPr id="590" name="Google Shape;590;p2"/>
          <p:cNvGrpSpPr/>
          <p:nvPr/>
        </p:nvGrpSpPr>
        <p:grpSpPr>
          <a:xfrm>
            <a:off x="0" y="839520"/>
            <a:ext cx="5120280" cy="1037880"/>
            <a:chOff x="0" y="839520"/>
            <a:chExt cx="5120280" cy="1037880"/>
          </a:xfrm>
        </p:grpSpPr>
        <p:sp>
          <p:nvSpPr>
            <p:cNvPr id="591" name="Google Shape;591;p2"/>
            <p:cNvSpPr/>
            <p:nvPr/>
          </p:nvSpPr>
          <p:spPr>
            <a:xfrm>
              <a:off x="0" y="839520"/>
              <a:ext cx="46839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592" name="Google Shape;592;p2"/>
            <p:cNvSpPr/>
            <p:nvPr/>
          </p:nvSpPr>
          <p:spPr>
            <a:xfrm>
              <a:off x="4234320" y="839520"/>
              <a:ext cx="88596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593" name="Google Shape;593;p2"/>
          <p:cNvSpPr/>
          <p:nvPr/>
        </p:nvSpPr>
        <p:spPr>
          <a:xfrm>
            <a:off x="114120" y="957600"/>
            <a:ext cx="4802760" cy="68256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Abstract</a:t>
            </a:r>
            <a:endParaRPr sz="4400" b="0" i="0" u="none" strike="noStrike" cap="none">
              <a:latin typeface="Arial"/>
              <a:ea typeface="Arial"/>
              <a:cs typeface="Arial"/>
              <a:sym typeface="Arial"/>
            </a:endParaRPr>
          </a:p>
        </p:txBody>
      </p:sp>
      <p:sp>
        <p:nvSpPr>
          <p:cNvPr id="595" name="Google Shape;595;p2"/>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2"/>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2"/>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solidFill>
                  <a:schemeClr val="lt1"/>
                </a:solidFill>
                <a:latin typeface="Calibri"/>
                <a:ea typeface="Calibri"/>
                <a:cs typeface="Calibri"/>
                <a:sym typeface="Calibri"/>
              </a:rPr>
              <a:t>    Semester III</a:t>
            </a:r>
            <a:endParaRPr sz="3000" b="1" dirty="0">
              <a:solidFill>
                <a:schemeClr val="lt1"/>
              </a:solidFill>
              <a:latin typeface="Calibri"/>
              <a:ea typeface="Calibri"/>
              <a:cs typeface="Calibri"/>
              <a:sym typeface="Calibri"/>
            </a:endParaRPr>
          </a:p>
        </p:txBody>
      </p:sp>
      <p:sp>
        <p:nvSpPr>
          <p:cNvPr id="598" name="Google Shape;598;p2"/>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dirty="0">
                <a:solidFill>
                  <a:schemeClr val="lt1"/>
                </a:solidFill>
                <a:latin typeface="Calibri"/>
                <a:ea typeface="Calibri"/>
                <a:cs typeface="Calibri"/>
                <a:sym typeface="Calibri"/>
              </a:rPr>
              <a:t>   UQ21CA761B Project Work Phase II</a:t>
            </a:r>
            <a:endParaRPr sz="2300" b="1" dirty="0">
              <a:solidFill>
                <a:schemeClr val="lt1"/>
              </a:solidFill>
              <a:latin typeface="Calibri"/>
              <a:ea typeface="Calibri"/>
              <a:cs typeface="Calibri"/>
              <a:sym typeface="Calibri"/>
            </a:endParaRPr>
          </a:p>
        </p:txBody>
      </p:sp>
      <p:sp>
        <p:nvSpPr>
          <p:cNvPr id="12" name="object 10">
            <a:extLst>
              <a:ext uri="{FF2B5EF4-FFF2-40B4-BE49-F238E27FC236}">
                <a16:creationId xmlns:a16="http://schemas.microsoft.com/office/drawing/2014/main" id="{5AF57AC2-A81E-152A-D935-F224C041D213}"/>
              </a:ext>
            </a:extLst>
          </p:cNvPr>
          <p:cNvSpPr/>
          <p:nvPr/>
        </p:nvSpPr>
        <p:spPr>
          <a:xfrm>
            <a:off x="114120" y="2575560"/>
            <a:ext cx="16604160" cy="4343777"/>
          </a:xfrm>
          <a:prstGeom prst="rect">
            <a:avLst/>
          </a:prstGeom>
          <a:noFill/>
          <a:ln w="0">
            <a:noFill/>
          </a:ln>
        </p:spPr>
        <p:style>
          <a:lnRef idx="0">
            <a:scrgbClr r="0" g="0" b="0"/>
          </a:lnRef>
          <a:fillRef idx="0">
            <a:scrgbClr r="0" g="0" b="0"/>
          </a:fillRef>
          <a:effectRef idx="0">
            <a:scrgbClr r="0" g="0" b="0"/>
          </a:effectRef>
          <a:fontRef idx="minor"/>
        </p:style>
        <p:txBody>
          <a:bodyPr wrap="square" lIns="0" tIns="5040" rIns="0" bIns="0" anchor="t">
            <a:spAutoFit/>
          </a:bodyPr>
          <a:lstStyle/>
          <a:p>
            <a:pPr marL="457200" indent="-457200" algn="just">
              <a:lnSpc>
                <a:spcPct val="150000"/>
              </a:lnSpc>
              <a:buFont typeface="Arial" panose="020B0604020202020204" pitchFamily="34" charset="0"/>
              <a:buChar char="•"/>
            </a:pP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Taste of Home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is a MERN Stack Web marketplace connecting local food producers with consumers, empowering home cooks to offer their specialties. </a:t>
            </a:r>
          </a:p>
          <a:p>
            <a:pPr marL="457200" indent="-457200" algn="just">
              <a:lnSpc>
                <a:spcPct val="150000"/>
              </a:lnSpc>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Key features include user profiles, detailed listings of items, messaging, rating system and secure payment system.</a:t>
            </a:r>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457200" indent="-457200" algn="just">
              <a:lnSpc>
                <a:spcPct val="150000"/>
              </a:lnSpc>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platform aims to reduce food waste and contribute to local economies, redefining the digital experience of sharing homemade delights.</a:t>
            </a:r>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
        <p:nvSpPr>
          <p:cNvPr id="2" name="Rectangle 1">
            <a:extLst>
              <a:ext uri="{FF2B5EF4-FFF2-40B4-BE49-F238E27FC236}">
                <a16:creationId xmlns:a16="http://schemas.microsoft.com/office/drawing/2014/main" id="{424E0050-3136-C91B-4FAE-0F3C8E818333}"/>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9590B9B9-141C-4A3D-7068-26B31DD1D87B}"/>
              </a:ext>
            </a:extLst>
          </p:cNvPr>
          <p:cNvPicPr>
            <a:picLocks noChangeAspect="1"/>
          </p:cNvPicPr>
          <p:nvPr/>
        </p:nvPicPr>
        <p:blipFill>
          <a:blip r:embed="rId3"/>
          <a:stretch>
            <a:fillRect/>
          </a:stretch>
        </p:blipFill>
        <p:spPr>
          <a:xfrm>
            <a:off x="14621553" y="219835"/>
            <a:ext cx="4231706" cy="245630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02"/>
        <p:cNvGrpSpPr/>
        <p:nvPr/>
      </p:nvGrpSpPr>
      <p:grpSpPr>
        <a:xfrm>
          <a:off x="0" y="0"/>
          <a:ext cx="0" cy="0"/>
          <a:chOff x="0" y="0"/>
          <a:chExt cx="0" cy="0"/>
        </a:xfrm>
      </p:grpSpPr>
      <p:sp>
        <p:nvSpPr>
          <p:cNvPr id="606" name="Google Shape;606;p3"/>
          <p:cNvSpPr/>
          <p:nvPr/>
        </p:nvSpPr>
        <p:spPr>
          <a:xfrm>
            <a:off x="114120" y="957600"/>
            <a:ext cx="4802760" cy="68256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Problem Definition</a:t>
            </a:r>
            <a:endParaRPr sz="4400" b="0" i="0" u="none" strike="noStrike" cap="none">
              <a:latin typeface="Arial"/>
              <a:ea typeface="Arial"/>
              <a:cs typeface="Arial"/>
              <a:sym typeface="Arial"/>
            </a:endParaRPr>
          </a:p>
        </p:txBody>
      </p:sp>
      <p:sp>
        <p:nvSpPr>
          <p:cNvPr id="608" name="Google Shape;608;p3"/>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3"/>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3"/>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solidFill>
                  <a:schemeClr val="lt1"/>
                </a:solidFill>
                <a:latin typeface="Calibri"/>
                <a:ea typeface="Calibri"/>
                <a:cs typeface="Calibri"/>
                <a:sym typeface="Calibri"/>
              </a:rPr>
              <a:t>    Semester III</a:t>
            </a:r>
            <a:endParaRPr sz="3000" b="1" dirty="0">
              <a:solidFill>
                <a:schemeClr val="lt1"/>
              </a:solidFill>
              <a:latin typeface="Calibri"/>
              <a:ea typeface="Calibri"/>
              <a:cs typeface="Calibri"/>
              <a:sym typeface="Calibri"/>
            </a:endParaRPr>
          </a:p>
        </p:txBody>
      </p:sp>
      <p:sp>
        <p:nvSpPr>
          <p:cNvPr id="611" name="Google Shape;611;p3"/>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grpSp>
        <p:nvGrpSpPr>
          <p:cNvPr id="2" name="Group 15">
            <a:extLst>
              <a:ext uri="{FF2B5EF4-FFF2-40B4-BE49-F238E27FC236}">
                <a16:creationId xmlns:a16="http://schemas.microsoft.com/office/drawing/2014/main" id="{79D94332-19E0-A430-E5BE-5479E8B3FE5B}"/>
              </a:ext>
            </a:extLst>
          </p:cNvPr>
          <p:cNvGrpSpPr/>
          <p:nvPr/>
        </p:nvGrpSpPr>
        <p:grpSpPr>
          <a:xfrm>
            <a:off x="0" y="839520"/>
            <a:ext cx="5120280" cy="1037880"/>
            <a:chOff x="0" y="839520"/>
            <a:chExt cx="5120280" cy="1037880"/>
          </a:xfrm>
        </p:grpSpPr>
        <p:sp>
          <p:nvSpPr>
            <p:cNvPr id="3" name="object 82">
              <a:extLst>
                <a:ext uri="{FF2B5EF4-FFF2-40B4-BE49-F238E27FC236}">
                  <a16:creationId xmlns:a16="http://schemas.microsoft.com/office/drawing/2014/main" id="{CBC3D5D5-44AE-5BDE-3994-70B8546263E5}"/>
                </a:ext>
              </a:extLst>
            </p:cNvPr>
            <p:cNvSpPr/>
            <p:nvPr/>
          </p:nvSpPr>
          <p:spPr>
            <a:xfrm>
              <a:off x="0" y="839520"/>
              <a:ext cx="4683960" cy="1037880"/>
            </a:xfrm>
            <a:custGeom>
              <a:avLst/>
              <a:gdLst/>
              <a:ahLst/>
              <a:cxnLst/>
              <a:rect l="l" t="t" r="r" b="b"/>
              <a:pathLst>
                <a:path w="3844925" h="439420">
                  <a:moveTo>
                    <a:pt x="0" y="439204"/>
                  </a:moveTo>
                  <a:lnTo>
                    <a:pt x="3844798" y="439204"/>
                  </a:lnTo>
                  <a:lnTo>
                    <a:pt x="3844798" y="0"/>
                  </a:lnTo>
                  <a:lnTo>
                    <a:pt x="0" y="0"/>
                  </a:lnTo>
                  <a:lnTo>
                    <a:pt x="0" y="439204"/>
                  </a:lnTo>
                  <a:close/>
                </a:path>
              </a:pathLst>
            </a:custGeom>
            <a:solidFill>
              <a:srgbClr val="00A0EF"/>
            </a:solidFill>
            <a:ln w="0">
              <a:noFill/>
            </a:ln>
          </p:spPr>
          <p:style>
            <a:lnRef idx="0">
              <a:scrgbClr r="0" g="0" b="0"/>
            </a:lnRef>
            <a:fillRef idx="0">
              <a:scrgbClr r="0" g="0" b="0"/>
            </a:fillRef>
            <a:effectRef idx="0">
              <a:scrgbClr r="0" g="0" b="0"/>
            </a:effectRef>
            <a:fontRef idx="minor"/>
          </p:style>
        </p:sp>
        <p:sp>
          <p:nvSpPr>
            <p:cNvPr id="4" name="object 83">
              <a:extLst>
                <a:ext uri="{FF2B5EF4-FFF2-40B4-BE49-F238E27FC236}">
                  <a16:creationId xmlns:a16="http://schemas.microsoft.com/office/drawing/2014/main" id="{B16D8426-6B17-A5CF-D5EB-EA279D7E4B87}"/>
                </a:ext>
              </a:extLst>
            </p:cNvPr>
            <p:cNvSpPr/>
            <p:nvPr/>
          </p:nvSpPr>
          <p:spPr>
            <a:xfrm>
              <a:off x="4234320" y="839520"/>
              <a:ext cx="885960" cy="1037880"/>
            </a:xfrm>
            <a:custGeom>
              <a:avLst/>
              <a:gdLst/>
              <a:ahLst/>
              <a:cxnLst/>
              <a:rect l="l" t="t" r="r" b="b"/>
              <a:pathLst>
                <a:path w="439420" h="43942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w="0">
              <a:noFill/>
            </a:ln>
          </p:spPr>
          <p:style>
            <a:lnRef idx="0">
              <a:scrgbClr r="0" g="0" b="0"/>
            </a:lnRef>
            <a:fillRef idx="0">
              <a:scrgbClr r="0" g="0" b="0"/>
            </a:fillRef>
            <a:effectRef idx="0">
              <a:scrgbClr r="0" g="0" b="0"/>
            </a:effectRef>
            <a:fontRef idx="minor"/>
          </p:style>
        </p:sp>
      </p:grpSp>
      <p:sp>
        <p:nvSpPr>
          <p:cNvPr id="5" name="object 84">
            <a:extLst>
              <a:ext uri="{FF2B5EF4-FFF2-40B4-BE49-F238E27FC236}">
                <a16:creationId xmlns:a16="http://schemas.microsoft.com/office/drawing/2014/main" id="{78BF39B6-1936-4315-00CB-77382BB98601}"/>
              </a:ext>
            </a:extLst>
          </p:cNvPr>
          <p:cNvSpPr/>
          <p:nvPr/>
        </p:nvSpPr>
        <p:spPr>
          <a:xfrm>
            <a:off x="114120" y="957600"/>
            <a:ext cx="4802760" cy="689831"/>
          </a:xfrm>
          <a:prstGeom prst="rect">
            <a:avLst/>
          </a:prstGeom>
          <a:noFill/>
          <a:ln w="0">
            <a:noFill/>
          </a:ln>
        </p:spPr>
        <p:style>
          <a:lnRef idx="0">
            <a:scrgbClr r="0" g="0" b="0"/>
          </a:lnRef>
          <a:fillRef idx="0">
            <a:scrgbClr r="0" g="0" b="0"/>
          </a:fillRef>
          <a:effectRef idx="0">
            <a:scrgbClr r="0" g="0" b="0"/>
          </a:effectRef>
          <a:fontRef idx="minor"/>
        </p:style>
        <p:txBody>
          <a:bodyPr lIns="0" tIns="12600" rIns="0" bIns="0" anchor="t">
            <a:spAutoFit/>
          </a:bodyPr>
          <a:lstStyle/>
          <a:p>
            <a:pPr marL="12600">
              <a:lnSpc>
                <a:spcPct val="100000"/>
              </a:lnSpc>
              <a:spcBef>
                <a:spcPts val="99"/>
              </a:spcBef>
              <a:buNone/>
            </a:pPr>
            <a:r>
              <a:rPr lang="en-US" sz="4400" b="1" strike="noStrike" spc="-1" dirty="0">
                <a:solidFill>
                  <a:srgbClr val="FFFFFF"/>
                </a:solidFill>
                <a:latin typeface="Calibri"/>
                <a:ea typeface="DejaVu Sans"/>
              </a:rPr>
              <a:t>Problem Scenario</a:t>
            </a:r>
            <a:endParaRPr lang="en-US" sz="4400" b="0" strike="noStrike" spc="-1" dirty="0">
              <a:latin typeface="Arial"/>
            </a:endParaRPr>
          </a:p>
        </p:txBody>
      </p:sp>
      <p:sp>
        <p:nvSpPr>
          <p:cNvPr id="6" name="object 85">
            <a:extLst>
              <a:ext uri="{FF2B5EF4-FFF2-40B4-BE49-F238E27FC236}">
                <a16:creationId xmlns:a16="http://schemas.microsoft.com/office/drawing/2014/main" id="{D8290CE5-D559-B9C4-DA66-49431013596B}"/>
              </a:ext>
            </a:extLst>
          </p:cNvPr>
          <p:cNvSpPr/>
          <p:nvPr/>
        </p:nvSpPr>
        <p:spPr>
          <a:xfrm>
            <a:off x="114120" y="2603646"/>
            <a:ext cx="18104760" cy="4805442"/>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marL="12600" indent="-216000" algn="just">
              <a:lnSpc>
                <a:spcPct val="150000"/>
              </a:lnSpc>
              <a:spcBef>
                <a:spcPts val="850"/>
              </a:spcBef>
              <a:spcAft>
                <a:spcPts val="850"/>
              </a:spcAft>
              <a:buClr>
                <a:srgbClr val="000000"/>
              </a:buClr>
              <a:buFont typeface="Symbol"/>
              <a:buChar char=""/>
            </a:pPr>
            <a:r>
              <a:rPr lang="en-US" sz="3200" b="0"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1"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Limited Connectivity </a:t>
            </a:r>
            <a:r>
              <a:rPr lang="en-IN" sz="3200" b="0"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Challenge in efficiently connecting local food producers with potential consumers.</a:t>
            </a:r>
            <a:endParaRPr lang="en-US" sz="3200" b="0"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12600" indent="-216000" algn="just">
              <a:lnSpc>
                <a:spcPct val="150000"/>
              </a:lnSpc>
              <a:spcBef>
                <a:spcPts val="850"/>
              </a:spcBef>
              <a:spcAft>
                <a:spcPts val="850"/>
              </a:spcAft>
              <a:buClr>
                <a:srgbClr val="000000"/>
              </a:buClr>
              <a:buFont typeface="Symbol"/>
              <a:buChar char=""/>
            </a:pPr>
            <a:r>
              <a:rPr lang="en-US" sz="3200" b="1" dirty="0">
                <a:solidFill>
                  <a:srgbClr val="2D2D2D"/>
                </a:solidFill>
                <a:latin typeface="Microsoft Sans Serif" panose="020B0604020202020204" pitchFamily="34" charset="0"/>
                <a:ea typeface="Microsoft Sans Serif" panose="020B0604020202020204" pitchFamily="34" charset="0"/>
                <a:cs typeface="Microsoft Sans Serif" panose="020B0604020202020204" pitchFamily="34" charset="0"/>
              </a:rPr>
              <a:t> Underutilized Culinary Talents </a:t>
            </a:r>
            <a:r>
              <a:rPr lang="en-US" sz="3200" dirty="0">
                <a:solidFill>
                  <a:srgbClr val="2D2D2D"/>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dirty="0">
                <a:solidFill>
                  <a:srgbClr val="2D2D2D"/>
                </a:solidFill>
                <a:latin typeface="Microsoft Sans Serif" panose="020B0604020202020204" pitchFamily="34" charset="0"/>
                <a:ea typeface="Microsoft Sans Serif" panose="020B0604020202020204" pitchFamily="34" charset="0"/>
                <a:cs typeface="Microsoft Sans Serif" panose="020B0604020202020204" pitchFamily="34" charset="0"/>
              </a:rPr>
              <a:t>Local producers face difficulties in showcasing and promoting their unique specialties.</a:t>
            </a:r>
            <a:endParaRPr lang="en-US" sz="3200" b="0"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12600" indent="-216000" algn="just">
              <a:lnSpc>
                <a:spcPct val="150000"/>
              </a:lnSpc>
              <a:spcBef>
                <a:spcPts val="850"/>
              </a:spcBef>
              <a:spcAft>
                <a:spcPts val="850"/>
              </a:spcAft>
              <a:buClr>
                <a:srgbClr val="000000"/>
              </a:buClr>
              <a:buFont typeface="Symbol"/>
              <a:buChar char=""/>
            </a:pPr>
            <a:r>
              <a:rPr lang="en-US" sz="3200" b="0"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1"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Food Waste in Traditional Supply Chains : </a:t>
            </a:r>
            <a:r>
              <a:rPr lang="en-IN" sz="3200" b="0"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Existing food supply chains contribute to food waste, lacking a streamlined approach for demand and supply matching.</a:t>
            </a:r>
            <a:endParaRPr lang="en-US" sz="3200" b="0"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
        <p:nvSpPr>
          <p:cNvPr id="12" name="Rectangle 11">
            <a:extLst>
              <a:ext uri="{FF2B5EF4-FFF2-40B4-BE49-F238E27FC236}">
                <a16:creationId xmlns:a16="http://schemas.microsoft.com/office/drawing/2014/main" id="{0607086C-199B-3BF4-3EEA-20C4DCAC4D7D}"/>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7" name="Picture 6">
            <a:extLst>
              <a:ext uri="{FF2B5EF4-FFF2-40B4-BE49-F238E27FC236}">
                <a16:creationId xmlns:a16="http://schemas.microsoft.com/office/drawing/2014/main" id="{9DB5ADF3-6EAD-29FC-1F16-41F748EEF6D8}"/>
              </a:ext>
            </a:extLst>
          </p:cNvPr>
          <p:cNvPicPr>
            <a:picLocks noChangeAspect="1"/>
          </p:cNvPicPr>
          <p:nvPr/>
        </p:nvPicPr>
        <p:blipFill>
          <a:blip r:embed="rId3"/>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3815655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467E8ED-49DC-471C-F6A1-613A8798502E}"/>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object 84">
            <a:extLst>
              <a:ext uri="{FF2B5EF4-FFF2-40B4-BE49-F238E27FC236}">
                <a16:creationId xmlns:a16="http://schemas.microsoft.com/office/drawing/2014/main" id="{E80B4F80-4D40-96DA-9281-37895BB372C4}"/>
              </a:ext>
            </a:extLst>
          </p:cNvPr>
          <p:cNvSpPr/>
          <p:nvPr/>
        </p:nvSpPr>
        <p:spPr>
          <a:xfrm>
            <a:off x="135030" y="5798003"/>
            <a:ext cx="4802760" cy="689831"/>
          </a:xfrm>
          <a:prstGeom prst="rect">
            <a:avLst/>
          </a:prstGeom>
          <a:noFill/>
          <a:ln w="0">
            <a:noFill/>
          </a:ln>
        </p:spPr>
        <p:style>
          <a:lnRef idx="0">
            <a:scrgbClr r="0" g="0" b="0"/>
          </a:lnRef>
          <a:fillRef idx="0">
            <a:scrgbClr r="0" g="0" b="0"/>
          </a:fillRef>
          <a:effectRef idx="0">
            <a:scrgbClr r="0" g="0" b="0"/>
          </a:effectRef>
          <a:fontRef idx="minor"/>
        </p:style>
        <p:txBody>
          <a:bodyPr lIns="0" tIns="12600" rIns="0" bIns="0" anchor="t">
            <a:spAutoFit/>
          </a:bodyPr>
          <a:lstStyle/>
          <a:p>
            <a:pPr marL="12600">
              <a:lnSpc>
                <a:spcPct val="100000"/>
              </a:lnSpc>
              <a:spcBef>
                <a:spcPts val="99"/>
              </a:spcBef>
              <a:buNone/>
            </a:pPr>
            <a:r>
              <a:rPr lang="en-US" sz="4400" b="1" strike="noStrike" spc="-1" dirty="0">
                <a:solidFill>
                  <a:srgbClr val="FFFFFF"/>
                </a:solidFill>
                <a:latin typeface="Calibri"/>
                <a:ea typeface="DejaVu Sans"/>
              </a:rPr>
              <a:t>Proposed Solution</a:t>
            </a:r>
            <a:endParaRPr lang="en-US" sz="4400" b="0" strike="noStrike" spc="-1" dirty="0">
              <a:latin typeface="Arial"/>
            </a:endParaRPr>
          </a:p>
        </p:txBody>
      </p:sp>
      <p:sp>
        <p:nvSpPr>
          <p:cNvPr id="14" name="object 84">
            <a:extLst>
              <a:ext uri="{FF2B5EF4-FFF2-40B4-BE49-F238E27FC236}">
                <a16:creationId xmlns:a16="http://schemas.microsoft.com/office/drawing/2014/main" id="{6CB2781D-61A9-E8DD-AAFB-B3501353D95C}"/>
              </a:ext>
            </a:extLst>
          </p:cNvPr>
          <p:cNvSpPr/>
          <p:nvPr/>
        </p:nvSpPr>
        <p:spPr>
          <a:xfrm>
            <a:off x="287430" y="5950403"/>
            <a:ext cx="4802760" cy="689831"/>
          </a:xfrm>
          <a:prstGeom prst="rect">
            <a:avLst/>
          </a:prstGeom>
          <a:noFill/>
          <a:ln w="0">
            <a:noFill/>
          </a:ln>
        </p:spPr>
        <p:style>
          <a:lnRef idx="0">
            <a:scrgbClr r="0" g="0" b="0"/>
          </a:lnRef>
          <a:fillRef idx="0">
            <a:scrgbClr r="0" g="0" b="0"/>
          </a:fillRef>
          <a:effectRef idx="0">
            <a:scrgbClr r="0" g="0" b="0"/>
          </a:effectRef>
          <a:fontRef idx="minor"/>
        </p:style>
        <p:txBody>
          <a:bodyPr lIns="0" tIns="12600" rIns="0" bIns="0" anchor="t">
            <a:spAutoFit/>
          </a:bodyPr>
          <a:lstStyle/>
          <a:p>
            <a:pPr marL="12600">
              <a:lnSpc>
                <a:spcPct val="100000"/>
              </a:lnSpc>
              <a:spcBef>
                <a:spcPts val="99"/>
              </a:spcBef>
              <a:buNone/>
            </a:pPr>
            <a:r>
              <a:rPr lang="en-US" sz="4400" b="1" strike="noStrike" spc="-1" dirty="0">
                <a:solidFill>
                  <a:srgbClr val="FFFFFF"/>
                </a:solidFill>
                <a:latin typeface="Calibri"/>
                <a:ea typeface="DejaVu Sans"/>
              </a:rPr>
              <a:t>Proposed Solution</a:t>
            </a:r>
            <a:endParaRPr lang="en-US" sz="4400" b="0" strike="noStrike" spc="-1" dirty="0">
              <a:latin typeface="Arial"/>
            </a:endParaRPr>
          </a:p>
        </p:txBody>
      </p:sp>
      <p:grpSp>
        <p:nvGrpSpPr>
          <p:cNvPr id="15" name="Group 15">
            <a:extLst>
              <a:ext uri="{FF2B5EF4-FFF2-40B4-BE49-F238E27FC236}">
                <a16:creationId xmlns:a16="http://schemas.microsoft.com/office/drawing/2014/main" id="{D958360A-76D8-30A7-725C-EAE53777FB97}"/>
              </a:ext>
            </a:extLst>
          </p:cNvPr>
          <p:cNvGrpSpPr/>
          <p:nvPr/>
        </p:nvGrpSpPr>
        <p:grpSpPr>
          <a:xfrm>
            <a:off x="0" y="839520"/>
            <a:ext cx="5120280" cy="1037880"/>
            <a:chOff x="0" y="839520"/>
            <a:chExt cx="5120280" cy="1037880"/>
          </a:xfrm>
        </p:grpSpPr>
        <p:sp>
          <p:nvSpPr>
            <p:cNvPr id="16" name="object 82">
              <a:extLst>
                <a:ext uri="{FF2B5EF4-FFF2-40B4-BE49-F238E27FC236}">
                  <a16:creationId xmlns:a16="http://schemas.microsoft.com/office/drawing/2014/main" id="{7DBAEDA6-8842-405B-D63D-7603A3AAF0CB}"/>
                </a:ext>
              </a:extLst>
            </p:cNvPr>
            <p:cNvSpPr/>
            <p:nvPr/>
          </p:nvSpPr>
          <p:spPr>
            <a:xfrm>
              <a:off x="0" y="839520"/>
              <a:ext cx="4683960" cy="1037880"/>
            </a:xfrm>
            <a:custGeom>
              <a:avLst/>
              <a:gdLst/>
              <a:ahLst/>
              <a:cxnLst/>
              <a:rect l="l" t="t" r="r" b="b"/>
              <a:pathLst>
                <a:path w="3844925" h="439420">
                  <a:moveTo>
                    <a:pt x="0" y="439204"/>
                  </a:moveTo>
                  <a:lnTo>
                    <a:pt x="3844798" y="439204"/>
                  </a:lnTo>
                  <a:lnTo>
                    <a:pt x="3844798" y="0"/>
                  </a:lnTo>
                  <a:lnTo>
                    <a:pt x="0" y="0"/>
                  </a:lnTo>
                  <a:lnTo>
                    <a:pt x="0" y="439204"/>
                  </a:lnTo>
                  <a:close/>
                </a:path>
              </a:pathLst>
            </a:custGeom>
            <a:solidFill>
              <a:srgbClr val="00A0EF"/>
            </a:solidFill>
            <a:ln w="0">
              <a:noFill/>
            </a:ln>
          </p:spPr>
          <p:style>
            <a:lnRef idx="0">
              <a:scrgbClr r="0" g="0" b="0"/>
            </a:lnRef>
            <a:fillRef idx="0">
              <a:scrgbClr r="0" g="0" b="0"/>
            </a:fillRef>
            <a:effectRef idx="0">
              <a:scrgbClr r="0" g="0" b="0"/>
            </a:effectRef>
            <a:fontRef idx="minor"/>
          </p:style>
        </p:sp>
        <p:sp>
          <p:nvSpPr>
            <p:cNvPr id="17" name="object 83">
              <a:extLst>
                <a:ext uri="{FF2B5EF4-FFF2-40B4-BE49-F238E27FC236}">
                  <a16:creationId xmlns:a16="http://schemas.microsoft.com/office/drawing/2014/main" id="{1BFBFDF3-D257-7403-3A95-7F6DDD88A586}"/>
                </a:ext>
              </a:extLst>
            </p:cNvPr>
            <p:cNvSpPr/>
            <p:nvPr/>
          </p:nvSpPr>
          <p:spPr>
            <a:xfrm>
              <a:off x="4234320" y="839520"/>
              <a:ext cx="885960" cy="1037880"/>
            </a:xfrm>
            <a:custGeom>
              <a:avLst/>
              <a:gdLst/>
              <a:ahLst/>
              <a:cxnLst/>
              <a:rect l="l" t="t" r="r" b="b"/>
              <a:pathLst>
                <a:path w="439420" h="43942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w="0">
              <a:noFill/>
            </a:ln>
          </p:spPr>
          <p:style>
            <a:lnRef idx="0">
              <a:scrgbClr r="0" g="0" b="0"/>
            </a:lnRef>
            <a:fillRef idx="0">
              <a:scrgbClr r="0" g="0" b="0"/>
            </a:fillRef>
            <a:effectRef idx="0">
              <a:scrgbClr r="0" g="0" b="0"/>
            </a:effectRef>
            <a:fontRef idx="minor"/>
          </p:style>
        </p:sp>
      </p:grpSp>
      <p:sp>
        <p:nvSpPr>
          <p:cNvPr id="18" name="object 84">
            <a:extLst>
              <a:ext uri="{FF2B5EF4-FFF2-40B4-BE49-F238E27FC236}">
                <a16:creationId xmlns:a16="http://schemas.microsoft.com/office/drawing/2014/main" id="{21154814-A3CC-C793-C64F-4B97A41C6F55}"/>
              </a:ext>
            </a:extLst>
          </p:cNvPr>
          <p:cNvSpPr/>
          <p:nvPr/>
        </p:nvSpPr>
        <p:spPr>
          <a:xfrm>
            <a:off x="114120" y="957600"/>
            <a:ext cx="4802760" cy="689831"/>
          </a:xfrm>
          <a:prstGeom prst="rect">
            <a:avLst/>
          </a:prstGeom>
          <a:noFill/>
          <a:ln w="0">
            <a:noFill/>
          </a:ln>
        </p:spPr>
        <p:style>
          <a:lnRef idx="0">
            <a:scrgbClr r="0" g="0" b="0"/>
          </a:lnRef>
          <a:fillRef idx="0">
            <a:scrgbClr r="0" g="0" b="0"/>
          </a:fillRef>
          <a:effectRef idx="0">
            <a:scrgbClr r="0" g="0" b="0"/>
          </a:effectRef>
          <a:fontRef idx="minor"/>
        </p:style>
        <p:txBody>
          <a:bodyPr lIns="0" tIns="12600" rIns="0" bIns="0" anchor="t">
            <a:spAutoFit/>
          </a:bodyPr>
          <a:lstStyle/>
          <a:p>
            <a:pPr marL="12600">
              <a:lnSpc>
                <a:spcPct val="100000"/>
              </a:lnSpc>
              <a:spcBef>
                <a:spcPts val="99"/>
              </a:spcBef>
              <a:buNone/>
            </a:pPr>
            <a:r>
              <a:rPr lang="en-US" sz="4400" b="1" strike="noStrike" spc="-1" dirty="0">
                <a:solidFill>
                  <a:srgbClr val="FFFFFF"/>
                </a:solidFill>
                <a:latin typeface="Calibri"/>
                <a:ea typeface="DejaVu Sans"/>
              </a:rPr>
              <a:t>Proposed Solution</a:t>
            </a:r>
            <a:endParaRPr lang="en-US" sz="4400" b="0" strike="noStrike" spc="-1" dirty="0">
              <a:latin typeface="Arial"/>
            </a:endParaRPr>
          </a:p>
        </p:txBody>
      </p:sp>
      <p:sp>
        <p:nvSpPr>
          <p:cNvPr id="19" name="object 85">
            <a:extLst>
              <a:ext uri="{FF2B5EF4-FFF2-40B4-BE49-F238E27FC236}">
                <a16:creationId xmlns:a16="http://schemas.microsoft.com/office/drawing/2014/main" id="{F9428100-A42D-AB35-A706-CEE70A5D7A57}"/>
              </a:ext>
            </a:extLst>
          </p:cNvPr>
          <p:cNvSpPr/>
          <p:nvPr/>
        </p:nvSpPr>
        <p:spPr>
          <a:xfrm>
            <a:off x="157054" y="2470752"/>
            <a:ext cx="18104760" cy="3097282"/>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marL="12600" indent="-216000" algn="just">
              <a:lnSpc>
                <a:spcPct val="150000"/>
              </a:lnSpc>
              <a:spcBef>
                <a:spcPts val="850"/>
              </a:spcBef>
              <a:spcAft>
                <a:spcPts val="850"/>
              </a:spcAft>
              <a:buClr>
                <a:srgbClr val="000000"/>
              </a:buClr>
              <a:buFont typeface="Symbol"/>
              <a:buChar char=""/>
            </a:pPr>
            <a:r>
              <a:rPr lang="en-IN" sz="3200" b="1"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Digital Bridge &amp; Connectivity: </a:t>
            </a:r>
            <a:r>
              <a:rPr lang="en-IN" sz="3200" b="0"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Comprehensive digital platform serving as a bridge between local food producers and consumers.</a:t>
            </a:r>
          </a:p>
          <a:p>
            <a:pPr marL="12600" indent="-216000" algn="just">
              <a:lnSpc>
                <a:spcPct val="150000"/>
              </a:lnSpc>
              <a:spcBef>
                <a:spcPts val="850"/>
              </a:spcBef>
              <a:spcAft>
                <a:spcPts val="850"/>
              </a:spcAft>
              <a:buClr>
                <a:srgbClr val="000000"/>
              </a:buClr>
              <a:buFont typeface="Symbol"/>
              <a:buChar char=""/>
            </a:pPr>
            <a:r>
              <a:rPr lang="en-IN" sz="3200" b="1"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 Supply-on-Demand Model: </a:t>
            </a:r>
            <a:r>
              <a:rPr lang="en-IN" sz="3200" b="0"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Introduces a supply-on-demand model, allowing producers to meet consumer demand more efficiently.</a:t>
            </a:r>
          </a:p>
        </p:txBody>
      </p:sp>
      <p:pic>
        <p:nvPicPr>
          <p:cNvPr id="2" name="Picture 1">
            <a:extLst>
              <a:ext uri="{FF2B5EF4-FFF2-40B4-BE49-F238E27FC236}">
                <a16:creationId xmlns:a16="http://schemas.microsoft.com/office/drawing/2014/main" id="{4277AA15-427E-637C-F5DD-1386ABCEAD45}"/>
              </a:ext>
            </a:extLst>
          </p:cNvPr>
          <p:cNvPicPr>
            <a:picLocks noChangeAspect="1"/>
          </p:cNvPicPr>
          <p:nvPr/>
        </p:nvPicPr>
        <p:blipFill>
          <a:blip r:embed="rId3"/>
          <a:stretch>
            <a:fillRect/>
          </a:stretch>
        </p:blipFill>
        <p:spPr>
          <a:xfrm>
            <a:off x="14621553" y="244549"/>
            <a:ext cx="4231706" cy="2456303"/>
          </a:xfrm>
          <a:prstGeom prst="rect">
            <a:avLst/>
          </a:prstGeom>
        </p:spPr>
      </p:pic>
    </p:spTree>
    <p:extLst>
      <p:ext uri="{BB962C8B-B14F-4D97-AF65-F5344CB8AC3E}">
        <p14:creationId xmlns:p14="http://schemas.microsoft.com/office/powerpoint/2010/main" val="9550695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15"/>
        <p:cNvGrpSpPr/>
        <p:nvPr/>
      </p:nvGrpSpPr>
      <p:grpSpPr>
        <a:xfrm>
          <a:off x="0" y="0"/>
          <a:ext cx="0" cy="0"/>
          <a:chOff x="0" y="0"/>
          <a:chExt cx="0" cy="0"/>
        </a:xfrm>
      </p:grpSpPr>
      <p:grpSp>
        <p:nvGrpSpPr>
          <p:cNvPr id="616" name="Google Shape;616;p4"/>
          <p:cNvGrpSpPr/>
          <p:nvPr/>
        </p:nvGrpSpPr>
        <p:grpSpPr>
          <a:xfrm>
            <a:off x="0" y="839520"/>
            <a:ext cx="5120280" cy="1037880"/>
            <a:chOff x="0" y="839520"/>
            <a:chExt cx="5120280" cy="1037880"/>
          </a:xfrm>
        </p:grpSpPr>
        <p:sp>
          <p:nvSpPr>
            <p:cNvPr id="617" name="Google Shape;617;p4"/>
            <p:cNvSpPr/>
            <p:nvPr/>
          </p:nvSpPr>
          <p:spPr>
            <a:xfrm>
              <a:off x="0" y="839520"/>
              <a:ext cx="46839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18" name="Google Shape;618;p4"/>
            <p:cNvSpPr/>
            <p:nvPr/>
          </p:nvSpPr>
          <p:spPr>
            <a:xfrm>
              <a:off x="4234320" y="839520"/>
              <a:ext cx="88596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19" name="Google Shape;619;p4"/>
          <p:cNvSpPr/>
          <p:nvPr/>
        </p:nvSpPr>
        <p:spPr>
          <a:xfrm>
            <a:off x="114120" y="957600"/>
            <a:ext cx="48027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Project Purpose</a:t>
            </a:r>
            <a:endParaRPr sz="4400" b="0" i="0" u="none" strike="noStrike" cap="none" dirty="0">
              <a:latin typeface="Arial"/>
              <a:ea typeface="Arial"/>
              <a:cs typeface="Arial"/>
              <a:sym typeface="Arial"/>
            </a:endParaRPr>
          </a:p>
        </p:txBody>
      </p:sp>
      <p:sp>
        <p:nvSpPr>
          <p:cNvPr id="621" name="Google Shape;621;p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24" name="Google Shape;624;p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object 15">
            <a:extLst>
              <a:ext uri="{FF2B5EF4-FFF2-40B4-BE49-F238E27FC236}">
                <a16:creationId xmlns:a16="http://schemas.microsoft.com/office/drawing/2014/main" id="{DA910D43-7A14-93FA-D2CD-72A88958DC05}"/>
              </a:ext>
            </a:extLst>
          </p:cNvPr>
          <p:cNvSpPr/>
          <p:nvPr/>
        </p:nvSpPr>
        <p:spPr>
          <a:xfrm>
            <a:off x="558420" y="2593514"/>
            <a:ext cx="18104760" cy="3097282"/>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marL="571500" indent="-571500" algn="just">
              <a:lnSpc>
                <a:spcPct val="150000"/>
              </a:lnSpc>
              <a:spcBef>
                <a:spcPts val="850"/>
              </a:spcBef>
              <a:spcAft>
                <a:spcPts val="850"/>
              </a:spcAft>
              <a:buClr>
                <a:srgbClr val="000000"/>
              </a:buClr>
              <a:buFont typeface="Arial" panose="020B0604020202020204" pitchFamily="34" charset="0"/>
              <a:buChar char="•"/>
            </a:pPr>
            <a:r>
              <a:rPr lang="en-US" sz="3200" b="0" strike="noStrike"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Promotion of Culinary Talents : </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Provide a platform for local culinary talents to showcase their specialties, celebrating the diversity and authenticity of homemade food.</a:t>
            </a:r>
          </a:p>
          <a:p>
            <a:pPr marL="571500" indent="-571500" algn="just">
              <a:lnSpc>
                <a:spcPct val="150000"/>
              </a:lnSpc>
              <a:spcBef>
                <a:spcPts val="850"/>
              </a:spcBef>
              <a:spcAft>
                <a:spcPts val="850"/>
              </a:spcAft>
              <a:buClr>
                <a:srgbClr val="000000"/>
              </a:buClr>
              <a:buFont typeface="Arial" panose="020B0604020202020204" pitchFamily="34" charset="0"/>
              <a:buChar char="•"/>
            </a:pP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Address Critical </a:t>
            </a:r>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Issues </a:t>
            </a: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Contribute to reducing food waste and improving food security by encouraging a sustainable and localized food supply chain.</a:t>
            </a:r>
          </a:p>
        </p:txBody>
      </p:sp>
      <p:sp>
        <p:nvSpPr>
          <p:cNvPr id="4" name="Rectangle 3">
            <a:extLst>
              <a:ext uri="{FF2B5EF4-FFF2-40B4-BE49-F238E27FC236}">
                <a16:creationId xmlns:a16="http://schemas.microsoft.com/office/drawing/2014/main" id="{FB24E8FE-70C6-26BF-7374-8220847A03A4}"/>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D46A2088-E183-5942-E1CD-B24FAC315065}"/>
              </a:ext>
            </a:extLst>
          </p:cNvPr>
          <p:cNvPicPr>
            <a:picLocks noChangeAspect="1"/>
          </p:cNvPicPr>
          <p:nvPr/>
        </p:nvPicPr>
        <p:blipFill>
          <a:blip r:embed="rId3"/>
          <a:stretch>
            <a:fillRect/>
          </a:stretch>
        </p:blipFill>
        <p:spPr>
          <a:xfrm>
            <a:off x="14621553" y="219835"/>
            <a:ext cx="4231706" cy="245630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28"/>
        <p:cNvGrpSpPr/>
        <p:nvPr/>
      </p:nvGrpSpPr>
      <p:grpSpPr>
        <a:xfrm>
          <a:off x="0" y="0"/>
          <a:ext cx="0" cy="0"/>
          <a:chOff x="0" y="0"/>
          <a:chExt cx="0" cy="0"/>
        </a:xfrm>
      </p:grpSpPr>
      <p:grpSp>
        <p:nvGrpSpPr>
          <p:cNvPr id="629" name="Google Shape;629;p5"/>
          <p:cNvGrpSpPr/>
          <p:nvPr/>
        </p:nvGrpSpPr>
        <p:grpSpPr>
          <a:xfrm>
            <a:off x="0" y="839520"/>
            <a:ext cx="5030999" cy="1037880"/>
            <a:chOff x="0" y="839520"/>
            <a:chExt cx="5030999" cy="1037880"/>
          </a:xfrm>
        </p:grpSpPr>
        <p:sp>
          <p:nvSpPr>
            <p:cNvPr id="630" name="Google Shape;630;p5"/>
            <p:cNvSpPr/>
            <p:nvPr/>
          </p:nvSpPr>
          <p:spPr>
            <a:xfrm>
              <a:off x="0" y="839520"/>
              <a:ext cx="46839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31" name="Google Shape;631;p5"/>
            <p:cNvSpPr/>
            <p:nvPr/>
          </p:nvSpPr>
          <p:spPr>
            <a:xfrm>
              <a:off x="4155310" y="839520"/>
              <a:ext cx="875689"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32" name="Google Shape;632;p5"/>
          <p:cNvSpPr/>
          <p:nvPr/>
        </p:nvSpPr>
        <p:spPr>
          <a:xfrm>
            <a:off x="114120" y="957600"/>
            <a:ext cx="4802760" cy="68256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Project Scope</a:t>
            </a:r>
            <a:endParaRPr sz="4400" b="0" i="0" u="none" strike="noStrike" cap="none">
              <a:latin typeface="Arial"/>
              <a:ea typeface="Arial"/>
              <a:cs typeface="Arial"/>
              <a:sym typeface="Arial"/>
            </a:endParaRPr>
          </a:p>
        </p:txBody>
      </p:sp>
      <p:sp>
        <p:nvSpPr>
          <p:cNvPr id="634" name="Google Shape;634;p5"/>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 name="Google Shape;635;p5"/>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5"/>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37" name="Google Shape;637;p5"/>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object 21">
            <a:extLst>
              <a:ext uri="{FF2B5EF4-FFF2-40B4-BE49-F238E27FC236}">
                <a16:creationId xmlns:a16="http://schemas.microsoft.com/office/drawing/2014/main" id="{43934E53-4876-D18C-A31E-9FDB6FE3FA9E}"/>
              </a:ext>
            </a:extLst>
          </p:cNvPr>
          <p:cNvSpPr/>
          <p:nvPr/>
        </p:nvSpPr>
        <p:spPr>
          <a:xfrm>
            <a:off x="320040" y="2591868"/>
            <a:ext cx="18104760" cy="1389122"/>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marL="571500" indent="-571500" algn="l">
              <a:lnSpc>
                <a:spcPct val="150000"/>
              </a:lnSpc>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Create a thriving ecosystem for celebrating and promoting local culinary talents.</a:t>
            </a:r>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571500" indent="-571500">
              <a:lnSpc>
                <a:spcPct val="150000"/>
              </a:lnSpc>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Address critical issues like food waste and support local economies.</a:t>
            </a:r>
          </a:p>
        </p:txBody>
      </p:sp>
      <p:sp>
        <p:nvSpPr>
          <p:cNvPr id="3" name="Rectangle 2">
            <a:extLst>
              <a:ext uri="{FF2B5EF4-FFF2-40B4-BE49-F238E27FC236}">
                <a16:creationId xmlns:a16="http://schemas.microsoft.com/office/drawing/2014/main" id="{8DC76CE0-784C-B6A2-DF1D-B7360859CB3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Rectangle 3">
            <a:extLst>
              <a:ext uri="{FF2B5EF4-FFF2-40B4-BE49-F238E27FC236}">
                <a16:creationId xmlns:a16="http://schemas.microsoft.com/office/drawing/2014/main" id="{941E0F87-9151-DEED-22E8-E9D9FE7B6638}"/>
              </a:ext>
            </a:extLst>
          </p:cNvPr>
          <p:cNvSpPr>
            <a:spLocks noChangeArrowheads="1"/>
          </p:cNvSpPr>
          <p:nvPr/>
        </p:nvSpPr>
        <p:spPr bwMode="auto">
          <a:xfrm>
            <a:off x="4683960" y="7938700"/>
            <a:ext cx="65" cy="276999"/>
          </a:xfrm>
          <a:prstGeom prst="rect">
            <a:avLst/>
          </a:prstGeom>
          <a:solidFill>
            <a:srgbClr val="34354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marL="457200" eaLnBrk="0" fontAlgn="base" hangingPunct="0">
              <a:spcBef>
                <a:spcPct val="0"/>
              </a:spcBef>
              <a:spcAft>
                <a:spcPct val="0"/>
              </a:spcAft>
              <a:defRPr>
                <a:solidFill>
                  <a:schemeClr val="tx1"/>
                </a:solidFill>
                <a:latin typeface="Arial" panose="020B0604020202020204" pitchFamily="34" charset="0"/>
              </a:defRPr>
            </a:lvl2pPr>
            <a:lvl3pPr marL="914400" eaLnBrk="0" fontAlgn="base" hangingPunct="0">
              <a:spcBef>
                <a:spcPct val="0"/>
              </a:spcBef>
              <a:spcAft>
                <a:spcPct val="0"/>
              </a:spcAft>
              <a:defRPr>
                <a:solidFill>
                  <a:schemeClr val="tx1"/>
                </a:solidFill>
                <a:latin typeface="Arial" panose="020B0604020202020204" pitchFamily="34" charset="0"/>
              </a:defRPr>
            </a:lvl3pPr>
            <a:lvl4pPr marL="1371600" eaLnBrk="0" fontAlgn="base" hangingPunct="0">
              <a:spcBef>
                <a:spcPct val="0"/>
              </a:spcBef>
              <a:spcAft>
                <a:spcPct val="0"/>
              </a:spcAft>
              <a:defRPr>
                <a:solidFill>
                  <a:schemeClr val="tx1"/>
                </a:solidFill>
                <a:latin typeface="Arial" panose="020B0604020202020204" pitchFamily="34" charset="0"/>
              </a:defRPr>
            </a:lvl4pPr>
            <a:lvl5pPr marL="1828800" eaLnBrk="0" fontAlgn="base" hangingPunct="0">
              <a:spcBef>
                <a:spcPct val="0"/>
              </a:spcBef>
              <a:spcAft>
                <a:spcPct val="0"/>
              </a:spcAft>
              <a:defRPr>
                <a:solidFill>
                  <a:schemeClr val="tx1"/>
                </a:solidFill>
                <a:latin typeface="Arial" panose="020B0604020202020204" pitchFamily="34" charset="0"/>
              </a:defRPr>
            </a:lvl5pPr>
            <a:lvl6pPr marL="2286000" eaLnBrk="0" fontAlgn="base" hangingPunct="0">
              <a:spcBef>
                <a:spcPct val="0"/>
              </a:spcBef>
              <a:spcAft>
                <a:spcPct val="0"/>
              </a:spcAft>
              <a:defRPr>
                <a:solidFill>
                  <a:schemeClr val="tx1"/>
                </a:solidFill>
                <a:latin typeface="Arial" panose="020B0604020202020204" pitchFamily="34" charset="0"/>
              </a:defRPr>
            </a:lvl6pPr>
            <a:lvl7pPr marL="2743200" eaLnBrk="0" fontAlgn="base" hangingPunct="0">
              <a:spcBef>
                <a:spcPct val="0"/>
              </a:spcBef>
              <a:spcAft>
                <a:spcPct val="0"/>
              </a:spcAft>
              <a:defRPr>
                <a:solidFill>
                  <a:schemeClr val="tx1"/>
                </a:solidFill>
                <a:latin typeface="Arial" panose="020B0604020202020204" pitchFamily="34" charset="0"/>
              </a:defRPr>
            </a:lvl7pPr>
            <a:lvl8pPr marL="3200400" eaLnBrk="0" fontAlgn="base" hangingPunct="0">
              <a:spcBef>
                <a:spcPct val="0"/>
              </a:spcBef>
              <a:spcAft>
                <a:spcPct val="0"/>
              </a:spcAft>
              <a:defRPr>
                <a:solidFill>
                  <a:schemeClr val="tx1"/>
                </a:solidFill>
                <a:latin typeface="Arial" panose="020B0604020202020204" pitchFamily="34" charset="0"/>
              </a:defRPr>
            </a:lvl8pPr>
            <a:lvl9pPr marL="3657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bg1"/>
              </a:solidFill>
              <a:effectLst/>
            </a:endParaRPr>
          </a:p>
        </p:txBody>
      </p:sp>
      <p:pic>
        <p:nvPicPr>
          <p:cNvPr id="4" name="Picture 3">
            <a:extLst>
              <a:ext uri="{FF2B5EF4-FFF2-40B4-BE49-F238E27FC236}">
                <a16:creationId xmlns:a16="http://schemas.microsoft.com/office/drawing/2014/main" id="{C583D951-6F1F-51A0-E2DC-2843EB1433C2}"/>
              </a:ext>
            </a:extLst>
          </p:cNvPr>
          <p:cNvPicPr>
            <a:picLocks noChangeAspect="1"/>
          </p:cNvPicPr>
          <p:nvPr/>
        </p:nvPicPr>
        <p:blipFill>
          <a:blip r:embed="rId3"/>
          <a:stretch>
            <a:fillRect/>
          </a:stretch>
        </p:blipFill>
        <p:spPr>
          <a:xfrm>
            <a:off x="14621553" y="219835"/>
            <a:ext cx="4231706" cy="245630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Shape 628"/>
        <p:cNvGrpSpPr/>
        <p:nvPr/>
      </p:nvGrpSpPr>
      <p:grpSpPr>
        <a:xfrm>
          <a:off x="0" y="0"/>
          <a:ext cx="0" cy="0"/>
          <a:chOff x="0" y="0"/>
          <a:chExt cx="0" cy="0"/>
        </a:xfrm>
      </p:grpSpPr>
      <p:grpSp>
        <p:nvGrpSpPr>
          <p:cNvPr id="629" name="Google Shape;629;p5"/>
          <p:cNvGrpSpPr/>
          <p:nvPr/>
        </p:nvGrpSpPr>
        <p:grpSpPr>
          <a:xfrm>
            <a:off x="0" y="839520"/>
            <a:ext cx="5030999" cy="1037880"/>
            <a:chOff x="0" y="839520"/>
            <a:chExt cx="5030999" cy="1037880"/>
          </a:xfrm>
        </p:grpSpPr>
        <p:sp>
          <p:nvSpPr>
            <p:cNvPr id="630" name="Google Shape;630;p5"/>
            <p:cNvSpPr/>
            <p:nvPr/>
          </p:nvSpPr>
          <p:spPr>
            <a:xfrm>
              <a:off x="0" y="839520"/>
              <a:ext cx="46839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31" name="Google Shape;631;p5"/>
            <p:cNvSpPr/>
            <p:nvPr/>
          </p:nvSpPr>
          <p:spPr>
            <a:xfrm>
              <a:off x="4155310" y="839520"/>
              <a:ext cx="875689"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32" name="Google Shape;632;p5"/>
          <p:cNvSpPr/>
          <p:nvPr/>
        </p:nvSpPr>
        <p:spPr>
          <a:xfrm>
            <a:off x="114120" y="957600"/>
            <a:ext cx="48027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Domain Survey</a:t>
            </a:r>
            <a:endParaRPr sz="4400" b="0" i="0" u="none" strike="noStrike" cap="none" dirty="0">
              <a:latin typeface="Arial"/>
              <a:ea typeface="Arial"/>
              <a:cs typeface="Arial"/>
              <a:sym typeface="Arial"/>
            </a:endParaRPr>
          </a:p>
        </p:txBody>
      </p:sp>
      <p:sp>
        <p:nvSpPr>
          <p:cNvPr id="634" name="Google Shape;634;p5"/>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 name="Google Shape;635;p5"/>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5"/>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37" name="Google Shape;637;p5"/>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object 21">
            <a:extLst>
              <a:ext uri="{FF2B5EF4-FFF2-40B4-BE49-F238E27FC236}">
                <a16:creationId xmlns:a16="http://schemas.microsoft.com/office/drawing/2014/main" id="{43934E53-4876-D18C-A31E-9FDB6FE3FA9E}"/>
              </a:ext>
            </a:extLst>
          </p:cNvPr>
          <p:cNvSpPr/>
          <p:nvPr/>
        </p:nvSpPr>
        <p:spPr>
          <a:xfrm>
            <a:off x="320040" y="2591868"/>
            <a:ext cx="18104760" cy="6559769"/>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algn="l">
              <a:lnSpc>
                <a:spcPct val="150000"/>
              </a:lnSpc>
            </a:pPr>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Local Food Supply Chain Platforms:</a:t>
            </a:r>
          </a:p>
          <a:p>
            <a:pPr marL="457200" indent="-457200" algn="l">
              <a:lnSpc>
                <a:spcPct val="150000"/>
              </a:lnSpc>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Survey existing platforms that aim to connect local food producers with consumers.</a:t>
            </a:r>
          </a:p>
          <a:p>
            <a:pPr marL="457200" indent="-457200" algn="l">
              <a:lnSpc>
                <a:spcPct val="150000"/>
              </a:lnSpc>
              <a:buFont typeface="Arial" panose="020B0604020202020204" pitchFamily="34" charset="0"/>
              <a:buChar char="•"/>
            </a:pP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Analyze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features, user interactions, and shortcomings of these platforms.</a:t>
            </a:r>
          </a:p>
          <a:p>
            <a:pPr marL="457200" indent="-457200" algn="l">
              <a:lnSpc>
                <a:spcPct val="150000"/>
              </a:lnSpc>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Identify successful strategies for promoting local culinary talents and reducing food waste.</a:t>
            </a:r>
          </a:p>
          <a:p>
            <a:pPr marL="457200" indent="-457200" algn="l">
              <a:lnSpc>
                <a:spcPct val="150000"/>
              </a:lnSpc>
              <a:buFont typeface="Arial" panose="020B0604020202020204" pitchFamily="34" charset="0"/>
              <a:buChar char="•"/>
            </a:pPr>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l">
              <a:lnSpc>
                <a:spcPct val="150000"/>
              </a:lnSpc>
            </a:pPr>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Community – Driven Food </a:t>
            </a:r>
            <a:r>
              <a:rPr lang="en-IN" sz="3200" b="1" dirty="0" err="1">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Initatives</a:t>
            </a:r>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a:t>
            </a:r>
          </a:p>
          <a:p>
            <a:pPr marL="457200" indent="-457200" algn="l">
              <a:lnSpc>
                <a:spcPct val="150000"/>
              </a:lnSpc>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Explore community-driven food initiatives that support local economies and sustainable practices.</a:t>
            </a:r>
          </a:p>
          <a:p>
            <a:pPr marL="457200" indent="-457200" algn="l">
              <a:lnSpc>
                <a:spcPct val="150000"/>
              </a:lnSpc>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Assess how these initiatives foster direct connections between producers and consumers.</a:t>
            </a:r>
          </a:p>
          <a:p>
            <a:pPr marL="457200" indent="-457200" algn="l">
              <a:lnSpc>
                <a:spcPct val="150000"/>
              </a:lnSpc>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Extract insights on community engagement, user satisfaction, and impact on local food systems.</a:t>
            </a:r>
          </a:p>
        </p:txBody>
      </p:sp>
      <p:sp>
        <p:nvSpPr>
          <p:cNvPr id="3" name="Rectangle 2">
            <a:extLst>
              <a:ext uri="{FF2B5EF4-FFF2-40B4-BE49-F238E27FC236}">
                <a16:creationId xmlns:a16="http://schemas.microsoft.com/office/drawing/2014/main" id="{8DC76CE0-784C-B6A2-DF1D-B7360859CB3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Rectangle 3">
            <a:extLst>
              <a:ext uri="{FF2B5EF4-FFF2-40B4-BE49-F238E27FC236}">
                <a16:creationId xmlns:a16="http://schemas.microsoft.com/office/drawing/2014/main" id="{941E0F87-9151-DEED-22E8-E9D9FE7B6638}"/>
              </a:ext>
            </a:extLst>
          </p:cNvPr>
          <p:cNvSpPr>
            <a:spLocks noChangeArrowheads="1"/>
          </p:cNvSpPr>
          <p:nvPr/>
        </p:nvSpPr>
        <p:spPr bwMode="auto">
          <a:xfrm>
            <a:off x="4683960" y="7938700"/>
            <a:ext cx="65" cy="276999"/>
          </a:xfrm>
          <a:prstGeom prst="rect">
            <a:avLst/>
          </a:prstGeom>
          <a:solidFill>
            <a:srgbClr val="34354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marL="457200" eaLnBrk="0" fontAlgn="base" hangingPunct="0">
              <a:spcBef>
                <a:spcPct val="0"/>
              </a:spcBef>
              <a:spcAft>
                <a:spcPct val="0"/>
              </a:spcAft>
              <a:defRPr>
                <a:solidFill>
                  <a:schemeClr val="tx1"/>
                </a:solidFill>
                <a:latin typeface="Arial" panose="020B0604020202020204" pitchFamily="34" charset="0"/>
              </a:defRPr>
            </a:lvl2pPr>
            <a:lvl3pPr marL="914400" eaLnBrk="0" fontAlgn="base" hangingPunct="0">
              <a:spcBef>
                <a:spcPct val="0"/>
              </a:spcBef>
              <a:spcAft>
                <a:spcPct val="0"/>
              </a:spcAft>
              <a:defRPr>
                <a:solidFill>
                  <a:schemeClr val="tx1"/>
                </a:solidFill>
                <a:latin typeface="Arial" panose="020B0604020202020204" pitchFamily="34" charset="0"/>
              </a:defRPr>
            </a:lvl3pPr>
            <a:lvl4pPr marL="1371600" eaLnBrk="0" fontAlgn="base" hangingPunct="0">
              <a:spcBef>
                <a:spcPct val="0"/>
              </a:spcBef>
              <a:spcAft>
                <a:spcPct val="0"/>
              </a:spcAft>
              <a:defRPr>
                <a:solidFill>
                  <a:schemeClr val="tx1"/>
                </a:solidFill>
                <a:latin typeface="Arial" panose="020B0604020202020204" pitchFamily="34" charset="0"/>
              </a:defRPr>
            </a:lvl4pPr>
            <a:lvl5pPr marL="1828800" eaLnBrk="0" fontAlgn="base" hangingPunct="0">
              <a:spcBef>
                <a:spcPct val="0"/>
              </a:spcBef>
              <a:spcAft>
                <a:spcPct val="0"/>
              </a:spcAft>
              <a:defRPr>
                <a:solidFill>
                  <a:schemeClr val="tx1"/>
                </a:solidFill>
                <a:latin typeface="Arial" panose="020B0604020202020204" pitchFamily="34" charset="0"/>
              </a:defRPr>
            </a:lvl5pPr>
            <a:lvl6pPr marL="2286000" eaLnBrk="0" fontAlgn="base" hangingPunct="0">
              <a:spcBef>
                <a:spcPct val="0"/>
              </a:spcBef>
              <a:spcAft>
                <a:spcPct val="0"/>
              </a:spcAft>
              <a:defRPr>
                <a:solidFill>
                  <a:schemeClr val="tx1"/>
                </a:solidFill>
                <a:latin typeface="Arial" panose="020B0604020202020204" pitchFamily="34" charset="0"/>
              </a:defRPr>
            </a:lvl6pPr>
            <a:lvl7pPr marL="2743200" eaLnBrk="0" fontAlgn="base" hangingPunct="0">
              <a:spcBef>
                <a:spcPct val="0"/>
              </a:spcBef>
              <a:spcAft>
                <a:spcPct val="0"/>
              </a:spcAft>
              <a:defRPr>
                <a:solidFill>
                  <a:schemeClr val="tx1"/>
                </a:solidFill>
                <a:latin typeface="Arial" panose="020B0604020202020204" pitchFamily="34" charset="0"/>
              </a:defRPr>
            </a:lvl7pPr>
            <a:lvl8pPr marL="3200400" eaLnBrk="0" fontAlgn="base" hangingPunct="0">
              <a:spcBef>
                <a:spcPct val="0"/>
              </a:spcBef>
              <a:spcAft>
                <a:spcPct val="0"/>
              </a:spcAft>
              <a:defRPr>
                <a:solidFill>
                  <a:schemeClr val="tx1"/>
                </a:solidFill>
                <a:latin typeface="Arial" panose="020B0604020202020204" pitchFamily="34" charset="0"/>
              </a:defRPr>
            </a:lvl8pPr>
            <a:lvl9pPr marL="3657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bg1"/>
              </a:solidFill>
              <a:effectLst/>
            </a:endParaRPr>
          </a:p>
        </p:txBody>
      </p:sp>
      <p:pic>
        <p:nvPicPr>
          <p:cNvPr id="4" name="Picture 3">
            <a:extLst>
              <a:ext uri="{FF2B5EF4-FFF2-40B4-BE49-F238E27FC236}">
                <a16:creationId xmlns:a16="http://schemas.microsoft.com/office/drawing/2014/main" id="{E9E15340-4694-D3F3-33CC-9A54352D439E}"/>
              </a:ext>
            </a:extLst>
          </p:cNvPr>
          <p:cNvPicPr>
            <a:picLocks noChangeAspect="1"/>
          </p:cNvPicPr>
          <p:nvPr/>
        </p:nvPicPr>
        <p:blipFill>
          <a:blip r:embed="rId3"/>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31761352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grpSp>
        <p:nvGrpSpPr>
          <p:cNvPr id="642" name="Google Shape;642;p6"/>
          <p:cNvGrpSpPr/>
          <p:nvPr/>
        </p:nvGrpSpPr>
        <p:grpSpPr>
          <a:xfrm>
            <a:off x="0" y="764662"/>
            <a:ext cx="4855701" cy="955041"/>
            <a:chOff x="0" y="839520"/>
            <a:chExt cx="7551573" cy="1037880"/>
          </a:xfrm>
        </p:grpSpPr>
        <p:sp>
          <p:nvSpPr>
            <p:cNvPr id="643" name="Google Shape;643;p6"/>
            <p:cNvSpPr/>
            <p:nvPr/>
          </p:nvSpPr>
          <p:spPr>
            <a:xfrm>
              <a:off x="0" y="839520"/>
              <a:ext cx="70261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44" name="Google Shape;644;p6"/>
            <p:cNvSpPr/>
            <p:nvPr/>
          </p:nvSpPr>
          <p:spPr>
            <a:xfrm>
              <a:off x="6222454" y="839520"/>
              <a:ext cx="1329119"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45" name="Google Shape;645;p6"/>
          <p:cNvSpPr/>
          <p:nvPr/>
        </p:nvSpPr>
        <p:spPr>
          <a:xfrm>
            <a:off x="171360" y="957600"/>
            <a:ext cx="72039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Literature Survey:</a:t>
            </a:r>
            <a:endParaRPr sz="4400" b="0" i="0" u="none" strike="noStrike" cap="none" dirty="0">
              <a:latin typeface="Arial"/>
              <a:ea typeface="Arial"/>
              <a:cs typeface="Arial"/>
              <a:sym typeface="Arial"/>
            </a:endParaRPr>
          </a:p>
        </p:txBody>
      </p:sp>
      <p:sp>
        <p:nvSpPr>
          <p:cNvPr id="647" name="Google Shape;647;p6"/>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6"/>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6"/>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50" name="Google Shape;650;p6"/>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TextBox 2">
            <a:extLst>
              <a:ext uri="{FF2B5EF4-FFF2-40B4-BE49-F238E27FC236}">
                <a16:creationId xmlns:a16="http://schemas.microsoft.com/office/drawing/2014/main" id="{C2C7FC89-F09F-B022-7CA0-C360C78C8129}"/>
              </a:ext>
            </a:extLst>
          </p:cNvPr>
          <p:cNvSpPr txBox="1"/>
          <p:nvPr/>
        </p:nvSpPr>
        <p:spPr>
          <a:xfrm>
            <a:off x="365760" y="2166481"/>
            <a:ext cx="17007840" cy="6986528"/>
          </a:xfrm>
          <a:prstGeom prst="rect">
            <a:avLst/>
          </a:prstGeom>
          <a:noFill/>
        </p:spPr>
        <p:txBody>
          <a:bodyPr wrap="square" rtlCol="0">
            <a:spAutoFit/>
          </a:bodyPr>
          <a:lstStyle/>
          <a:p>
            <a:pPr algn="l"/>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Title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 Real Time Web Service System for Food Delivery</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Authors</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Kartik, Ishika Bansal, Kirti, Kartik Rajvanshi</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Date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2023</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Publisher</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Journal of Data Acquisition and Processing</a:t>
            </a:r>
          </a:p>
          <a:p>
            <a:pPr algn="l"/>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l"/>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Summary:</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research paper focuses on developing a real-time web service system for food delivery to provide fresh, hygienic, and affordable meals to customers living away from home.</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paper discusses the need for nutritious and healthy food options for individuals studying or working outside their homes and the challenges they face in obtaining such meals.</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authors propose a web service that aims to offer quality food, reasonable prices, and a variety of tastes while also providing employment opportunities for housewives. The system includes features such as database design, user interface, payment methods, order tracking, and process diagrams.</a:t>
            </a:r>
          </a:p>
        </p:txBody>
      </p:sp>
      <p:sp>
        <p:nvSpPr>
          <p:cNvPr id="4" name="Rectangle 3">
            <a:extLst>
              <a:ext uri="{FF2B5EF4-FFF2-40B4-BE49-F238E27FC236}">
                <a16:creationId xmlns:a16="http://schemas.microsoft.com/office/drawing/2014/main" id="{4F0DF0BC-A769-FA06-9210-F4BD26774D23}"/>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extBox 1">
            <a:extLst>
              <a:ext uri="{FF2B5EF4-FFF2-40B4-BE49-F238E27FC236}">
                <a16:creationId xmlns:a16="http://schemas.microsoft.com/office/drawing/2014/main" id="{5F378C0C-C724-F530-F59F-754936EE26CF}"/>
              </a:ext>
            </a:extLst>
          </p:cNvPr>
          <p:cNvSpPr txBox="1"/>
          <p:nvPr/>
        </p:nvSpPr>
        <p:spPr>
          <a:xfrm>
            <a:off x="12363647" y="173377"/>
            <a:ext cx="3179785" cy="307777"/>
          </a:xfrm>
          <a:prstGeom prst="rect">
            <a:avLst/>
          </a:prstGeom>
          <a:noFill/>
        </p:spPr>
        <p:txBody>
          <a:bodyPr wrap="square" rtlCol="0">
            <a:spAutoFit/>
          </a:bodyPr>
          <a:lstStyle/>
          <a:p>
            <a:r>
              <a:rPr lang="en-IN" dirty="0"/>
              <a:t>\</a:t>
            </a:r>
          </a:p>
        </p:txBody>
      </p:sp>
      <p:pic>
        <p:nvPicPr>
          <p:cNvPr id="5" name="Picture 4">
            <a:extLst>
              <a:ext uri="{FF2B5EF4-FFF2-40B4-BE49-F238E27FC236}">
                <a16:creationId xmlns:a16="http://schemas.microsoft.com/office/drawing/2014/main" id="{B753D4B4-7F3C-1DB1-7857-612CE46BE538}"/>
              </a:ext>
            </a:extLst>
          </p:cNvPr>
          <p:cNvPicPr>
            <a:picLocks noChangeAspect="1"/>
          </p:cNvPicPr>
          <p:nvPr/>
        </p:nvPicPr>
        <p:blipFill>
          <a:blip r:embed="rId3"/>
          <a:stretch>
            <a:fillRect/>
          </a:stretch>
        </p:blipFill>
        <p:spPr>
          <a:xfrm>
            <a:off x="14621553" y="219835"/>
            <a:ext cx="4231706" cy="245630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grpSp>
        <p:nvGrpSpPr>
          <p:cNvPr id="642" name="Google Shape;642;p6"/>
          <p:cNvGrpSpPr/>
          <p:nvPr/>
        </p:nvGrpSpPr>
        <p:grpSpPr>
          <a:xfrm>
            <a:off x="0" y="764662"/>
            <a:ext cx="4855701" cy="955041"/>
            <a:chOff x="0" y="839520"/>
            <a:chExt cx="7551573" cy="1037880"/>
          </a:xfrm>
        </p:grpSpPr>
        <p:sp>
          <p:nvSpPr>
            <p:cNvPr id="643" name="Google Shape;643;p6"/>
            <p:cNvSpPr/>
            <p:nvPr/>
          </p:nvSpPr>
          <p:spPr>
            <a:xfrm>
              <a:off x="0" y="839520"/>
              <a:ext cx="70261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44" name="Google Shape;644;p6"/>
            <p:cNvSpPr/>
            <p:nvPr/>
          </p:nvSpPr>
          <p:spPr>
            <a:xfrm>
              <a:off x="6222454" y="839520"/>
              <a:ext cx="1329119"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45" name="Google Shape;645;p6"/>
          <p:cNvSpPr/>
          <p:nvPr/>
        </p:nvSpPr>
        <p:spPr>
          <a:xfrm>
            <a:off x="171360" y="957600"/>
            <a:ext cx="72039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Literature Survey:</a:t>
            </a:r>
            <a:endParaRPr sz="4400" b="0" i="0" u="none" strike="noStrike" cap="none" dirty="0">
              <a:latin typeface="Arial"/>
              <a:ea typeface="Arial"/>
              <a:cs typeface="Arial"/>
              <a:sym typeface="Arial"/>
            </a:endParaRPr>
          </a:p>
        </p:txBody>
      </p:sp>
      <p:sp>
        <p:nvSpPr>
          <p:cNvPr id="647" name="Google Shape;647;p6"/>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6"/>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6"/>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50" name="Google Shape;650;p6"/>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TextBox 2">
            <a:extLst>
              <a:ext uri="{FF2B5EF4-FFF2-40B4-BE49-F238E27FC236}">
                <a16:creationId xmlns:a16="http://schemas.microsoft.com/office/drawing/2014/main" id="{C2C7FC89-F09F-B022-7CA0-C360C78C8129}"/>
              </a:ext>
            </a:extLst>
          </p:cNvPr>
          <p:cNvSpPr txBox="1"/>
          <p:nvPr/>
        </p:nvSpPr>
        <p:spPr>
          <a:xfrm>
            <a:off x="365760" y="2166481"/>
            <a:ext cx="17007840" cy="7971413"/>
          </a:xfrm>
          <a:prstGeom prst="rect">
            <a:avLst/>
          </a:prstGeom>
          <a:noFill/>
        </p:spPr>
        <p:txBody>
          <a:bodyPr wrap="square" rtlCol="0">
            <a:spAutoFit/>
          </a:bodyPr>
          <a:lstStyle/>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Title :-</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Food Ordering website "Cooked with care" developed using MERN stack</a:t>
            </a:r>
          </a:p>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Author :- </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Amit </a:t>
            </a:r>
            <a:r>
              <a:rPr lang="en-IN" sz="3200" dirty="0" err="1">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Shersingh</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Chauhan, Abhishek Mishra, Sushil Bhardwaj, Sunita </a:t>
            </a:r>
            <a:r>
              <a:rPr lang="en-IN" sz="3200" dirty="0" err="1">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Nandgave</a:t>
            </a:r>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l"/>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Date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2022</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Publisher</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IEEE Xplore</a:t>
            </a:r>
          </a:p>
          <a:p>
            <a:pPr algn="l"/>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Summary</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research paper presents the development of a food ordering website called "Cooked with care" using the MERN stack (MongoDB,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ExpressJS</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React, NodeJS) and other technologies such as AWS cloud storage.</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website aims to provide a digital platform for homemakers and restaurant owners to sell their products and services online, with customer feedback and the ability to update menus.</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paper discusses the design and implementation of the website, its features including customer payment gateway, order management, and generating bills and invoices, and highlights its potential to reduce food wastage and enhance convenience for consumers and business owners.</a:t>
            </a:r>
          </a:p>
          <a:p>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
        <p:nvSpPr>
          <p:cNvPr id="4" name="Rectangle 3">
            <a:extLst>
              <a:ext uri="{FF2B5EF4-FFF2-40B4-BE49-F238E27FC236}">
                <a16:creationId xmlns:a16="http://schemas.microsoft.com/office/drawing/2014/main" id="{4F0DF0BC-A769-FA06-9210-F4BD26774D23}"/>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 name="Picture 1">
            <a:extLst>
              <a:ext uri="{FF2B5EF4-FFF2-40B4-BE49-F238E27FC236}">
                <a16:creationId xmlns:a16="http://schemas.microsoft.com/office/drawing/2014/main" id="{A2E08BA9-CE13-1B02-7967-F31A8C15B82F}"/>
              </a:ext>
            </a:extLst>
          </p:cNvPr>
          <p:cNvPicPr>
            <a:picLocks noChangeAspect="1"/>
          </p:cNvPicPr>
          <p:nvPr/>
        </p:nvPicPr>
        <p:blipFill>
          <a:blip r:embed="rId3"/>
          <a:stretch>
            <a:fillRect/>
          </a:stretch>
        </p:blipFill>
        <p:spPr>
          <a:xfrm>
            <a:off x="14819085" y="219835"/>
            <a:ext cx="4034173" cy="2456303"/>
          </a:xfrm>
          <a:prstGeom prst="rect">
            <a:avLst/>
          </a:prstGeom>
        </p:spPr>
      </p:pic>
    </p:spTree>
    <p:extLst>
      <p:ext uri="{BB962C8B-B14F-4D97-AF65-F5344CB8AC3E}">
        <p14:creationId xmlns:p14="http://schemas.microsoft.com/office/powerpoint/2010/main" val="6050428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grpSp>
        <p:nvGrpSpPr>
          <p:cNvPr id="642" name="Google Shape;642;p6"/>
          <p:cNvGrpSpPr/>
          <p:nvPr/>
        </p:nvGrpSpPr>
        <p:grpSpPr>
          <a:xfrm>
            <a:off x="0" y="764662"/>
            <a:ext cx="4855701" cy="955041"/>
            <a:chOff x="0" y="839520"/>
            <a:chExt cx="7551573" cy="1037880"/>
          </a:xfrm>
        </p:grpSpPr>
        <p:sp>
          <p:nvSpPr>
            <p:cNvPr id="643" name="Google Shape;643;p6"/>
            <p:cNvSpPr/>
            <p:nvPr/>
          </p:nvSpPr>
          <p:spPr>
            <a:xfrm>
              <a:off x="0" y="839520"/>
              <a:ext cx="70261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44" name="Google Shape;644;p6"/>
            <p:cNvSpPr/>
            <p:nvPr/>
          </p:nvSpPr>
          <p:spPr>
            <a:xfrm>
              <a:off x="6222454" y="839520"/>
              <a:ext cx="1329119"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45" name="Google Shape;645;p6"/>
          <p:cNvSpPr/>
          <p:nvPr/>
        </p:nvSpPr>
        <p:spPr>
          <a:xfrm>
            <a:off x="171360" y="957600"/>
            <a:ext cx="72039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Literature Survey:</a:t>
            </a:r>
            <a:endParaRPr sz="4400" b="0" i="0" u="none" strike="noStrike" cap="none" dirty="0">
              <a:latin typeface="Arial"/>
              <a:ea typeface="Arial"/>
              <a:cs typeface="Arial"/>
              <a:sym typeface="Arial"/>
            </a:endParaRPr>
          </a:p>
        </p:txBody>
      </p:sp>
      <p:sp>
        <p:nvSpPr>
          <p:cNvPr id="647" name="Google Shape;647;p6"/>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6"/>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6"/>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50" name="Google Shape;650;p6"/>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TextBox 2">
            <a:extLst>
              <a:ext uri="{FF2B5EF4-FFF2-40B4-BE49-F238E27FC236}">
                <a16:creationId xmlns:a16="http://schemas.microsoft.com/office/drawing/2014/main" id="{C2C7FC89-F09F-B022-7CA0-C360C78C8129}"/>
              </a:ext>
            </a:extLst>
          </p:cNvPr>
          <p:cNvSpPr txBox="1"/>
          <p:nvPr/>
        </p:nvSpPr>
        <p:spPr>
          <a:xfrm>
            <a:off x="171360" y="1812281"/>
            <a:ext cx="17768297" cy="7971413"/>
          </a:xfrm>
          <a:prstGeom prst="rect">
            <a:avLst/>
          </a:prstGeom>
          <a:noFill/>
        </p:spPr>
        <p:txBody>
          <a:bodyPr wrap="square" rtlCol="0">
            <a:spAutoFit/>
          </a:bodyPr>
          <a:lstStyle/>
          <a:p>
            <a:pPr algn="l"/>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Title: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Web Based Application for Ordering Food Raw Materials</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Authors:</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Rita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Layona</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Budi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Yulianto</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Yovita</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Tunardi</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Date: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2021</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Publisher:</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1st International Conference on Computer Science and Artificial Intelligence</a:t>
            </a:r>
          </a:p>
          <a:p>
            <a:pPr algn="l"/>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Summary:</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research paper addresses the economic impact of the Covid-19 pandemic in Indonesia, specifically focusing on the challenges faced by housewives in shopping for food raw materials while avoiding virus transmission.</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authors propose a web-based application that allows housewives and community members to safely and easily order food raw materials from local merchants, with delivery carried out by a local government courier.</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study utilizes a mixed method approach, combining quantitative research and the Waterfall development method, to gather requirements and develop the application. The paper highlights the importance of centralized goods delivery and the use of Indonesian language for local residents.</a:t>
            </a:r>
          </a:p>
        </p:txBody>
      </p:sp>
      <p:sp>
        <p:nvSpPr>
          <p:cNvPr id="4" name="Rectangle 3">
            <a:extLst>
              <a:ext uri="{FF2B5EF4-FFF2-40B4-BE49-F238E27FC236}">
                <a16:creationId xmlns:a16="http://schemas.microsoft.com/office/drawing/2014/main" id="{4F0DF0BC-A769-FA06-9210-F4BD26774D23}"/>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 name="Picture 1">
            <a:extLst>
              <a:ext uri="{FF2B5EF4-FFF2-40B4-BE49-F238E27FC236}">
                <a16:creationId xmlns:a16="http://schemas.microsoft.com/office/drawing/2014/main" id="{B41E2F63-5D97-4910-6164-AB9580B3486D}"/>
              </a:ext>
            </a:extLst>
          </p:cNvPr>
          <p:cNvPicPr>
            <a:picLocks noChangeAspect="1"/>
          </p:cNvPicPr>
          <p:nvPr/>
        </p:nvPicPr>
        <p:blipFill>
          <a:blip r:embed="rId3"/>
          <a:stretch>
            <a:fillRect/>
          </a:stretch>
        </p:blipFill>
        <p:spPr>
          <a:xfrm>
            <a:off x="14621553" y="244549"/>
            <a:ext cx="4231706" cy="2456303"/>
          </a:xfrm>
          <a:prstGeom prst="rect">
            <a:avLst/>
          </a:prstGeom>
        </p:spPr>
      </p:pic>
    </p:spTree>
    <p:extLst>
      <p:ext uri="{BB962C8B-B14F-4D97-AF65-F5344CB8AC3E}">
        <p14:creationId xmlns:p14="http://schemas.microsoft.com/office/powerpoint/2010/main" val="19667432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grpSp>
        <p:nvGrpSpPr>
          <p:cNvPr id="642" name="Google Shape;642;p6"/>
          <p:cNvGrpSpPr/>
          <p:nvPr/>
        </p:nvGrpSpPr>
        <p:grpSpPr>
          <a:xfrm>
            <a:off x="0" y="764662"/>
            <a:ext cx="4855701" cy="955041"/>
            <a:chOff x="0" y="839520"/>
            <a:chExt cx="7551573" cy="1037880"/>
          </a:xfrm>
        </p:grpSpPr>
        <p:sp>
          <p:nvSpPr>
            <p:cNvPr id="643" name="Google Shape;643;p6"/>
            <p:cNvSpPr/>
            <p:nvPr/>
          </p:nvSpPr>
          <p:spPr>
            <a:xfrm>
              <a:off x="0" y="839520"/>
              <a:ext cx="70261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44" name="Google Shape;644;p6"/>
            <p:cNvSpPr/>
            <p:nvPr/>
          </p:nvSpPr>
          <p:spPr>
            <a:xfrm>
              <a:off x="6222454" y="839520"/>
              <a:ext cx="1329119"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45" name="Google Shape;645;p6"/>
          <p:cNvSpPr/>
          <p:nvPr/>
        </p:nvSpPr>
        <p:spPr>
          <a:xfrm>
            <a:off x="171360" y="957600"/>
            <a:ext cx="72039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Literature Survey:</a:t>
            </a:r>
            <a:endParaRPr sz="4400" b="0" i="0" u="none" strike="noStrike" cap="none" dirty="0">
              <a:latin typeface="Arial"/>
              <a:ea typeface="Arial"/>
              <a:cs typeface="Arial"/>
              <a:sym typeface="Arial"/>
            </a:endParaRPr>
          </a:p>
        </p:txBody>
      </p:sp>
      <p:sp>
        <p:nvSpPr>
          <p:cNvPr id="647" name="Google Shape;647;p6"/>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6"/>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6"/>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50" name="Google Shape;650;p6"/>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TextBox 2">
            <a:extLst>
              <a:ext uri="{FF2B5EF4-FFF2-40B4-BE49-F238E27FC236}">
                <a16:creationId xmlns:a16="http://schemas.microsoft.com/office/drawing/2014/main" id="{C2C7FC89-F09F-B022-7CA0-C360C78C8129}"/>
              </a:ext>
            </a:extLst>
          </p:cNvPr>
          <p:cNvSpPr txBox="1"/>
          <p:nvPr/>
        </p:nvSpPr>
        <p:spPr>
          <a:xfrm>
            <a:off x="365760" y="2581525"/>
            <a:ext cx="17007840" cy="6986528"/>
          </a:xfrm>
          <a:prstGeom prst="rect">
            <a:avLst/>
          </a:prstGeom>
          <a:noFill/>
        </p:spPr>
        <p:txBody>
          <a:bodyPr wrap="square" rtlCol="0">
            <a:spAutoFit/>
          </a:bodyPr>
          <a:lstStyle/>
          <a:p>
            <a:pPr algn="l"/>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Title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Causal analysis of factors contributing to food wastage in restaurants of India</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Authors</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Mahakpreet</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Kaur Virdi, Shubhangi Gupta,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Nitasha</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Hasteer</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Kashish Rastogi</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Date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2023-12-27</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Publisher</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International Conference on Computational Intelligence and Sustainable Engineering Solutions (CISES)</a:t>
            </a:r>
          </a:p>
          <a:p>
            <a:pPr algn="l"/>
            <a:endPar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l"/>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Summary</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a:t>
            </a:r>
            <a:endPar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research paper investigates the factors contributing to food wastage in restaurants in India.</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study uses a survey analysis to identify six factors causing food wastage and applies the DEMATEL (Decision-Making Trial and Evaluation Laboratory) approach to establish causal relationships.</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most influential factor identified is "Less Shelf Life (LSL)." The paper emphasizes the importance of reducing food waste for social, economic, and environmental reasons.</a:t>
            </a:r>
          </a:p>
        </p:txBody>
      </p:sp>
      <p:sp>
        <p:nvSpPr>
          <p:cNvPr id="4" name="Rectangle 3">
            <a:extLst>
              <a:ext uri="{FF2B5EF4-FFF2-40B4-BE49-F238E27FC236}">
                <a16:creationId xmlns:a16="http://schemas.microsoft.com/office/drawing/2014/main" id="{4F0DF0BC-A769-FA06-9210-F4BD26774D23}"/>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 name="Picture 1">
            <a:extLst>
              <a:ext uri="{FF2B5EF4-FFF2-40B4-BE49-F238E27FC236}">
                <a16:creationId xmlns:a16="http://schemas.microsoft.com/office/drawing/2014/main" id="{90502AD9-BEF0-3584-3D53-13C0D80B164F}"/>
              </a:ext>
            </a:extLst>
          </p:cNvPr>
          <p:cNvPicPr>
            <a:picLocks noChangeAspect="1"/>
          </p:cNvPicPr>
          <p:nvPr/>
        </p:nvPicPr>
        <p:blipFill>
          <a:blip r:embed="rId3"/>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13590668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grpSp>
        <p:nvGrpSpPr>
          <p:cNvPr id="642" name="Google Shape;642;p6"/>
          <p:cNvGrpSpPr/>
          <p:nvPr/>
        </p:nvGrpSpPr>
        <p:grpSpPr>
          <a:xfrm>
            <a:off x="0" y="764662"/>
            <a:ext cx="4855701" cy="955041"/>
            <a:chOff x="0" y="839520"/>
            <a:chExt cx="7551573" cy="1037880"/>
          </a:xfrm>
        </p:grpSpPr>
        <p:sp>
          <p:nvSpPr>
            <p:cNvPr id="643" name="Google Shape;643;p6"/>
            <p:cNvSpPr/>
            <p:nvPr/>
          </p:nvSpPr>
          <p:spPr>
            <a:xfrm>
              <a:off x="0" y="839520"/>
              <a:ext cx="70261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44" name="Google Shape;644;p6"/>
            <p:cNvSpPr/>
            <p:nvPr/>
          </p:nvSpPr>
          <p:spPr>
            <a:xfrm>
              <a:off x="6222454" y="839520"/>
              <a:ext cx="1329119"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45" name="Google Shape;645;p6"/>
          <p:cNvSpPr/>
          <p:nvPr/>
        </p:nvSpPr>
        <p:spPr>
          <a:xfrm>
            <a:off x="171360" y="957600"/>
            <a:ext cx="72039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Literature Survey:</a:t>
            </a:r>
            <a:endParaRPr sz="4400" b="0" i="0" u="none" strike="noStrike" cap="none" dirty="0">
              <a:latin typeface="Arial"/>
              <a:ea typeface="Arial"/>
              <a:cs typeface="Arial"/>
              <a:sym typeface="Arial"/>
            </a:endParaRPr>
          </a:p>
        </p:txBody>
      </p:sp>
      <p:sp>
        <p:nvSpPr>
          <p:cNvPr id="647" name="Google Shape;647;p6"/>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6"/>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6"/>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50" name="Google Shape;650;p6"/>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TextBox 2">
            <a:extLst>
              <a:ext uri="{FF2B5EF4-FFF2-40B4-BE49-F238E27FC236}">
                <a16:creationId xmlns:a16="http://schemas.microsoft.com/office/drawing/2014/main" id="{C2C7FC89-F09F-B022-7CA0-C360C78C8129}"/>
              </a:ext>
            </a:extLst>
          </p:cNvPr>
          <p:cNvSpPr txBox="1"/>
          <p:nvPr/>
        </p:nvSpPr>
        <p:spPr>
          <a:xfrm>
            <a:off x="365760" y="2166481"/>
            <a:ext cx="17007840" cy="6986528"/>
          </a:xfrm>
          <a:prstGeom prst="rect">
            <a:avLst/>
          </a:prstGeom>
          <a:noFill/>
        </p:spPr>
        <p:txBody>
          <a:bodyPr wrap="square" rtlCol="0">
            <a:spAutoFit/>
          </a:bodyPr>
          <a:lstStyle/>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Title</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Design of Web App for Online Food Services</a:t>
            </a:r>
          </a:p>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Authors</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Harsh Pathak, Naman Gupta, Dhiren </a:t>
            </a:r>
            <a:r>
              <a:rPr lang="en-IN" sz="3200" dirty="0" err="1">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Premakar</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Preeti Garg</a:t>
            </a:r>
          </a:p>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Date: </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May 2022</a:t>
            </a:r>
          </a:p>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Publisher:</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International Journal for Research in Applied Science &amp; Engineering Technology (IJRASET)</a:t>
            </a:r>
          </a:p>
          <a:p>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Summary</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research paper discusses the design of a web application for online food services, emphasizing the convenience and benefits of online food ordering.</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proposed methodology involves a requirement analysis stage, the development of a mobile food ordering system, and the use of the MERN stack technology.</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paper highlights the features and advantages of an online food ordering system, such as easy access to information, customer support, and potential cost savings for restaurants. It also acknowledges potential disadvantages, including quality control and delivery challenges.</a:t>
            </a:r>
          </a:p>
        </p:txBody>
      </p:sp>
      <p:sp>
        <p:nvSpPr>
          <p:cNvPr id="4" name="Rectangle 3">
            <a:extLst>
              <a:ext uri="{FF2B5EF4-FFF2-40B4-BE49-F238E27FC236}">
                <a16:creationId xmlns:a16="http://schemas.microsoft.com/office/drawing/2014/main" id="{4F0DF0BC-A769-FA06-9210-F4BD26774D23}"/>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 name="Picture 1">
            <a:extLst>
              <a:ext uri="{FF2B5EF4-FFF2-40B4-BE49-F238E27FC236}">
                <a16:creationId xmlns:a16="http://schemas.microsoft.com/office/drawing/2014/main" id="{A671EA1B-BE30-FC82-B2A1-1B2FF95418BA}"/>
              </a:ext>
            </a:extLst>
          </p:cNvPr>
          <p:cNvPicPr>
            <a:picLocks noChangeAspect="1"/>
          </p:cNvPicPr>
          <p:nvPr/>
        </p:nvPicPr>
        <p:blipFill>
          <a:blip r:embed="rId3"/>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18015047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67"/>
        <p:cNvGrpSpPr/>
        <p:nvPr/>
      </p:nvGrpSpPr>
      <p:grpSpPr>
        <a:xfrm>
          <a:off x="0" y="0"/>
          <a:ext cx="0" cy="0"/>
          <a:chOff x="0" y="0"/>
          <a:chExt cx="0" cy="0"/>
        </a:xfrm>
      </p:grpSpPr>
      <p:grpSp>
        <p:nvGrpSpPr>
          <p:cNvPr id="668" name="Google Shape;668;p8"/>
          <p:cNvGrpSpPr/>
          <p:nvPr/>
        </p:nvGrpSpPr>
        <p:grpSpPr>
          <a:xfrm>
            <a:off x="0" y="839520"/>
            <a:ext cx="5303160" cy="1037880"/>
            <a:chOff x="0" y="839520"/>
            <a:chExt cx="5303160" cy="1037880"/>
          </a:xfrm>
        </p:grpSpPr>
        <p:sp>
          <p:nvSpPr>
            <p:cNvPr id="669" name="Google Shape;669;p8"/>
            <p:cNvSpPr/>
            <p:nvPr/>
          </p:nvSpPr>
          <p:spPr>
            <a:xfrm>
              <a:off x="0" y="839520"/>
              <a:ext cx="48513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70" name="Google Shape;670;p8"/>
            <p:cNvSpPr/>
            <p:nvPr/>
          </p:nvSpPr>
          <p:spPr>
            <a:xfrm>
              <a:off x="4385520" y="839520"/>
              <a:ext cx="9176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71" name="Google Shape;671;p8"/>
          <p:cNvSpPr/>
          <p:nvPr/>
        </p:nvSpPr>
        <p:spPr>
          <a:xfrm>
            <a:off x="171360" y="957600"/>
            <a:ext cx="72039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Literature Survey</a:t>
            </a:r>
            <a:endParaRPr sz="4400" b="0" i="0" u="none" strike="noStrike" cap="none" dirty="0">
              <a:latin typeface="Arial"/>
              <a:ea typeface="Arial"/>
              <a:cs typeface="Arial"/>
              <a:sym typeface="Arial"/>
            </a:endParaRPr>
          </a:p>
        </p:txBody>
      </p:sp>
      <p:sp>
        <p:nvSpPr>
          <p:cNvPr id="673" name="Google Shape;673;p8"/>
          <p:cNvSpPr/>
          <p:nvPr/>
        </p:nvSpPr>
        <p:spPr>
          <a:xfrm>
            <a:off x="0" y="1849320"/>
            <a:ext cx="3565800" cy="58896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674" name="Google Shape;674;p8"/>
          <p:cNvSpPr/>
          <p:nvPr/>
        </p:nvSpPr>
        <p:spPr>
          <a:xfrm>
            <a:off x="154080" y="1779480"/>
            <a:ext cx="3199680" cy="56052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Existing Systems</a:t>
            </a:r>
            <a:endParaRPr sz="3600" b="0" i="0" u="none" strike="noStrike" cap="none">
              <a:latin typeface="Arial"/>
              <a:ea typeface="Arial"/>
              <a:cs typeface="Arial"/>
              <a:sym typeface="Arial"/>
            </a:endParaRPr>
          </a:p>
        </p:txBody>
      </p:sp>
      <p:sp>
        <p:nvSpPr>
          <p:cNvPr id="675" name="Google Shape;675;p8"/>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8"/>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8"/>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78" name="Google Shape;678;p8"/>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object 31">
            <a:extLst>
              <a:ext uri="{FF2B5EF4-FFF2-40B4-BE49-F238E27FC236}">
                <a16:creationId xmlns:a16="http://schemas.microsoft.com/office/drawing/2014/main" id="{AD400032-1333-5450-9A49-FFBD893D5242}"/>
              </a:ext>
            </a:extLst>
          </p:cNvPr>
          <p:cNvSpPr/>
          <p:nvPr/>
        </p:nvSpPr>
        <p:spPr>
          <a:xfrm>
            <a:off x="317634" y="2801450"/>
            <a:ext cx="17842029" cy="5544106"/>
          </a:xfrm>
          <a:prstGeom prst="rect">
            <a:avLst/>
          </a:prstGeom>
          <a:noFill/>
          <a:ln w="0">
            <a:noFill/>
          </a:ln>
        </p:spPr>
        <p:style>
          <a:lnRef idx="0">
            <a:scrgbClr r="0" g="0" b="0"/>
          </a:lnRef>
          <a:fillRef idx="0">
            <a:scrgbClr r="0" g="0" b="0"/>
          </a:fillRef>
          <a:effectRef idx="0">
            <a:scrgbClr r="0" g="0" b="0"/>
          </a:effectRef>
          <a:fontRef idx="minor"/>
        </p:style>
        <p:txBody>
          <a:bodyPr wrap="square" lIns="0" tIns="5040" rIns="0" bIns="0" anchor="t">
            <a:spAutoFit/>
          </a:bodyPr>
          <a:lstStyle/>
          <a:p>
            <a:pPr marL="12600" indent="-216000" algn="just">
              <a:lnSpc>
                <a:spcPct val="150000"/>
              </a:lnSpc>
              <a:spcBef>
                <a:spcPts val="850"/>
              </a:spcBef>
              <a:spcAft>
                <a:spcPts val="850"/>
              </a:spcAft>
              <a:buClr>
                <a:srgbClr val="000000"/>
              </a:buClr>
              <a:buFont typeface="Symbol"/>
              <a:buChar char=""/>
            </a:pPr>
            <a:r>
              <a:rPr lang="en-IN" sz="3200" b="1" dirty="0">
                <a:latin typeface="Microsoft Sans Serif" panose="020B0604020202020204" pitchFamily="34" charset="0"/>
                <a:ea typeface="Microsoft Sans Serif" panose="020B0604020202020204" pitchFamily="34" charset="0"/>
                <a:cs typeface="Microsoft Sans Serif" panose="020B0604020202020204" pitchFamily="34" charset="0"/>
              </a:rPr>
              <a:t>Swiggy: </a:t>
            </a:r>
            <a:r>
              <a:rPr lang="en-IN" sz="320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Swiggy is an online food delivery platform that connects users with a wide range of local restaurants, allowing them to order food and have it delivered to their doorstep.</a:t>
            </a:r>
          </a:p>
          <a:p>
            <a:pPr marL="12600" indent="-216000" algn="just">
              <a:lnSpc>
                <a:spcPct val="150000"/>
              </a:lnSpc>
              <a:spcBef>
                <a:spcPts val="850"/>
              </a:spcBef>
              <a:spcAft>
                <a:spcPts val="850"/>
              </a:spcAft>
              <a:buClr>
                <a:srgbClr val="000000"/>
              </a:buClr>
              <a:buFont typeface="Symbol"/>
              <a:buChar char=""/>
            </a:pPr>
            <a:r>
              <a:rPr lang="en-US" sz="3200" b="0" strike="noStrike" spc="-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1" i="0" strike="noStrike"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Zomato:</a:t>
            </a:r>
            <a:r>
              <a:rPr lang="en-IN" sz="320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Zomato is a global restaurant discovery and food delivery platform that enables users to explore restaurants, read reviews, and order food for delivery or takeout.</a:t>
            </a:r>
            <a:endParaRPr lang="en-US" sz="3200" b="0" strike="noStrike" spc="-1" dirty="0">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12600" indent="-216000" algn="just">
              <a:lnSpc>
                <a:spcPct val="150000"/>
              </a:lnSpc>
              <a:spcBef>
                <a:spcPts val="850"/>
              </a:spcBef>
              <a:spcAft>
                <a:spcPts val="850"/>
              </a:spcAft>
              <a:buClr>
                <a:srgbClr val="000000"/>
              </a:buClr>
              <a:buFont typeface="Symbol"/>
              <a:buChar char=""/>
            </a:pPr>
            <a:r>
              <a:rPr lang="en-US" sz="3200" b="0"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US"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Uber Eats: </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Uber Eats is the food delivery arm of Uber, providing users with the convenience of ordering food from local restaurants through the Uber Eats app and having it delivered by Uber drivers.</a:t>
            </a:r>
            <a:endParaRPr lang="en-US" sz="3200" strike="noStrike" spc="-1"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
        <p:nvSpPr>
          <p:cNvPr id="3" name="Rectangle 2">
            <a:extLst>
              <a:ext uri="{FF2B5EF4-FFF2-40B4-BE49-F238E27FC236}">
                <a16:creationId xmlns:a16="http://schemas.microsoft.com/office/drawing/2014/main" id="{B96E47D0-A60B-1A13-9E35-1E95EFE2A989}"/>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a:extLst>
              <a:ext uri="{FF2B5EF4-FFF2-40B4-BE49-F238E27FC236}">
                <a16:creationId xmlns:a16="http://schemas.microsoft.com/office/drawing/2014/main" id="{ED4F7A36-B831-10F4-1B95-45288A46F5FC}"/>
              </a:ext>
            </a:extLst>
          </p:cNvPr>
          <p:cNvPicPr>
            <a:picLocks noChangeAspect="1"/>
          </p:cNvPicPr>
          <p:nvPr/>
        </p:nvPicPr>
        <p:blipFill>
          <a:blip r:embed="rId3"/>
          <a:stretch>
            <a:fillRect/>
          </a:stretch>
        </p:blipFill>
        <p:spPr>
          <a:xfrm>
            <a:off x="14621553" y="219835"/>
            <a:ext cx="4231706" cy="245630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82"/>
        <p:cNvGrpSpPr/>
        <p:nvPr/>
      </p:nvGrpSpPr>
      <p:grpSpPr>
        <a:xfrm>
          <a:off x="0" y="0"/>
          <a:ext cx="0" cy="0"/>
          <a:chOff x="0" y="0"/>
          <a:chExt cx="0" cy="0"/>
        </a:xfrm>
      </p:grpSpPr>
      <p:grpSp>
        <p:nvGrpSpPr>
          <p:cNvPr id="683" name="Google Shape;683;p9"/>
          <p:cNvGrpSpPr/>
          <p:nvPr/>
        </p:nvGrpSpPr>
        <p:grpSpPr>
          <a:xfrm>
            <a:off x="0" y="839520"/>
            <a:ext cx="5303160" cy="1037880"/>
            <a:chOff x="0" y="839520"/>
            <a:chExt cx="5303160" cy="1037880"/>
          </a:xfrm>
        </p:grpSpPr>
        <p:sp>
          <p:nvSpPr>
            <p:cNvPr id="684" name="Google Shape;684;p9"/>
            <p:cNvSpPr/>
            <p:nvPr/>
          </p:nvSpPr>
          <p:spPr>
            <a:xfrm>
              <a:off x="0" y="839520"/>
              <a:ext cx="48513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85" name="Google Shape;685;p9"/>
            <p:cNvSpPr/>
            <p:nvPr/>
          </p:nvSpPr>
          <p:spPr>
            <a:xfrm>
              <a:off x="4385520" y="839520"/>
              <a:ext cx="9176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86" name="Google Shape;686;p9"/>
          <p:cNvSpPr/>
          <p:nvPr/>
        </p:nvSpPr>
        <p:spPr>
          <a:xfrm>
            <a:off x="171360" y="957600"/>
            <a:ext cx="72039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Literature Survey</a:t>
            </a:r>
            <a:endParaRPr sz="4400" b="0" i="0" u="none" strike="noStrike" cap="none">
              <a:latin typeface="Arial"/>
              <a:ea typeface="Arial"/>
              <a:cs typeface="Arial"/>
              <a:sym typeface="Arial"/>
            </a:endParaRPr>
          </a:p>
        </p:txBody>
      </p:sp>
      <p:sp>
        <p:nvSpPr>
          <p:cNvPr id="687" name="Google Shape;687;p9"/>
          <p:cNvSpPr/>
          <p:nvPr/>
        </p:nvSpPr>
        <p:spPr>
          <a:xfrm>
            <a:off x="0" y="1849320"/>
            <a:ext cx="3565800" cy="58896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688" name="Google Shape;688;p9"/>
          <p:cNvSpPr/>
          <p:nvPr/>
        </p:nvSpPr>
        <p:spPr>
          <a:xfrm>
            <a:off x="154080" y="1779480"/>
            <a:ext cx="3199680" cy="56052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Comparison</a:t>
            </a:r>
            <a:endParaRPr sz="3600" b="0" i="0" u="none" strike="noStrike" cap="none">
              <a:latin typeface="Arial"/>
              <a:ea typeface="Arial"/>
              <a:cs typeface="Arial"/>
              <a:sym typeface="Arial"/>
            </a:endParaRPr>
          </a:p>
        </p:txBody>
      </p:sp>
      <p:sp>
        <p:nvSpPr>
          <p:cNvPr id="690" name="Google Shape;690;p9"/>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9"/>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9"/>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93" name="Google Shape;693;p9"/>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4" name="Rectangle 3">
            <a:extLst>
              <a:ext uri="{FF2B5EF4-FFF2-40B4-BE49-F238E27FC236}">
                <a16:creationId xmlns:a16="http://schemas.microsoft.com/office/drawing/2014/main" id="{8196B7A1-AFB3-298C-EEB1-7326675967A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aphicFrame>
        <p:nvGraphicFramePr>
          <p:cNvPr id="5" name="Table 4">
            <a:extLst>
              <a:ext uri="{FF2B5EF4-FFF2-40B4-BE49-F238E27FC236}">
                <a16:creationId xmlns:a16="http://schemas.microsoft.com/office/drawing/2014/main" id="{832B423F-4A0B-51D9-EC55-D1C82247CE72}"/>
              </a:ext>
            </a:extLst>
          </p:cNvPr>
          <p:cNvGraphicFramePr>
            <a:graphicFrameLocks noGrp="1"/>
          </p:cNvGraphicFramePr>
          <p:nvPr>
            <p:extLst>
              <p:ext uri="{D42A27DB-BD31-4B8C-83A1-F6EECF244321}">
                <p14:modId xmlns:p14="http://schemas.microsoft.com/office/powerpoint/2010/main" val="3540680283"/>
              </p:ext>
            </p:extLst>
          </p:nvPr>
        </p:nvGraphicFramePr>
        <p:xfrm>
          <a:off x="335280" y="3121600"/>
          <a:ext cx="18303240" cy="6939105"/>
        </p:xfrm>
        <a:graphic>
          <a:graphicData uri="http://schemas.openxmlformats.org/drawingml/2006/table">
            <a:tbl>
              <a:tblPr firstRow="1" bandRow="1">
                <a:tableStyleId>{20C9CE97-CE7F-44E7-8DA9-80F1B485C8E6}</a:tableStyleId>
              </a:tblPr>
              <a:tblGrid>
                <a:gridCol w="6101080">
                  <a:extLst>
                    <a:ext uri="{9D8B030D-6E8A-4147-A177-3AD203B41FA5}">
                      <a16:colId xmlns:a16="http://schemas.microsoft.com/office/drawing/2014/main" val="3046766488"/>
                    </a:ext>
                  </a:extLst>
                </a:gridCol>
                <a:gridCol w="6101080">
                  <a:extLst>
                    <a:ext uri="{9D8B030D-6E8A-4147-A177-3AD203B41FA5}">
                      <a16:colId xmlns:a16="http://schemas.microsoft.com/office/drawing/2014/main" val="445244232"/>
                    </a:ext>
                  </a:extLst>
                </a:gridCol>
                <a:gridCol w="6101080">
                  <a:extLst>
                    <a:ext uri="{9D8B030D-6E8A-4147-A177-3AD203B41FA5}">
                      <a16:colId xmlns:a16="http://schemas.microsoft.com/office/drawing/2014/main" val="1540060497"/>
                    </a:ext>
                  </a:extLst>
                </a:gridCol>
              </a:tblGrid>
              <a:tr h="644985">
                <a:tc>
                  <a:txBody>
                    <a:bodyPr/>
                    <a:lstStyle/>
                    <a:p>
                      <a:pPr algn="ctr"/>
                      <a:r>
                        <a:rPr lang="en-IN" sz="2900" b="1"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Feature</a:t>
                      </a:r>
                      <a:endParaRPr lang="en-IN" sz="29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fontAlgn="b"/>
                      <a:r>
                        <a:rPr lang="en-IN" sz="2900" b="1" dirty="0">
                          <a:effectLst/>
                          <a:latin typeface="Microsoft Sans Serif" panose="020B0604020202020204" pitchFamily="34" charset="0"/>
                          <a:ea typeface="Microsoft Sans Serif" panose="020B0604020202020204" pitchFamily="34" charset="0"/>
                          <a:cs typeface="Microsoft Sans Serif" panose="020B0604020202020204" pitchFamily="34" charset="0"/>
                        </a:rPr>
                        <a:t>Taste of Home (Proposed)</a:t>
                      </a:r>
                    </a:p>
                  </a:txBody>
                  <a:tcPr anchor="ctr"/>
                </a:tc>
                <a:tc>
                  <a:txBody>
                    <a:bodyPr/>
                    <a:lstStyle/>
                    <a:p>
                      <a:pPr algn="ctr" fontAlgn="b"/>
                      <a:r>
                        <a:rPr lang="en-IN" sz="2900" b="1" dirty="0">
                          <a:effectLst/>
                          <a:latin typeface="Microsoft Sans Serif" panose="020B0604020202020204" pitchFamily="34" charset="0"/>
                          <a:ea typeface="Microsoft Sans Serif" panose="020B0604020202020204" pitchFamily="34" charset="0"/>
                          <a:cs typeface="Microsoft Sans Serif" panose="020B0604020202020204" pitchFamily="34" charset="0"/>
                        </a:rPr>
                        <a:t>Zomato/Swiggy/Uber Eats</a:t>
                      </a:r>
                    </a:p>
                  </a:txBody>
                  <a:tcPr anchor="ctr"/>
                </a:tc>
                <a:extLst>
                  <a:ext uri="{0D108BD9-81ED-4DB2-BD59-A6C34878D82A}">
                    <a16:rowId xmlns:a16="http://schemas.microsoft.com/office/drawing/2014/main" val="1974429767"/>
                  </a:ext>
                </a:extLst>
              </a:tr>
              <a:tr h="901213">
                <a:tc>
                  <a:txBody>
                    <a:bodyPr/>
                    <a:lstStyle/>
                    <a:p>
                      <a:pPr algn="ctr" fontAlgn="base"/>
                      <a:r>
                        <a:rPr lang="en-IN" sz="2900" b="1" dirty="0">
                          <a:effectLst/>
                          <a:latin typeface="Microsoft Sans Serif" panose="020B0604020202020204" pitchFamily="34" charset="0"/>
                          <a:ea typeface="Microsoft Sans Serif" panose="020B0604020202020204" pitchFamily="34" charset="0"/>
                          <a:cs typeface="Microsoft Sans Serif" panose="020B0604020202020204" pitchFamily="34" charset="0"/>
                        </a:rPr>
                        <a:t>Platform Focus</a:t>
                      </a:r>
                      <a:endParaRPr lang="en-IN" sz="29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a:r>
                        <a:rPr lang="en-IN" sz="2900" b="0"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Connects local food producers with consumers</a:t>
                      </a:r>
                      <a:endParaRPr lang="en-IN" sz="29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a:r>
                        <a:rPr lang="en-IN" sz="2900" b="0"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Aggregates restaurants and offers food delivery services</a:t>
                      </a:r>
                      <a:endParaRPr lang="en-IN" sz="29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extLst>
                  <a:ext uri="{0D108BD9-81ED-4DB2-BD59-A6C34878D82A}">
                    <a16:rowId xmlns:a16="http://schemas.microsoft.com/office/drawing/2014/main" val="4078994046"/>
                  </a:ext>
                </a:extLst>
              </a:tr>
              <a:tr h="901213">
                <a:tc>
                  <a:txBody>
                    <a:bodyPr/>
                    <a:lstStyle/>
                    <a:p>
                      <a:pPr algn="ctr" fontAlgn="base"/>
                      <a:r>
                        <a:rPr lang="en-IN" sz="2900" b="1" dirty="0">
                          <a:effectLst/>
                          <a:latin typeface="Microsoft Sans Serif" panose="020B0604020202020204" pitchFamily="34" charset="0"/>
                          <a:ea typeface="Microsoft Sans Serif" panose="020B0604020202020204" pitchFamily="34" charset="0"/>
                          <a:cs typeface="Microsoft Sans Serif" panose="020B0604020202020204" pitchFamily="34" charset="0"/>
                        </a:rPr>
                        <a:t>User Profiles</a:t>
                      </a:r>
                      <a:endParaRPr lang="en-IN" sz="29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a:r>
                        <a:rPr lang="en-IN" sz="2900" b="0"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Both food producers and consumers create profiles</a:t>
                      </a:r>
                      <a:endParaRPr lang="en-IN" sz="29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a:r>
                        <a:rPr lang="en-IN" sz="2900" b="0"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Primarily consumer-focused profiles with limited restaurant details</a:t>
                      </a:r>
                      <a:endParaRPr lang="en-IN" sz="29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extLst>
                  <a:ext uri="{0D108BD9-81ED-4DB2-BD59-A6C34878D82A}">
                    <a16:rowId xmlns:a16="http://schemas.microsoft.com/office/drawing/2014/main" val="1622736265"/>
                  </a:ext>
                </a:extLst>
              </a:tr>
              <a:tr h="901213">
                <a:tc>
                  <a:txBody>
                    <a:bodyPr/>
                    <a:lstStyle/>
                    <a:p>
                      <a:pPr algn="ctr"/>
                      <a:r>
                        <a:rPr lang="en-IN" sz="2900" b="1"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Listings</a:t>
                      </a:r>
                      <a:endParaRPr lang="en-IN" sz="29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a:r>
                        <a:rPr lang="en-IN" sz="2900" b="0"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Food producers showcase unique homemade offerings</a:t>
                      </a:r>
                      <a:endParaRPr lang="en-IN" sz="29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a:r>
                        <a:rPr lang="en-IN" sz="2900" b="0"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Restaurants and their menu items displayed</a:t>
                      </a:r>
                      <a:endParaRPr lang="en-IN" sz="29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extLst>
                  <a:ext uri="{0D108BD9-81ED-4DB2-BD59-A6C34878D82A}">
                    <a16:rowId xmlns:a16="http://schemas.microsoft.com/office/drawing/2014/main" val="2627834058"/>
                  </a:ext>
                </a:extLst>
              </a:tr>
              <a:tr h="901213">
                <a:tc>
                  <a:txBody>
                    <a:bodyPr/>
                    <a:lstStyle/>
                    <a:p>
                      <a:pPr algn="ctr"/>
                      <a:r>
                        <a:rPr lang="en-IN" sz="2900" b="1"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Messaging</a:t>
                      </a:r>
                      <a:endParaRPr lang="en-IN" sz="29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fontAlgn="base"/>
                      <a:r>
                        <a:rPr lang="en-IN" sz="29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Enables direct communication between users and food producers</a:t>
                      </a:r>
                    </a:p>
                  </a:txBody>
                  <a:tcPr anchor="ctr"/>
                </a:tc>
                <a:tc>
                  <a:txBody>
                    <a:bodyPr/>
                    <a:lstStyle/>
                    <a:p>
                      <a:pPr algn="ctr" fontAlgn="base"/>
                      <a:r>
                        <a:rPr lang="en-IN" sz="29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Communication limited to order updates and support with restaurants</a:t>
                      </a:r>
                    </a:p>
                  </a:txBody>
                  <a:tcPr anchor="ctr"/>
                </a:tc>
                <a:extLst>
                  <a:ext uri="{0D108BD9-81ED-4DB2-BD59-A6C34878D82A}">
                    <a16:rowId xmlns:a16="http://schemas.microsoft.com/office/drawing/2014/main" val="1836112178"/>
                  </a:ext>
                </a:extLst>
              </a:tr>
              <a:tr h="901213">
                <a:tc>
                  <a:txBody>
                    <a:bodyPr/>
                    <a:lstStyle/>
                    <a:p>
                      <a:pPr algn="ctr" fontAlgn="base"/>
                      <a:r>
                        <a:rPr lang="en-IN" sz="2900" b="1" dirty="0">
                          <a:effectLst/>
                          <a:latin typeface="Microsoft Sans Serif" panose="020B0604020202020204" pitchFamily="34" charset="0"/>
                          <a:ea typeface="Microsoft Sans Serif" panose="020B0604020202020204" pitchFamily="34" charset="0"/>
                          <a:cs typeface="Microsoft Sans Serif" panose="020B0604020202020204" pitchFamily="34" charset="0"/>
                        </a:rPr>
                        <a:t>Mission and Impact</a:t>
                      </a:r>
                      <a:endParaRPr lang="en-IN" sz="29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fontAlgn="base"/>
                      <a:r>
                        <a:rPr lang="en-IN" sz="29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Addresses concerns such as food waste, supports local economies</a:t>
                      </a:r>
                    </a:p>
                  </a:txBody>
                  <a:tcPr anchor="ctr"/>
                </a:tc>
                <a:tc>
                  <a:txBody>
                    <a:bodyPr/>
                    <a:lstStyle/>
                    <a:p>
                      <a:pPr algn="ctr" fontAlgn="base"/>
                      <a:r>
                        <a:rPr lang="en-IN" sz="29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Primarily focused on providing convenient food delivery services</a:t>
                      </a:r>
                    </a:p>
                  </a:txBody>
                  <a:tcPr anchor="ctr"/>
                </a:tc>
                <a:extLst>
                  <a:ext uri="{0D108BD9-81ED-4DB2-BD59-A6C34878D82A}">
                    <a16:rowId xmlns:a16="http://schemas.microsoft.com/office/drawing/2014/main" val="443738577"/>
                  </a:ext>
                </a:extLst>
              </a:tr>
              <a:tr h="901213">
                <a:tc>
                  <a:txBody>
                    <a:bodyPr/>
                    <a:lstStyle/>
                    <a:p>
                      <a:pPr algn="ctr"/>
                      <a:r>
                        <a:rPr lang="en-IN" sz="2900" b="1"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Vision</a:t>
                      </a:r>
                      <a:endParaRPr lang="en-IN" sz="29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fontAlgn="base"/>
                      <a:r>
                        <a:rPr lang="en-IN" sz="29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Celebrates local culinary talents and reduces food waste</a:t>
                      </a:r>
                    </a:p>
                  </a:txBody>
                  <a:tcPr anchor="ctr"/>
                </a:tc>
                <a:tc>
                  <a:txBody>
                    <a:bodyPr/>
                    <a:lstStyle/>
                    <a:p>
                      <a:pPr algn="ctr" fontAlgn="base"/>
                      <a:r>
                        <a:rPr lang="en-IN" sz="29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Provides a convenient and efficient food delivery service</a:t>
                      </a:r>
                    </a:p>
                  </a:txBody>
                  <a:tcPr anchor="ctr"/>
                </a:tc>
                <a:extLst>
                  <a:ext uri="{0D108BD9-81ED-4DB2-BD59-A6C34878D82A}">
                    <a16:rowId xmlns:a16="http://schemas.microsoft.com/office/drawing/2014/main" val="824837253"/>
                  </a:ext>
                </a:extLst>
              </a:tr>
            </a:tbl>
          </a:graphicData>
        </a:graphic>
      </p:graphicFrame>
      <p:pic>
        <p:nvPicPr>
          <p:cNvPr id="2" name="Picture 1">
            <a:extLst>
              <a:ext uri="{FF2B5EF4-FFF2-40B4-BE49-F238E27FC236}">
                <a16:creationId xmlns:a16="http://schemas.microsoft.com/office/drawing/2014/main" id="{C2BD7465-FE69-9F17-7481-51BE15DE869D}"/>
              </a:ext>
            </a:extLst>
          </p:cNvPr>
          <p:cNvPicPr>
            <a:picLocks noChangeAspect="1"/>
          </p:cNvPicPr>
          <p:nvPr/>
        </p:nvPicPr>
        <p:blipFill>
          <a:blip r:embed="rId3"/>
          <a:stretch>
            <a:fillRect/>
          </a:stretch>
        </p:blipFill>
        <p:spPr>
          <a:xfrm>
            <a:off x="14621553" y="219835"/>
            <a:ext cx="4231706" cy="245630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97"/>
        <p:cNvGrpSpPr/>
        <p:nvPr/>
      </p:nvGrpSpPr>
      <p:grpSpPr>
        <a:xfrm>
          <a:off x="0" y="0"/>
          <a:ext cx="0" cy="0"/>
          <a:chOff x="0" y="0"/>
          <a:chExt cx="0" cy="0"/>
        </a:xfrm>
      </p:grpSpPr>
      <p:grpSp>
        <p:nvGrpSpPr>
          <p:cNvPr id="698" name="Google Shape;698;p10"/>
          <p:cNvGrpSpPr/>
          <p:nvPr/>
        </p:nvGrpSpPr>
        <p:grpSpPr>
          <a:xfrm>
            <a:off x="0" y="839520"/>
            <a:ext cx="5303160" cy="1037880"/>
            <a:chOff x="0" y="839520"/>
            <a:chExt cx="5303160" cy="1037880"/>
          </a:xfrm>
        </p:grpSpPr>
        <p:sp>
          <p:nvSpPr>
            <p:cNvPr id="699" name="Google Shape;699;p10"/>
            <p:cNvSpPr/>
            <p:nvPr/>
          </p:nvSpPr>
          <p:spPr>
            <a:xfrm>
              <a:off x="0" y="839520"/>
              <a:ext cx="48513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00" name="Google Shape;700;p10"/>
            <p:cNvSpPr/>
            <p:nvPr/>
          </p:nvSpPr>
          <p:spPr>
            <a:xfrm>
              <a:off x="4385520" y="839520"/>
              <a:ext cx="9176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01" name="Google Shape;701;p10"/>
          <p:cNvSpPr/>
          <p:nvPr/>
        </p:nvSpPr>
        <p:spPr>
          <a:xfrm>
            <a:off x="171360" y="957600"/>
            <a:ext cx="72039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Literature Survey</a:t>
            </a:r>
            <a:endParaRPr sz="4400" b="0" i="0" u="none" strike="noStrike" cap="none">
              <a:latin typeface="Arial"/>
              <a:ea typeface="Arial"/>
              <a:cs typeface="Arial"/>
              <a:sym typeface="Arial"/>
            </a:endParaRPr>
          </a:p>
        </p:txBody>
      </p:sp>
      <p:sp>
        <p:nvSpPr>
          <p:cNvPr id="703" name="Google Shape;703;p10"/>
          <p:cNvSpPr/>
          <p:nvPr/>
        </p:nvSpPr>
        <p:spPr>
          <a:xfrm>
            <a:off x="0" y="1849320"/>
            <a:ext cx="5211720" cy="58896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704" name="Google Shape;704;p10"/>
          <p:cNvSpPr/>
          <p:nvPr/>
        </p:nvSpPr>
        <p:spPr>
          <a:xfrm>
            <a:off x="171360" y="1815120"/>
            <a:ext cx="4948920" cy="56160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dirty="0">
                <a:solidFill>
                  <a:srgbClr val="FFFFFF"/>
                </a:solidFill>
                <a:latin typeface="Calibri"/>
                <a:ea typeface="Calibri"/>
                <a:cs typeface="Calibri"/>
                <a:sym typeface="Calibri"/>
              </a:rPr>
              <a:t>Technologies Survey</a:t>
            </a:r>
            <a:endParaRPr sz="3600" b="0" i="0" u="none" strike="noStrike" cap="none" dirty="0">
              <a:latin typeface="Arial"/>
              <a:ea typeface="Arial"/>
              <a:cs typeface="Arial"/>
              <a:sym typeface="Arial"/>
            </a:endParaRPr>
          </a:p>
        </p:txBody>
      </p:sp>
      <p:sp>
        <p:nvSpPr>
          <p:cNvPr id="705" name="Google Shape;705;p10"/>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0"/>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10"/>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08" name="Google Shape;708;p10"/>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object 65">
            <a:extLst>
              <a:ext uri="{FF2B5EF4-FFF2-40B4-BE49-F238E27FC236}">
                <a16:creationId xmlns:a16="http://schemas.microsoft.com/office/drawing/2014/main" id="{D4435410-3A37-BD0E-4FDB-BA51C9C9A3A0}"/>
              </a:ext>
            </a:extLst>
          </p:cNvPr>
          <p:cNvSpPr/>
          <p:nvPr/>
        </p:nvSpPr>
        <p:spPr>
          <a:xfrm>
            <a:off x="425914" y="2847845"/>
            <a:ext cx="18156872" cy="6513602"/>
          </a:xfrm>
          <a:prstGeom prst="rect">
            <a:avLst/>
          </a:prstGeom>
          <a:noFill/>
          <a:ln w="0">
            <a:noFill/>
          </a:ln>
        </p:spPr>
        <p:style>
          <a:lnRef idx="0">
            <a:scrgbClr r="0" g="0" b="0"/>
          </a:lnRef>
          <a:fillRef idx="0">
            <a:scrgbClr r="0" g="0" b="0"/>
          </a:fillRef>
          <a:effectRef idx="0">
            <a:scrgbClr r="0" g="0" b="0"/>
          </a:effectRef>
          <a:fontRef idx="minor"/>
        </p:style>
        <p:txBody>
          <a:bodyPr wrap="square" lIns="0" tIns="5040" rIns="0" bIns="0" anchor="t">
            <a:spAutoFit/>
          </a:bodyPr>
          <a:lstStyle/>
          <a:p>
            <a:pPr marL="12600" indent="-216000" algn="just">
              <a:lnSpc>
                <a:spcPct val="150000"/>
              </a:lnSpc>
              <a:spcBef>
                <a:spcPts val="850"/>
              </a:spcBef>
              <a:spcAft>
                <a:spcPts val="850"/>
              </a:spcAft>
              <a:buClr>
                <a:srgbClr val="000000"/>
              </a:buClr>
              <a:buFont typeface="Symbol"/>
              <a:buChar char=""/>
            </a:pPr>
            <a:r>
              <a:rPr lang="en-IN" sz="3200" b="1" dirty="0">
                <a:latin typeface="Microsoft Sans Serif" panose="020B0604020202020204" pitchFamily="34" charset="0"/>
                <a:ea typeface="Microsoft Sans Serif" panose="020B0604020202020204" pitchFamily="34" charset="0"/>
                <a:cs typeface="Microsoft Sans Serif" panose="020B0604020202020204" pitchFamily="34" charset="0"/>
              </a:rPr>
              <a:t> React: </a:t>
            </a:r>
            <a:r>
              <a:rPr lang="en-IN" sz="320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React is a JavaScript library for building user interfaces, known for its declarative and efficient approach to creating interactive components.</a:t>
            </a:r>
          </a:p>
          <a:p>
            <a:pPr marL="12600" indent="-216000" algn="just">
              <a:lnSpc>
                <a:spcPct val="150000"/>
              </a:lnSpc>
              <a:spcBef>
                <a:spcPts val="850"/>
              </a:spcBef>
              <a:spcAft>
                <a:spcPts val="850"/>
              </a:spcAft>
              <a:buClr>
                <a:srgbClr val="000000"/>
              </a:buClr>
              <a:buFont typeface="Symbol"/>
              <a:buChar char=""/>
            </a:pPr>
            <a:r>
              <a:rPr lang="en-US"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Express.js: </a:t>
            </a:r>
            <a:r>
              <a:rPr lang="en-US"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E</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xpress.js is a minimal and flexible Node.js web application framework that simplifies the process of building robust web applications.</a:t>
            </a:r>
            <a:r>
              <a:rPr lang="en-US"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a:t>
            </a:r>
          </a:p>
          <a:p>
            <a:pPr marL="12600" indent="-216000" algn="just">
              <a:lnSpc>
                <a:spcPct val="150000"/>
              </a:lnSpc>
              <a:spcBef>
                <a:spcPts val="850"/>
              </a:spcBef>
              <a:spcAft>
                <a:spcPts val="850"/>
              </a:spcAft>
              <a:buClr>
                <a:srgbClr val="000000"/>
              </a:buClr>
              <a:buFont typeface="Symbol"/>
              <a:buChar char=""/>
            </a:pPr>
            <a:r>
              <a:rPr lang="en-US"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Node JS: </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Node.js is a server-side JavaScript runtime that allows for building scalable and high-performance applications.</a:t>
            </a:r>
          </a:p>
          <a:p>
            <a:pPr marL="12600" indent="-216000" algn="just">
              <a:lnSpc>
                <a:spcPct val="150000"/>
              </a:lnSpc>
              <a:spcBef>
                <a:spcPts val="850"/>
              </a:spcBef>
              <a:spcAft>
                <a:spcPts val="850"/>
              </a:spcAft>
              <a:buClr>
                <a:srgbClr val="000000"/>
              </a:buClr>
              <a:buFont typeface="Symbol"/>
              <a:buChar char=""/>
            </a:pPr>
            <a:r>
              <a:rPr lang="en-IN" sz="3200" b="1" dirty="0" err="1">
                <a:latin typeface="Microsoft Sans Serif" panose="020B0604020202020204" pitchFamily="34" charset="0"/>
                <a:ea typeface="Microsoft Sans Serif" panose="020B0604020202020204" pitchFamily="34" charset="0"/>
                <a:cs typeface="Microsoft Sans Serif" panose="020B0604020202020204" pitchFamily="34" charset="0"/>
              </a:rPr>
              <a:t>C</a:t>
            </a:r>
            <a:r>
              <a:rPr lang="en-IN" sz="3200" b="1" i="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loudinary</a:t>
            </a:r>
            <a:r>
              <a:rPr lang="en-IN" sz="3200" b="1" i="0" dirty="0">
                <a:effectLst/>
                <a:latin typeface="Microsoft Sans Serif" panose="020B0604020202020204" pitchFamily="34" charset="0"/>
                <a:ea typeface="Microsoft Sans Serif" panose="020B0604020202020204" pitchFamily="34" charset="0"/>
                <a:cs typeface="Microsoft Sans Serif" panose="020B0604020202020204" pitchFamily="34" charset="0"/>
              </a:rPr>
              <a:t> (for images): </a:t>
            </a:r>
            <a:r>
              <a:rPr lang="en-IN" sz="3200" i="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Cloudinary</a:t>
            </a:r>
            <a:r>
              <a:rPr lang="en-IN" sz="3200" i="0" dirty="0">
                <a:effectLst/>
                <a:latin typeface="Microsoft Sans Serif" panose="020B0604020202020204" pitchFamily="34" charset="0"/>
                <a:ea typeface="Microsoft Sans Serif" panose="020B0604020202020204" pitchFamily="34" charset="0"/>
                <a:cs typeface="Microsoft Sans Serif" panose="020B0604020202020204" pitchFamily="34" charset="0"/>
              </a:rPr>
              <a:t> is a cloud-based image and video management service, offering features like storage, optimization, and delivery for media assets.</a:t>
            </a:r>
          </a:p>
        </p:txBody>
      </p:sp>
      <p:sp>
        <p:nvSpPr>
          <p:cNvPr id="3" name="Rectangle 2">
            <a:extLst>
              <a:ext uri="{FF2B5EF4-FFF2-40B4-BE49-F238E27FC236}">
                <a16:creationId xmlns:a16="http://schemas.microsoft.com/office/drawing/2014/main" id="{87174E1A-6D4C-EFFD-B83E-73ED8E74BB49}"/>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a:extLst>
              <a:ext uri="{FF2B5EF4-FFF2-40B4-BE49-F238E27FC236}">
                <a16:creationId xmlns:a16="http://schemas.microsoft.com/office/drawing/2014/main" id="{DFB247D6-57CD-7A83-9309-0D7668275AD5}"/>
              </a:ext>
            </a:extLst>
          </p:cNvPr>
          <p:cNvPicPr>
            <a:picLocks noChangeAspect="1"/>
          </p:cNvPicPr>
          <p:nvPr/>
        </p:nvPicPr>
        <p:blipFill>
          <a:blip r:embed="rId3"/>
          <a:stretch>
            <a:fillRect/>
          </a:stretch>
        </p:blipFill>
        <p:spPr>
          <a:xfrm>
            <a:off x="14621553" y="219835"/>
            <a:ext cx="4231706" cy="245630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97"/>
        <p:cNvGrpSpPr/>
        <p:nvPr/>
      </p:nvGrpSpPr>
      <p:grpSpPr>
        <a:xfrm>
          <a:off x="0" y="0"/>
          <a:ext cx="0" cy="0"/>
          <a:chOff x="0" y="0"/>
          <a:chExt cx="0" cy="0"/>
        </a:xfrm>
      </p:grpSpPr>
      <p:grpSp>
        <p:nvGrpSpPr>
          <p:cNvPr id="698" name="Google Shape;698;p10"/>
          <p:cNvGrpSpPr/>
          <p:nvPr/>
        </p:nvGrpSpPr>
        <p:grpSpPr>
          <a:xfrm>
            <a:off x="0" y="839520"/>
            <a:ext cx="5303160" cy="1037880"/>
            <a:chOff x="0" y="839520"/>
            <a:chExt cx="5303160" cy="1037880"/>
          </a:xfrm>
        </p:grpSpPr>
        <p:sp>
          <p:nvSpPr>
            <p:cNvPr id="699" name="Google Shape;699;p10"/>
            <p:cNvSpPr/>
            <p:nvPr/>
          </p:nvSpPr>
          <p:spPr>
            <a:xfrm>
              <a:off x="0" y="839520"/>
              <a:ext cx="48513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00" name="Google Shape;700;p10"/>
            <p:cNvSpPr/>
            <p:nvPr/>
          </p:nvSpPr>
          <p:spPr>
            <a:xfrm>
              <a:off x="4385520" y="839520"/>
              <a:ext cx="9176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01" name="Google Shape;701;p10"/>
          <p:cNvSpPr/>
          <p:nvPr/>
        </p:nvSpPr>
        <p:spPr>
          <a:xfrm>
            <a:off x="171360" y="957600"/>
            <a:ext cx="72039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Literature Survey</a:t>
            </a:r>
            <a:endParaRPr sz="4400" b="0" i="0" u="none" strike="noStrike" cap="none">
              <a:latin typeface="Arial"/>
              <a:ea typeface="Arial"/>
              <a:cs typeface="Arial"/>
              <a:sym typeface="Arial"/>
            </a:endParaRPr>
          </a:p>
        </p:txBody>
      </p:sp>
      <p:sp>
        <p:nvSpPr>
          <p:cNvPr id="703" name="Google Shape;703;p10"/>
          <p:cNvSpPr/>
          <p:nvPr/>
        </p:nvSpPr>
        <p:spPr>
          <a:xfrm>
            <a:off x="0" y="1849320"/>
            <a:ext cx="5211720" cy="58896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704" name="Google Shape;704;p10"/>
          <p:cNvSpPr/>
          <p:nvPr/>
        </p:nvSpPr>
        <p:spPr>
          <a:xfrm>
            <a:off x="171360" y="1815120"/>
            <a:ext cx="4948920" cy="56160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dirty="0">
                <a:solidFill>
                  <a:srgbClr val="FFFFFF"/>
                </a:solidFill>
                <a:latin typeface="Calibri"/>
                <a:ea typeface="Calibri"/>
                <a:cs typeface="Calibri"/>
                <a:sym typeface="Calibri"/>
              </a:rPr>
              <a:t>Technologies Survey</a:t>
            </a:r>
            <a:endParaRPr sz="3600" b="0" i="0" u="none" strike="noStrike" cap="none" dirty="0">
              <a:latin typeface="Arial"/>
              <a:ea typeface="Arial"/>
              <a:cs typeface="Arial"/>
              <a:sym typeface="Arial"/>
            </a:endParaRPr>
          </a:p>
        </p:txBody>
      </p:sp>
      <p:sp>
        <p:nvSpPr>
          <p:cNvPr id="705" name="Google Shape;705;p10"/>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0"/>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10"/>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08" name="Google Shape;708;p10"/>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object 65">
            <a:extLst>
              <a:ext uri="{FF2B5EF4-FFF2-40B4-BE49-F238E27FC236}">
                <a16:creationId xmlns:a16="http://schemas.microsoft.com/office/drawing/2014/main" id="{8F00577D-E60C-94C3-0AD3-788E9F6D25AB}"/>
              </a:ext>
            </a:extLst>
          </p:cNvPr>
          <p:cNvSpPr/>
          <p:nvPr/>
        </p:nvSpPr>
        <p:spPr>
          <a:xfrm>
            <a:off x="451970" y="2887200"/>
            <a:ext cx="18104760" cy="3097282"/>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marL="12600" indent="-216000" algn="just">
              <a:lnSpc>
                <a:spcPct val="150000"/>
              </a:lnSpc>
              <a:spcBef>
                <a:spcPts val="850"/>
              </a:spcBef>
              <a:spcAft>
                <a:spcPts val="850"/>
              </a:spcAft>
              <a:buClr>
                <a:srgbClr val="000000"/>
              </a:buClr>
              <a:buFont typeface="Symbol"/>
              <a:buChar char=""/>
            </a:pPr>
            <a:r>
              <a:rPr lang="en-IN" sz="3200" b="1" dirty="0">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MongoDB: </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MongoDB is a NoSQL database management system, ideal for handling unstructured data and scalable applications.</a:t>
            </a:r>
          </a:p>
          <a:p>
            <a:pPr marL="12600" indent="-216000" algn="just">
              <a:lnSpc>
                <a:spcPct val="150000"/>
              </a:lnSpc>
              <a:spcBef>
                <a:spcPts val="850"/>
              </a:spcBef>
              <a:spcAft>
                <a:spcPts val="850"/>
              </a:spcAft>
              <a:buClr>
                <a:srgbClr val="000000"/>
              </a:buClr>
              <a:buFont typeface="Symbol"/>
              <a:buChar char=""/>
            </a:pPr>
            <a:r>
              <a:rPr lang="en-IN" sz="3200" b="1" i="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Stripe (for payment): </a:t>
            </a:r>
            <a:r>
              <a:rPr lang="en-IN" sz="3200" i="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Stripe is a secure and developer-friendly platform that provides tools for online payment processing, supporting credit/debit card and digital wallet transactions.</a:t>
            </a:r>
            <a:endPar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
        <p:nvSpPr>
          <p:cNvPr id="2" name="Rectangle 1">
            <a:extLst>
              <a:ext uri="{FF2B5EF4-FFF2-40B4-BE49-F238E27FC236}">
                <a16:creationId xmlns:a16="http://schemas.microsoft.com/office/drawing/2014/main" id="{8D6AB430-226C-C064-70B4-077E4DEF2C86}"/>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a:extLst>
              <a:ext uri="{FF2B5EF4-FFF2-40B4-BE49-F238E27FC236}">
                <a16:creationId xmlns:a16="http://schemas.microsoft.com/office/drawing/2014/main" id="{323B5A42-B5AE-7662-EFF2-97ABA963DE7D}"/>
              </a:ext>
            </a:extLst>
          </p:cNvPr>
          <p:cNvPicPr>
            <a:picLocks noChangeAspect="1"/>
          </p:cNvPicPr>
          <p:nvPr/>
        </p:nvPicPr>
        <p:blipFill>
          <a:blip r:embed="rId3"/>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3739043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712"/>
        <p:cNvGrpSpPr/>
        <p:nvPr/>
      </p:nvGrpSpPr>
      <p:grpSpPr>
        <a:xfrm>
          <a:off x="0" y="0"/>
          <a:ext cx="0" cy="0"/>
          <a:chOff x="0" y="0"/>
          <a:chExt cx="0" cy="0"/>
        </a:xfrm>
      </p:grpSpPr>
      <p:grpSp>
        <p:nvGrpSpPr>
          <p:cNvPr id="713" name="Google Shape;713;p11"/>
          <p:cNvGrpSpPr/>
          <p:nvPr/>
        </p:nvGrpSpPr>
        <p:grpSpPr>
          <a:xfrm>
            <a:off x="0" y="839520"/>
            <a:ext cx="5303160" cy="1037880"/>
            <a:chOff x="0" y="839520"/>
            <a:chExt cx="5303160" cy="1037880"/>
          </a:xfrm>
        </p:grpSpPr>
        <p:sp>
          <p:nvSpPr>
            <p:cNvPr id="714" name="Google Shape;714;p11"/>
            <p:cNvSpPr/>
            <p:nvPr/>
          </p:nvSpPr>
          <p:spPr>
            <a:xfrm>
              <a:off x="0" y="839520"/>
              <a:ext cx="48513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15" name="Google Shape;715;p11"/>
            <p:cNvSpPr/>
            <p:nvPr/>
          </p:nvSpPr>
          <p:spPr>
            <a:xfrm>
              <a:off x="4385520" y="839520"/>
              <a:ext cx="9176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16" name="Google Shape;716;p11"/>
          <p:cNvSpPr/>
          <p:nvPr/>
        </p:nvSpPr>
        <p:spPr>
          <a:xfrm>
            <a:off x="171360" y="957600"/>
            <a:ext cx="7203960" cy="68256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Tools &amp; Technologies</a:t>
            </a:r>
            <a:endParaRPr sz="4400" b="0" i="0" u="none" strike="noStrike" cap="none" dirty="0">
              <a:latin typeface="Arial"/>
              <a:ea typeface="Arial"/>
              <a:cs typeface="Arial"/>
              <a:sym typeface="Arial"/>
            </a:endParaRPr>
          </a:p>
        </p:txBody>
      </p:sp>
      <p:sp>
        <p:nvSpPr>
          <p:cNvPr id="719" name="Google Shape;719;p11"/>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11"/>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11"/>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22" name="Google Shape;722;p11"/>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6BA0BF8E-967C-5AF7-AD54-CA1E6CC816B9}"/>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aphicFrame>
        <p:nvGraphicFramePr>
          <p:cNvPr id="5" name="Table 4">
            <a:extLst>
              <a:ext uri="{FF2B5EF4-FFF2-40B4-BE49-F238E27FC236}">
                <a16:creationId xmlns:a16="http://schemas.microsoft.com/office/drawing/2014/main" id="{1D5EF6F8-F12B-5E6F-EA2C-B048E9EE2C8A}"/>
              </a:ext>
            </a:extLst>
          </p:cNvPr>
          <p:cNvGraphicFramePr>
            <a:graphicFrameLocks noGrp="1"/>
          </p:cNvGraphicFramePr>
          <p:nvPr>
            <p:extLst>
              <p:ext uri="{D42A27DB-BD31-4B8C-83A1-F6EECF244321}">
                <p14:modId xmlns:p14="http://schemas.microsoft.com/office/powerpoint/2010/main" val="2009890971"/>
              </p:ext>
            </p:extLst>
          </p:nvPr>
        </p:nvGraphicFramePr>
        <p:xfrm>
          <a:off x="692072" y="2858417"/>
          <a:ext cx="16044839" cy="2439964"/>
        </p:xfrm>
        <a:graphic>
          <a:graphicData uri="http://schemas.openxmlformats.org/drawingml/2006/table">
            <a:tbl>
              <a:tblPr firstRow="1" bandRow="1">
                <a:tableStyleId>{073A0DAA-6AF3-43AB-8588-CEC1D06C72B9}</a:tableStyleId>
              </a:tblPr>
              <a:tblGrid>
                <a:gridCol w="4030767">
                  <a:extLst>
                    <a:ext uri="{9D8B030D-6E8A-4147-A177-3AD203B41FA5}">
                      <a16:colId xmlns:a16="http://schemas.microsoft.com/office/drawing/2014/main" val="1808182997"/>
                    </a:ext>
                  </a:extLst>
                </a:gridCol>
                <a:gridCol w="12014072">
                  <a:extLst>
                    <a:ext uri="{9D8B030D-6E8A-4147-A177-3AD203B41FA5}">
                      <a16:colId xmlns:a16="http://schemas.microsoft.com/office/drawing/2014/main" val="1089993888"/>
                    </a:ext>
                  </a:extLst>
                </a:gridCol>
              </a:tblGrid>
              <a:tr h="609991">
                <a:tc>
                  <a:txBody>
                    <a:bodyPr/>
                    <a:lstStyle/>
                    <a:p>
                      <a:r>
                        <a:rPr lang="en-US" sz="2800" dirty="0"/>
                        <a:t>Specification</a:t>
                      </a:r>
                    </a:p>
                  </a:txBody>
                  <a:tcPr/>
                </a:tc>
                <a:tc>
                  <a:txBody>
                    <a:bodyPr/>
                    <a:lstStyle/>
                    <a:p>
                      <a:r>
                        <a:rPr lang="en-US" sz="2800" dirty="0"/>
                        <a:t>Required Value</a:t>
                      </a:r>
                    </a:p>
                  </a:txBody>
                  <a:tcPr/>
                </a:tc>
                <a:extLst>
                  <a:ext uri="{0D108BD9-81ED-4DB2-BD59-A6C34878D82A}">
                    <a16:rowId xmlns:a16="http://schemas.microsoft.com/office/drawing/2014/main" val="29599920"/>
                  </a:ext>
                </a:extLst>
              </a:tr>
              <a:tr h="609991">
                <a:tc>
                  <a:txBody>
                    <a:bodyPr/>
                    <a:lstStyle/>
                    <a:p>
                      <a:r>
                        <a:rPr lang="en-US" sz="2800" dirty="0"/>
                        <a:t>Processor</a:t>
                      </a:r>
                    </a:p>
                  </a:txBody>
                  <a:tcPr/>
                </a:tc>
                <a:tc>
                  <a:txBody>
                    <a:bodyPr/>
                    <a:lstStyle/>
                    <a:p>
                      <a:r>
                        <a:rPr lang="en-US" sz="2800" dirty="0"/>
                        <a:t>Intel i3 and above</a:t>
                      </a:r>
                    </a:p>
                  </a:txBody>
                  <a:tcPr/>
                </a:tc>
                <a:extLst>
                  <a:ext uri="{0D108BD9-81ED-4DB2-BD59-A6C34878D82A}">
                    <a16:rowId xmlns:a16="http://schemas.microsoft.com/office/drawing/2014/main" val="2456125172"/>
                  </a:ext>
                </a:extLst>
              </a:tr>
              <a:tr h="609991">
                <a:tc>
                  <a:txBody>
                    <a:bodyPr/>
                    <a:lstStyle/>
                    <a:p>
                      <a:r>
                        <a:rPr lang="en-US" sz="2800" dirty="0"/>
                        <a:t>RAM</a:t>
                      </a:r>
                    </a:p>
                  </a:txBody>
                  <a:tcPr/>
                </a:tc>
                <a:tc>
                  <a:txBody>
                    <a:bodyPr/>
                    <a:lstStyle/>
                    <a:p>
                      <a:r>
                        <a:rPr lang="en-US" sz="2800" dirty="0"/>
                        <a:t>Minimum 4 GB </a:t>
                      </a:r>
                    </a:p>
                  </a:txBody>
                  <a:tcPr/>
                </a:tc>
                <a:extLst>
                  <a:ext uri="{0D108BD9-81ED-4DB2-BD59-A6C34878D82A}">
                    <a16:rowId xmlns:a16="http://schemas.microsoft.com/office/drawing/2014/main" val="4008696650"/>
                  </a:ext>
                </a:extLst>
              </a:tr>
              <a:tr h="609991">
                <a:tc>
                  <a:txBody>
                    <a:bodyPr/>
                    <a:lstStyle/>
                    <a:p>
                      <a:r>
                        <a:rPr lang="en-US" sz="2800" dirty="0"/>
                        <a:t>Hard Disk</a:t>
                      </a:r>
                    </a:p>
                  </a:txBody>
                  <a:tcPr/>
                </a:tc>
                <a:tc>
                  <a:txBody>
                    <a:bodyPr/>
                    <a:lstStyle/>
                    <a:p>
                      <a:r>
                        <a:rPr lang="en-US" sz="2800" dirty="0"/>
                        <a:t>Minimum 10 GB</a:t>
                      </a:r>
                    </a:p>
                  </a:txBody>
                  <a:tcPr/>
                </a:tc>
                <a:extLst>
                  <a:ext uri="{0D108BD9-81ED-4DB2-BD59-A6C34878D82A}">
                    <a16:rowId xmlns:a16="http://schemas.microsoft.com/office/drawing/2014/main" val="138055431"/>
                  </a:ext>
                </a:extLst>
              </a:tr>
            </a:tbl>
          </a:graphicData>
        </a:graphic>
      </p:graphicFrame>
      <p:sp>
        <p:nvSpPr>
          <p:cNvPr id="6" name="TextBox 5">
            <a:extLst>
              <a:ext uri="{FF2B5EF4-FFF2-40B4-BE49-F238E27FC236}">
                <a16:creationId xmlns:a16="http://schemas.microsoft.com/office/drawing/2014/main" id="{4773BB04-289F-CB7A-69CA-11B1C98E2A82}"/>
              </a:ext>
            </a:extLst>
          </p:cNvPr>
          <p:cNvSpPr txBox="1"/>
          <p:nvPr/>
        </p:nvSpPr>
        <p:spPr>
          <a:xfrm>
            <a:off x="692072" y="2199000"/>
            <a:ext cx="4775666" cy="584775"/>
          </a:xfrm>
          <a:prstGeom prst="rect">
            <a:avLst/>
          </a:prstGeom>
          <a:noFill/>
        </p:spPr>
        <p:txBody>
          <a:bodyPr wrap="none" rtlCol="0">
            <a:spAutoFit/>
          </a:bodyPr>
          <a:lstStyle/>
          <a:p>
            <a:r>
              <a:rPr lang="en-IN" sz="3200" b="1" dirty="0">
                <a:latin typeface="Microsoft Sans Serif" panose="020B0604020202020204" pitchFamily="34" charset="0"/>
                <a:ea typeface="Microsoft Sans Serif" panose="020B0604020202020204" pitchFamily="34" charset="0"/>
                <a:cs typeface="Microsoft Sans Serif" panose="020B0604020202020204" pitchFamily="34" charset="0"/>
              </a:rPr>
              <a:t>Hardware Requirement:- </a:t>
            </a:r>
          </a:p>
        </p:txBody>
      </p:sp>
      <p:sp>
        <p:nvSpPr>
          <p:cNvPr id="9" name="TextBox 8">
            <a:extLst>
              <a:ext uri="{FF2B5EF4-FFF2-40B4-BE49-F238E27FC236}">
                <a16:creationId xmlns:a16="http://schemas.microsoft.com/office/drawing/2014/main" id="{0D9B28D1-57BA-AD16-2D4F-28CB5D8F9078}"/>
              </a:ext>
            </a:extLst>
          </p:cNvPr>
          <p:cNvSpPr txBox="1"/>
          <p:nvPr/>
        </p:nvSpPr>
        <p:spPr>
          <a:xfrm>
            <a:off x="692072" y="5579235"/>
            <a:ext cx="4523995" cy="584775"/>
          </a:xfrm>
          <a:prstGeom prst="rect">
            <a:avLst/>
          </a:prstGeom>
          <a:noFill/>
        </p:spPr>
        <p:txBody>
          <a:bodyPr wrap="none" rtlCol="0">
            <a:spAutoFit/>
          </a:bodyPr>
          <a:lstStyle/>
          <a:p>
            <a:r>
              <a:rPr lang="en-IN" sz="3200" b="1" dirty="0">
                <a:latin typeface="Microsoft Sans Serif" panose="020B0604020202020204" pitchFamily="34" charset="0"/>
                <a:ea typeface="Microsoft Sans Serif" panose="020B0604020202020204" pitchFamily="34" charset="0"/>
                <a:cs typeface="Microsoft Sans Serif" panose="020B0604020202020204" pitchFamily="34" charset="0"/>
              </a:rPr>
              <a:t>Software Requirement:-</a:t>
            </a:r>
          </a:p>
        </p:txBody>
      </p:sp>
      <p:graphicFrame>
        <p:nvGraphicFramePr>
          <p:cNvPr id="10" name="Table 9">
            <a:extLst>
              <a:ext uri="{FF2B5EF4-FFF2-40B4-BE49-F238E27FC236}">
                <a16:creationId xmlns:a16="http://schemas.microsoft.com/office/drawing/2014/main" id="{6D347308-976D-2357-D5A2-F976369E7B17}"/>
              </a:ext>
            </a:extLst>
          </p:cNvPr>
          <p:cNvGraphicFramePr>
            <a:graphicFrameLocks noGrp="1"/>
          </p:cNvGraphicFramePr>
          <p:nvPr>
            <p:extLst>
              <p:ext uri="{D42A27DB-BD31-4B8C-83A1-F6EECF244321}">
                <p14:modId xmlns:p14="http://schemas.microsoft.com/office/powerpoint/2010/main" val="1194004832"/>
              </p:ext>
            </p:extLst>
          </p:nvPr>
        </p:nvGraphicFramePr>
        <p:xfrm>
          <a:off x="692071" y="6212010"/>
          <a:ext cx="16044839" cy="4145280"/>
        </p:xfrm>
        <a:graphic>
          <a:graphicData uri="http://schemas.openxmlformats.org/drawingml/2006/table">
            <a:tbl>
              <a:tblPr firstRow="1" bandRow="1">
                <a:tableStyleId>{073A0DAA-6AF3-43AB-8588-CEC1D06C72B9}</a:tableStyleId>
              </a:tblPr>
              <a:tblGrid>
                <a:gridCol w="4030767">
                  <a:extLst>
                    <a:ext uri="{9D8B030D-6E8A-4147-A177-3AD203B41FA5}">
                      <a16:colId xmlns:a16="http://schemas.microsoft.com/office/drawing/2014/main" val="4076149303"/>
                    </a:ext>
                  </a:extLst>
                </a:gridCol>
                <a:gridCol w="12014072">
                  <a:extLst>
                    <a:ext uri="{9D8B030D-6E8A-4147-A177-3AD203B41FA5}">
                      <a16:colId xmlns:a16="http://schemas.microsoft.com/office/drawing/2014/main" val="1771964735"/>
                    </a:ext>
                  </a:extLst>
                </a:gridCol>
              </a:tblGrid>
              <a:tr h="447311">
                <a:tc>
                  <a:txBody>
                    <a:bodyPr/>
                    <a:lstStyle/>
                    <a:p>
                      <a:r>
                        <a:rPr lang="en-US" sz="2800" dirty="0"/>
                        <a:t>Specification</a:t>
                      </a:r>
                    </a:p>
                  </a:txBody>
                  <a:tcPr/>
                </a:tc>
                <a:tc>
                  <a:txBody>
                    <a:bodyPr/>
                    <a:lstStyle/>
                    <a:p>
                      <a:r>
                        <a:rPr lang="en-US" sz="2800" dirty="0"/>
                        <a:t>Required Value</a:t>
                      </a:r>
                    </a:p>
                  </a:txBody>
                  <a:tcPr/>
                </a:tc>
                <a:extLst>
                  <a:ext uri="{0D108BD9-81ED-4DB2-BD59-A6C34878D82A}">
                    <a16:rowId xmlns:a16="http://schemas.microsoft.com/office/drawing/2014/main" val="207213178"/>
                  </a:ext>
                </a:extLst>
              </a:tr>
              <a:tr h="447311">
                <a:tc>
                  <a:txBody>
                    <a:bodyPr/>
                    <a:lstStyle/>
                    <a:p>
                      <a:r>
                        <a:rPr lang="en-US" sz="2800" dirty="0"/>
                        <a:t>Operating System</a:t>
                      </a:r>
                    </a:p>
                  </a:txBody>
                  <a:tcPr/>
                </a:tc>
                <a:tc>
                  <a:txBody>
                    <a:bodyPr/>
                    <a:lstStyle/>
                    <a:p>
                      <a:r>
                        <a:rPr lang="en-US" sz="2800" dirty="0"/>
                        <a:t>Windows or Linux</a:t>
                      </a:r>
                    </a:p>
                  </a:txBody>
                  <a:tcPr/>
                </a:tc>
                <a:extLst>
                  <a:ext uri="{0D108BD9-81ED-4DB2-BD59-A6C34878D82A}">
                    <a16:rowId xmlns:a16="http://schemas.microsoft.com/office/drawing/2014/main" val="2024413495"/>
                  </a:ext>
                </a:extLst>
              </a:tr>
              <a:tr h="447311">
                <a:tc>
                  <a:txBody>
                    <a:bodyPr/>
                    <a:lstStyle/>
                    <a:p>
                      <a:r>
                        <a:rPr lang="en-US" sz="2800" dirty="0"/>
                        <a:t>Front end Tool</a:t>
                      </a:r>
                    </a:p>
                  </a:txBody>
                  <a:tcPr/>
                </a:tc>
                <a:tc>
                  <a:txBody>
                    <a:bodyPr/>
                    <a:lstStyle/>
                    <a:p>
                      <a:r>
                        <a:rPr lang="en-US" sz="2800" dirty="0"/>
                        <a:t>ReactJS (v18.2.0 or higher)</a:t>
                      </a:r>
                    </a:p>
                  </a:txBody>
                  <a:tcPr/>
                </a:tc>
                <a:extLst>
                  <a:ext uri="{0D108BD9-81ED-4DB2-BD59-A6C34878D82A}">
                    <a16:rowId xmlns:a16="http://schemas.microsoft.com/office/drawing/2014/main" val="2000175711"/>
                  </a:ext>
                </a:extLst>
              </a:tr>
              <a:tr h="447311">
                <a:tc>
                  <a:txBody>
                    <a:bodyPr/>
                    <a:lstStyle/>
                    <a:p>
                      <a:r>
                        <a:rPr lang="en-US" sz="2800" dirty="0"/>
                        <a:t>Backend Tool</a:t>
                      </a:r>
                    </a:p>
                  </a:txBody>
                  <a:tcPr/>
                </a:tc>
                <a:tc>
                  <a:txBody>
                    <a:bodyPr/>
                    <a:lstStyle/>
                    <a:p>
                      <a:r>
                        <a:rPr lang="en-US" sz="2800" dirty="0"/>
                        <a:t>NodeJS (v18.16.0 or higher)</a:t>
                      </a:r>
                    </a:p>
                  </a:txBody>
                  <a:tcPr/>
                </a:tc>
                <a:extLst>
                  <a:ext uri="{0D108BD9-81ED-4DB2-BD59-A6C34878D82A}">
                    <a16:rowId xmlns:a16="http://schemas.microsoft.com/office/drawing/2014/main" val="66904617"/>
                  </a:ext>
                </a:extLst>
              </a:tr>
              <a:tr h="447311">
                <a:tc>
                  <a:txBody>
                    <a:bodyPr/>
                    <a:lstStyle/>
                    <a:p>
                      <a:r>
                        <a:rPr lang="en-US" sz="2800" dirty="0"/>
                        <a:t>Database</a:t>
                      </a:r>
                    </a:p>
                  </a:txBody>
                  <a:tcPr/>
                </a:tc>
                <a:tc>
                  <a:txBody>
                    <a:bodyPr/>
                    <a:lstStyle/>
                    <a:p>
                      <a:r>
                        <a:rPr lang="en-US" sz="2800" dirty="0"/>
                        <a:t>MongoDB (v5.0.2 or higher)</a:t>
                      </a:r>
                    </a:p>
                  </a:txBody>
                  <a:tcPr/>
                </a:tc>
                <a:extLst>
                  <a:ext uri="{0D108BD9-81ED-4DB2-BD59-A6C34878D82A}">
                    <a16:rowId xmlns:a16="http://schemas.microsoft.com/office/drawing/2014/main" val="3563555909"/>
                  </a:ext>
                </a:extLst>
              </a:tr>
              <a:tr h="447311">
                <a:tc>
                  <a:txBody>
                    <a:bodyPr/>
                    <a:lstStyle/>
                    <a:p>
                      <a:r>
                        <a:rPr lang="en-US" sz="2800" dirty="0"/>
                        <a:t>Web Browser</a:t>
                      </a:r>
                    </a:p>
                  </a:txBody>
                  <a:tcPr/>
                </a:tc>
                <a:tc>
                  <a:txBody>
                    <a:bodyPr/>
                    <a:lstStyle/>
                    <a:p>
                      <a:r>
                        <a:rPr lang="en-US" sz="2800" dirty="0"/>
                        <a:t>Chrome, Microsoft Edge, Brave, Safari etc.</a:t>
                      </a:r>
                    </a:p>
                  </a:txBody>
                  <a:tcPr/>
                </a:tc>
                <a:extLst>
                  <a:ext uri="{0D108BD9-81ED-4DB2-BD59-A6C34878D82A}">
                    <a16:rowId xmlns:a16="http://schemas.microsoft.com/office/drawing/2014/main" val="1301883538"/>
                  </a:ext>
                </a:extLst>
              </a:tr>
              <a:tr h="447311">
                <a:tc>
                  <a:txBody>
                    <a:bodyPr/>
                    <a:lstStyle/>
                    <a:p>
                      <a:r>
                        <a:rPr lang="en-US" sz="2800" dirty="0"/>
                        <a:t>Development Tool</a:t>
                      </a:r>
                    </a:p>
                  </a:txBody>
                  <a:tcPr/>
                </a:tc>
                <a:tc>
                  <a:txBody>
                    <a:bodyPr/>
                    <a:lstStyle/>
                    <a:p>
                      <a:r>
                        <a:rPr lang="en-US" sz="2800" dirty="0"/>
                        <a:t>Visual Studio Code</a:t>
                      </a:r>
                    </a:p>
                  </a:txBody>
                  <a:tcPr/>
                </a:tc>
                <a:extLst>
                  <a:ext uri="{0D108BD9-81ED-4DB2-BD59-A6C34878D82A}">
                    <a16:rowId xmlns:a16="http://schemas.microsoft.com/office/drawing/2014/main" val="737252712"/>
                  </a:ext>
                </a:extLst>
              </a:tr>
              <a:tr h="447311">
                <a:tc>
                  <a:txBody>
                    <a:bodyPr/>
                    <a:lstStyle/>
                    <a:p>
                      <a:r>
                        <a:rPr lang="en-US" sz="2800" dirty="0"/>
                        <a:t>API Testing Tool</a:t>
                      </a:r>
                    </a:p>
                  </a:txBody>
                  <a:tcPr/>
                </a:tc>
                <a:tc>
                  <a:txBody>
                    <a:bodyPr/>
                    <a:lstStyle/>
                    <a:p>
                      <a:r>
                        <a:rPr lang="en-US" sz="2800" dirty="0"/>
                        <a:t>Postman</a:t>
                      </a:r>
                    </a:p>
                  </a:txBody>
                  <a:tcPr/>
                </a:tc>
                <a:extLst>
                  <a:ext uri="{0D108BD9-81ED-4DB2-BD59-A6C34878D82A}">
                    <a16:rowId xmlns:a16="http://schemas.microsoft.com/office/drawing/2014/main" val="207655956"/>
                  </a:ext>
                </a:extLst>
              </a:tr>
            </a:tbl>
          </a:graphicData>
        </a:graphic>
      </p:graphicFrame>
      <p:pic>
        <p:nvPicPr>
          <p:cNvPr id="3" name="Picture 2">
            <a:extLst>
              <a:ext uri="{FF2B5EF4-FFF2-40B4-BE49-F238E27FC236}">
                <a16:creationId xmlns:a16="http://schemas.microsoft.com/office/drawing/2014/main" id="{23813A1F-2F8E-40F9-FFB2-0E31B2D9C701}"/>
              </a:ext>
            </a:extLst>
          </p:cNvPr>
          <p:cNvPicPr>
            <a:picLocks noChangeAspect="1"/>
          </p:cNvPicPr>
          <p:nvPr/>
        </p:nvPicPr>
        <p:blipFill>
          <a:blip r:embed="rId3"/>
          <a:stretch>
            <a:fillRect/>
          </a:stretch>
        </p:blipFill>
        <p:spPr>
          <a:xfrm>
            <a:off x="14621553" y="219835"/>
            <a:ext cx="4231706" cy="245630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726"/>
        <p:cNvGrpSpPr/>
        <p:nvPr/>
      </p:nvGrpSpPr>
      <p:grpSpPr>
        <a:xfrm>
          <a:off x="0" y="0"/>
          <a:ext cx="0" cy="0"/>
          <a:chOff x="0" y="0"/>
          <a:chExt cx="0" cy="0"/>
        </a:xfrm>
      </p:grpSpPr>
      <p:grpSp>
        <p:nvGrpSpPr>
          <p:cNvPr id="727" name="Google Shape;727;p12"/>
          <p:cNvGrpSpPr/>
          <p:nvPr/>
        </p:nvGrpSpPr>
        <p:grpSpPr>
          <a:xfrm>
            <a:off x="0" y="839520"/>
            <a:ext cx="6126120" cy="1037880"/>
            <a:chOff x="0" y="839520"/>
            <a:chExt cx="6126120" cy="1037880"/>
          </a:xfrm>
        </p:grpSpPr>
        <p:sp>
          <p:nvSpPr>
            <p:cNvPr id="728" name="Google Shape;728;p12"/>
            <p:cNvSpPr/>
            <p:nvPr/>
          </p:nvSpPr>
          <p:spPr>
            <a:xfrm>
              <a:off x="0" y="839520"/>
              <a:ext cx="560448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29" name="Google Shape;729;p12"/>
            <p:cNvSpPr/>
            <p:nvPr/>
          </p:nvSpPr>
          <p:spPr>
            <a:xfrm>
              <a:off x="5066280" y="839520"/>
              <a:ext cx="10598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30" name="Google Shape;730;p12"/>
          <p:cNvSpPr/>
          <p:nvPr/>
        </p:nvSpPr>
        <p:spPr>
          <a:xfrm>
            <a:off x="171360" y="957600"/>
            <a:ext cx="72039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Requirements Analysis</a:t>
            </a:r>
            <a:endParaRPr sz="4400" b="0" i="0" u="none" strike="noStrike" cap="none">
              <a:latin typeface="Arial"/>
              <a:ea typeface="Arial"/>
              <a:cs typeface="Arial"/>
              <a:sym typeface="Arial"/>
            </a:endParaRPr>
          </a:p>
        </p:txBody>
      </p:sp>
      <p:sp>
        <p:nvSpPr>
          <p:cNvPr id="732" name="Google Shape;732;p12"/>
          <p:cNvSpPr/>
          <p:nvPr/>
        </p:nvSpPr>
        <p:spPr>
          <a:xfrm>
            <a:off x="0" y="1849320"/>
            <a:ext cx="530316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733" name="Google Shape;733;p12"/>
          <p:cNvSpPr/>
          <p:nvPr/>
        </p:nvSpPr>
        <p:spPr>
          <a:xfrm>
            <a:off x="154080" y="1779120"/>
            <a:ext cx="4966200" cy="56160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Users of the System</a:t>
            </a:r>
            <a:endParaRPr sz="3600" b="0" i="0" u="none" strike="noStrike" cap="none">
              <a:latin typeface="Arial"/>
              <a:ea typeface="Arial"/>
              <a:cs typeface="Arial"/>
              <a:sym typeface="Arial"/>
            </a:endParaRPr>
          </a:p>
        </p:txBody>
      </p:sp>
      <p:sp>
        <p:nvSpPr>
          <p:cNvPr id="734" name="Google Shape;734;p12"/>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12"/>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12"/>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37" name="Google Shape;737;p12"/>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object 41">
            <a:extLst>
              <a:ext uri="{FF2B5EF4-FFF2-40B4-BE49-F238E27FC236}">
                <a16:creationId xmlns:a16="http://schemas.microsoft.com/office/drawing/2014/main" id="{C61A55BC-D800-CE23-3CD6-6BA5ACF95245}"/>
              </a:ext>
            </a:extLst>
          </p:cNvPr>
          <p:cNvSpPr/>
          <p:nvPr/>
        </p:nvSpPr>
        <p:spPr>
          <a:xfrm>
            <a:off x="365760" y="2788920"/>
            <a:ext cx="18104760" cy="4805442"/>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marL="571500" indent="-571500">
              <a:lnSpc>
                <a:spcPct val="150000"/>
              </a:lnSpc>
              <a:spcBef>
                <a:spcPts val="850"/>
              </a:spcBef>
              <a:spcAft>
                <a:spcPts val="850"/>
              </a:spcAft>
              <a:buFont typeface="Arial" panose="020B0604020202020204" pitchFamily="34" charset="0"/>
              <a:buChar char="•"/>
            </a:pPr>
            <a:r>
              <a:rPr lang="en-US" sz="3200" b="1"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Guest : </a:t>
            </a:r>
            <a:r>
              <a:rPr lang="en-IN" sz="3200"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Individuals visiting the platform without creating an account, limited to browsing culinary offerings and accessing general information</a:t>
            </a:r>
            <a:r>
              <a:rPr lang="en-IN" sz="3200" b="1"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a:t>
            </a:r>
          </a:p>
          <a:p>
            <a:pPr marL="571500" indent="-571500">
              <a:lnSpc>
                <a:spcPct val="150000"/>
              </a:lnSpc>
              <a:spcBef>
                <a:spcPts val="850"/>
              </a:spcBef>
              <a:spcAft>
                <a:spcPts val="850"/>
              </a:spcAft>
              <a:buFont typeface="Arial" panose="020B0604020202020204" pitchFamily="34" charset="0"/>
              <a:buChar char="•"/>
            </a:pPr>
            <a:r>
              <a:rPr lang="en-IN" sz="3200" b="1"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Consumer : </a:t>
            </a:r>
            <a:r>
              <a:rPr lang="en-IN" sz="3200"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Individuals who are passionate about exploring and enjoying diverse, homemade culinary offerings.</a:t>
            </a:r>
            <a:endParaRPr lang="en-US" sz="3200" strike="noStrike" spc="-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571500" indent="-571500">
              <a:lnSpc>
                <a:spcPct val="150000"/>
              </a:lnSpc>
              <a:spcBef>
                <a:spcPts val="850"/>
              </a:spcBef>
              <a:spcAft>
                <a:spcPts val="850"/>
              </a:spcAft>
              <a:buFont typeface="Arial" panose="020B0604020202020204" pitchFamily="34" charset="0"/>
              <a:buChar char="•"/>
            </a:pPr>
            <a:r>
              <a:rPr lang="en-US" sz="3200" b="1" strike="noStrike"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Food Producer : </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Local chefs, home cooks, and culinary enthusiasts who want to showcase and sell </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their unique food items.</a:t>
            </a:r>
          </a:p>
        </p:txBody>
      </p:sp>
      <p:sp>
        <p:nvSpPr>
          <p:cNvPr id="3" name="Rectangle 2">
            <a:extLst>
              <a:ext uri="{FF2B5EF4-FFF2-40B4-BE49-F238E27FC236}">
                <a16:creationId xmlns:a16="http://schemas.microsoft.com/office/drawing/2014/main" id="{EB234FB3-4D47-F81E-4653-2291BC627E4E}"/>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a:extLst>
              <a:ext uri="{FF2B5EF4-FFF2-40B4-BE49-F238E27FC236}">
                <a16:creationId xmlns:a16="http://schemas.microsoft.com/office/drawing/2014/main" id="{12CC7BE3-786D-46A9-6BB1-B20A5501C6DE}"/>
              </a:ext>
            </a:extLst>
          </p:cNvPr>
          <p:cNvPicPr>
            <a:picLocks noChangeAspect="1"/>
          </p:cNvPicPr>
          <p:nvPr/>
        </p:nvPicPr>
        <p:blipFill>
          <a:blip r:embed="rId3"/>
          <a:stretch>
            <a:fillRect/>
          </a:stretch>
        </p:blipFill>
        <p:spPr>
          <a:xfrm>
            <a:off x="14621553" y="195121"/>
            <a:ext cx="4231706" cy="245630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741"/>
        <p:cNvGrpSpPr/>
        <p:nvPr/>
      </p:nvGrpSpPr>
      <p:grpSpPr>
        <a:xfrm>
          <a:off x="0" y="0"/>
          <a:ext cx="0" cy="0"/>
          <a:chOff x="0" y="0"/>
          <a:chExt cx="0" cy="0"/>
        </a:xfrm>
      </p:grpSpPr>
      <p:grpSp>
        <p:nvGrpSpPr>
          <p:cNvPr id="742" name="Google Shape;742;p13"/>
          <p:cNvGrpSpPr/>
          <p:nvPr/>
        </p:nvGrpSpPr>
        <p:grpSpPr>
          <a:xfrm>
            <a:off x="0" y="839520"/>
            <a:ext cx="6126120" cy="1037880"/>
            <a:chOff x="0" y="839520"/>
            <a:chExt cx="6126120" cy="1037880"/>
          </a:xfrm>
        </p:grpSpPr>
        <p:sp>
          <p:nvSpPr>
            <p:cNvPr id="743" name="Google Shape;743;p13"/>
            <p:cNvSpPr/>
            <p:nvPr/>
          </p:nvSpPr>
          <p:spPr>
            <a:xfrm>
              <a:off x="0" y="839520"/>
              <a:ext cx="560448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44" name="Google Shape;744;p13"/>
            <p:cNvSpPr/>
            <p:nvPr/>
          </p:nvSpPr>
          <p:spPr>
            <a:xfrm>
              <a:off x="5066280" y="839520"/>
              <a:ext cx="10598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45" name="Google Shape;745;p13"/>
          <p:cNvSpPr/>
          <p:nvPr/>
        </p:nvSpPr>
        <p:spPr>
          <a:xfrm>
            <a:off x="171360" y="957600"/>
            <a:ext cx="72039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Requirements Analysis</a:t>
            </a:r>
            <a:endParaRPr sz="4400" b="0" i="0" u="none" strike="noStrike" cap="none">
              <a:latin typeface="Arial"/>
              <a:ea typeface="Arial"/>
              <a:cs typeface="Arial"/>
              <a:sym typeface="Arial"/>
            </a:endParaRPr>
          </a:p>
        </p:txBody>
      </p:sp>
      <p:sp>
        <p:nvSpPr>
          <p:cNvPr id="747" name="Google Shape;747;p13"/>
          <p:cNvSpPr/>
          <p:nvPr/>
        </p:nvSpPr>
        <p:spPr>
          <a:xfrm>
            <a:off x="0" y="1849320"/>
            <a:ext cx="530316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748" name="Google Shape;748;p13"/>
          <p:cNvSpPr/>
          <p:nvPr/>
        </p:nvSpPr>
        <p:spPr>
          <a:xfrm>
            <a:off x="154080" y="1779120"/>
            <a:ext cx="4966200" cy="56160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Functional Requirements</a:t>
            </a:r>
            <a:endParaRPr sz="3600" b="0" i="0" u="none" strike="noStrike" cap="none">
              <a:latin typeface="Arial"/>
              <a:ea typeface="Arial"/>
              <a:cs typeface="Arial"/>
              <a:sym typeface="Arial"/>
            </a:endParaRPr>
          </a:p>
        </p:txBody>
      </p:sp>
      <p:sp>
        <p:nvSpPr>
          <p:cNvPr id="749" name="Google Shape;749;p13"/>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13"/>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13"/>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52" name="Google Shape;752;p13"/>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TextBox 2">
            <a:extLst>
              <a:ext uri="{FF2B5EF4-FFF2-40B4-BE49-F238E27FC236}">
                <a16:creationId xmlns:a16="http://schemas.microsoft.com/office/drawing/2014/main" id="{BCEA2317-81E0-6C53-AC89-0895F1A77453}"/>
              </a:ext>
            </a:extLst>
          </p:cNvPr>
          <p:cNvSpPr txBox="1"/>
          <p:nvPr/>
        </p:nvSpPr>
        <p:spPr>
          <a:xfrm>
            <a:off x="452776" y="2677319"/>
            <a:ext cx="18261944" cy="6647012"/>
          </a:xfrm>
          <a:prstGeom prst="rect">
            <a:avLst/>
          </a:prstGeom>
          <a:noFill/>
        </p:spPr>
        <p:txBody>
          <a:bodyPr wrap="square" rtlCol="0">
            <a:spAutoFit/>
          </a:bodyPr>
          <a:lstStyle/>
          <a:p>
            <a:pPr>
              <a:lnSpc>
                <a:spcPct val="150000"/>
              </a:lnSpc>
            </a:pPr>
            <a:r>
              <a:rPr lang="en-IN" sz="3200" b="1" i="0" dirty="0">
                <a:effectLst/>
                <a:latin typeface="Microsoft Sans Serif" panose="020B0604020202020204" pitchFamily="34" charset="0"/>
                <a:ea typeface="Microsoft Sans Serif" panose="020B0604020202020204" pitchFamily="34" charset="0"/>
                <a:cs typeface="Microsoft Sans Serif" panose="020B0604020202020204" pitchFamily="34" charset="0"/>
              </a:rPr>
              <a:t>User Profiles: </a:t>
            </a:r>
            <a:r>
              <a:rPr lang="en-IN" sz="3200" b="0" i="0" dirty="0">
                <a:effectLst/>
                <a:latin typeface="Microsoft Sans Serif" panose="020B0604020202020204" pitchFamily="34" charset="0"/>
                <a:ea typeface="Microsoft Sans Serif" panose="020B0604020202020204" pitchFamily="34" charset="0"/>
                <a:cs typeface="Microsoft Sans Serif" panose="020B0604020202020204" pitchFamily="34" charset="0"/>
              </a:rPr>
              <a:t>Creation of profiles for food producers and consumers.</a:t>
            </a:r>
          </a:p>
          <a:p>
            <a:pPr>
              <a:lnSpc>
                <a:spcPct val="150000"/>
              </a:lnSpc>
            </a:pPr>
            <a:endParaRPr lang="en-IN" sz="3200" b="1" dirty="0">
              <a:latin typeface="Microsoft Sans Serif" panose="020B0604020202020204" pitchFamily="34" charset="0"/>
              <a:ea typeface="Microsoft Sans Serif" panose="020B0604020202020204" pitchFamily="34" charset="0"/>
              <a:cs typeface="Microsoft Sans Serif" panose="020B0604020202020204" pitchFamily="34" charset="0"/>
            </a:endParaRPr>
          </a:p>
          <a:p>
            <a:pPr>
              <a:lnSpc>
                <a:spcPct val="150000"/>
              </a:lnSpc>
            </a:pPr>
            <a:r>
              <a:rPr lang="en-IN" sz="3200" b="1" dirty="0">
                <a:latin typeface="Microsoft Sans Serif" panose="020B0604020202020204" pitchFamily="34" charset="0"/>
                <a:ea typeface="Microsoft Sans Serif" panose="020B0604020202020204" pitchFamily="34" charset="0"/>
                <a:cs typeface="Microsoft Sans Serif" panose="020B0604020202020204" pitchFamily="34" charset="0"/>
              </a:rPr>
              <a:t>Listings</a:t>
            </a:r>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Producers can showcase offerings of food items with detailed information. </a:t>
            </a:r>
          </a:p>
          <a:p>
            <a:pPr>
              <a:lnSpc>
                <a:spcPct val="150000"/>
              </a:lnSpc>
            </a:pPr>
            <a:endPar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pPr>
              <a:lnSpc>
                <a:spcPct val="150000"/>
              </a:lnSpc>
            </a:pPr>
            <a:r>
              <a:rPr lang="en-IN" sz="3200" b="1" dirty="0">
                <a:latin typeface="Microsoft Sans Serif" panose="020B0604020202020204" pitchFamily="34" charset="0"/>
                <a:ea typeface="Microsoft Sans Serif" panose="020B0604020202020204" pitchFamily="34" charset="0"/>
                <a:cs typeface="Microsoft Sans Serif" panose="020B0604020202020204" pitchFamily="34" charset="0"/>
              </a:rPr>
              <a:t>Messaging</a:t>
            </a:r>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Users engage in direct communication with producers.</a:t>
            </a:r>
          </a:p>
          <a:p>
            <a:pPr>
              <a:lnSpc>
                <a:spcPct val="150000"/>
              </a:lnSpc>
            </a:pPr>
            <a:endPar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pPr>
              <a:lnSpc>
                <a:spcPct val="150000"/>
              </a:lnSpc>
            </a:pPr>
            <a:r>
              <a:rPr lang="en-IN" sz="3200" b="1" dirty="0">
                <a:latin typeface="Microsoft Sans Serif" panose="020B0604020202020204" pitchFamily="34" charset="0"/>
                <a:ea typeface="Microsoft Sans Serif" panose="020B0604020202020204" pitchFamily="34" charset="0"/>
                <a:cs typeface="Microsoft Sans Serif" panose="020B0604020202020204" pitchFamily="34" charset="0"/>
              </a:rPr>
              <a:t>Reviews and Ratings</a:t>
            </a:r>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Robust system for transparency and trust.</a:t>
            </a:r>
          </a:p>
          <a:p>
            <a:pPr>
              <a:lnSpc>
                <a:spcPct val="150000"/>
              </a:lnSpc>
            </a:pPr>
            <a:endPar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pPr>
              <a:lnSpc>
                <a:spcPct val="150000"/>
              </a:lnSpc>
            </a:pPr>
            <a:r>
              <a:rPr lang="en-IN" sz="3200" b="1" dirty="0">
                <a:latin typeface="Microsoft Sans Serif" panose="020B0604020202020204" pitchFamily="34" charset="0"/>
                <a:ea typeface="Microsoft Sans Serif" panose="020B0604020202020204" pitchFamily="34" charset="0"/>
                <a:cs typeface="Microsoft Sans Serif" panose="020B0604020202020204" pitchFamily="34" charset="0"/>
              </a:rPr>
              <a:t>Payment Integration</a:t>
            </a:r>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Secure transactions supporting various methods.</a:t>
            </a:r>
          </a:p>
        </p:txBody>
      </p:sp>
      <p:sp>
        <p:nvSpPr>
          <p:cNvPr id="4" name="Rectangle 3">
            <a:extLst>
              <a:ext uri="{FF2B5EF4-FFF2-40B4-BE49-F238E27FC236}">
                <a16:creationId xmlns:a16="http://schemas.microsoft.com/office/drawing/2014/main" id="{47F8AE68-E2D3-4E24-5BF6-248A63958CAF}"/>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 name="Picture 1">
            <a:extLst>
              <a:ext uri="{FF2B5EF4-FFF2-40B4-BE49-F238E27FC236}">
                <a16:creationId xmlns:a16="http://schemas.microsoft.com/office/drawing/2014/main" id="{3B359131-1C0E-7D00-1750-1B0030B5D30E}"/>
              </a:ext>
            </a:extLst>
          </p:cNvPr>
          <p:cNvPicPr>
            <a:picLocks noChangeAspect="1"/>
          </p:cNvPicPr>
          <p:nvPr/>
        </p:nvPicPr>
        <p:blipFill>
          <a:blip r:embed="rId3"/>
          <a:stretch>
            <a:fillRect/>
          </a:stretch>
        </p:blipFill>
        <p:spPr>
          <a:xfrm>
            <a:off x="14621553" y="219835"/>
            <a:ext cx="4231706" cy="245630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Requirements Analysis</a:t>
            </a:r>
            <a:endParaRPr sz="4400" b="0" i="0" u="none" strike="noStrike" cap="none">
              <a:latin typeface="Arial"/>
              <a:ea typeface="Arial"/>
              <a:cs typeface="Arial"/>
              <a:sym typeface="Arial"/>
            </a:endParaRPr>
          </a:p>
        </p:txBody>
      </p:sp>
      <p:sp>
        <p:nvSpPr>
          <p:cNvPr id="762" name="Google Shape;762;p14"/>
          <p:cNvSpPr/>
          <p:nvPr/>
        </p:nvSpPr>
        <p:spPr>
          <a:xfrm>
            <a:off x="0" y="1849320"/>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763" name="Google Shape;763;p14"/>
          <p:cNvSpPr/>
          <p:nvPr/>
        </p:nvSpPr>
        <p:spPr>
          <a:xfrm>
            <a:off x="154080" y="1779120"/>
            <a:ext cx="5789160" cy="56160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Non Functional Requirements</a:t>
            </a:r>
            <a:endParaRPr sz="3600" b="0" i="0" u="none" strike="noStrike" cap="none">
              <a:latin typeface="Arial"/>
              <a:ea typeface="Arial"/>
              <a:cs typeface="Arial"/>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object 73">
            <a:extLst>
              <a:ext uri="{FF2B5EF4-FFF2-40B4-BE49-F238E27FC236}">
                <a16:creationId xmlns:a16="http://schemas.microsoft.com/office/drawing/2014/main" id="{8EC6917E-72CE-EA4E-DCF3-FC7DD43765AF}"/>
              </a:ext>
            </a:extLst>
          </p:cNvPr>
          <p:cNvSpPr/>
          <p:nvPr/>
        </p:nvSpPr>
        <p:spPr>
          <a:xfrm>
            <a:off x="365760" y="2743200"/>
            <a:ext cx="18104760" cy="4066779"/>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marL="12600" indent="-216000" algn="just">
              <a:lnSpc>
                <a:spcPct val="150000"/>
              </a:lnSpc>
              <a:spcBef>
                <a:spcPts val="850"/>
              </a:spcBef>
              <a:spcAft>
                <a:spcPts val="850"/>
              </a:spcAft>
              <a:buClr>
                <a:srgbClr val="000000"/>
              </a:buClr>
              <a:buFont typeface="Symbol"/>
              <a:buChar char=""/>
            </a:pPr>
            <a:r>
              <a:rPr lang="en-US" sz="3200" b="1" dirty="0">
                <a:latin typeface="Microsoft Sans Serif" panose="020B0604020202020204" pitchFamily="34" charset="0"/>
                <a:ea typeface="Microsoft Sans Serif" panose="020B0604020202020204" pitchFamily="34" charset="0"/>
                <a:cs typeface="Microsoft Sans Serif" panose="020B0604020202020204" pitchFamily="34" charset="0"/>
              </a:rPr>
              <a:t> Performance:  </a:t>
            </a:r>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The platform should have low latency and fast response times, ensuring a smooth and efficient user experience even during peak usage periods.</a:t>
            </a:r>
          </a:p>
          <a:p>
            <a:pPr marL="12600" indent="-216000" algn="just">
              <a:lnSpc>
                <a:spcPct val="150000"/>
              </a:lnSpc>
              <a:spcBef>
                <a:spcPts val="850"/>
              </a:spcBef>
              <a:spcAft>
                <a:spcPts val="850"/>
              </a:spcAft>
              <a:buClr>
                <a:srgbClr val="000000"/>
              </a:buClr>
              <a:buFont typeface="Symbol"/>
              <a:buChar char=""/>
            </a:pPr>
            <a:r>
              <a:rPr lang="en-US" sz="3200" b="1" dirty="0">
                <a:latin typeface="Microsoft Sans Serif" panose="020B0604020202020204" pitchFamily="34" charset="0"/>
                <a:ea typeface="Microsoft Sans Serif" panose="020B0604020202020204" pitchFamily="34" charset="0"/>
                <a:cs typeface="Microsoft Sans Serif" panose="020B0604020202020204" pitchFamily="34" charset="0"/>
              </a:rPr>
              <a:t>Scalability:</a:t>
            </a:r>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Design the system to be scalable, allowing it to handle a growing number of users, listings of item and transactions without compromising performance.</a:t>
            </a:r>
          </a:p>
          <a:p>
            <a:pPr marL="12600" indent="-216000" algn="just">
              <a:lnSpc>
                <a:spcPct val="150000"/>
              </a:lnSpc>
              <a:spcBef>
                <a:spcPts val="850"/>
              </a:spcBef>
              <a:spcAft>
                <a:spcPts val="850"/>
              </a:spcAft>
              <a:buClr>
                <a:srgbClr val="000000"/>
              </a:buClr>
              <a:buFont typeface="Symbol"/>
              <a:buChar char=""/>
            </a:pPr>
            <a:r>
              <a:rPr lang="en-US" sz="3200" b="0"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US" sz="3200" b="1" dirty="0">
                <a:latin typeface="Microsoft Sans Serif" panose="020B0604020202020204" pitchFamily="34" charset="0"/>
                <a:ea typeface="Microsoft Sans Serif" panose="020B0604020202020204" pitchFamily="34" charset="0"/>
                <a:cs typeface="Microsoft Sans Serif" panose="020B0604020202020204" pitchFamily="34" charset="0"/>
              </a:rPr>
              <a:t>Security: </a:t>
            </a:r>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Implement robust encryption and authentication to safeguard user data.</a:t>
            </a:r>
          </a:p>
        </p:txBody>
      </p:sp>
      <p:sp>
        <p:nvSpPr>
          <p:cNvPr id="2" name="Rectangle 1">
            <a:extLst>
              <a:ext uri="{FF2B5EF4-FFF2-40B4-BE49-F238E27FC236}">
                <a16:creationId xmlns:a16="http://schemas.microsoft.com/office/drawing/2014/main" id="{606F4EED-D9A1-9EAC-22C7-D6460BF410C4}"/>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a:extLst>
              <a:ext uri="{FF2B5EF4-FFF2-40B4-BE49-F238E27FC236}">
                <a16:creationId xmlns:a16="http://schemas.microsoft.com/office/drawing/2014/main" id="{284B383F-5909-EB93-EF6D-1599C096E0E1}"/>
              </a:ext>
            </a:extLst>
          </p:cNvPr>
          <p:cNvPicPr>
            <a:picLocks noChangeAspect="1"/>
          </p:cNvPicPr>
          <p:nvPr/>
        </p:nvPicPr>
        <p:blipFill>
          <a:blip r:embed="rId3"/>
          <a:stretch>
            <a:fillRect/>
          </a:stretch>
        </p:blipFill>
        <p:spPr>
          <a:xfrm>
            <a:off x="14621553" y="219835"/>
            <a:ext cx="4231706" cy="245630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System Design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Architecture diagram</a:t>
            </a:r>
            <a:endParaRPr lang="en-US" sz="3600" b="1" i="0" u="none" strike="noStrike" cap="none" dirty="0">
              <a:solidFill>
                <a:schemeClr val="bg1"/>
              </a:solidFill>
              <a:latin typeface="Calibri" panose="020F0502020204030204" pitchFamily="34" charset="0"/>
              <a:cs typeface="Calibri" panose="020F0502020204030204" pitchFamily="34" charset="0"/>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437C1FAA-8B8E-1FB3-12E3-DBABEB317650}"/>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Rectangle 2">
            <a:extLst>
              <a:ext uri="{FF2B5EF4-FFF2-40B4-BE49-F238E27FC236}">
                <a16:creationId xmlns:a16="http://schemas.microsoft.com/office/drawing/2014/main" id="{D5B8D4CE-FA94-EF57-DCE2-1052CA61CA50}"/>
              </a:ext>
            </a:extLst>
          </p:cNvPr>
          <p:cNvSpPr/>
          <p:nvPr/>
        </p:nvSpPr>
        <p:spPr>
          <a:xfrm>
            <a:off x="15988" y="9853879"/>
            <a:ext cx="18978337" cy="76389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8" name="Picture 7">
            <a:extLst>
              <a:ext uri="{FF2B5EF4-FFF2-40B4-BE49-F238E27FC236}">
                <a16:creationId xmlns:a16="http://schemas.microsoft.com/office/drawing/2014/main" id="{6E30587E-D03C-4433-D766-AAFB876CCBD5}"/>
              </a:ext>
            </a:extLst>
          </p:cNvPr>
          <p:cNvPicPr>
            <a:picLocks noChangeAspect="1"/>
          </p:cNvPicPr>
          <p:nvPr/>
        </p:nvPicPr>
        <p:blipFill>
          <a:blip r:embed="rId3"/>
          <a:stretch>
            <a:fillRect/>
          </a:stretch>
        </p:blipFill>
        <p:spPr>
          <a:xfrm>
            <a:off x="192765" y="3561874"/>
            <a:ext cx="18623169" cy="6348351"/>
          </a:xfrm>
          <a:prstGeom prst="rect">
            <a:avLst/>
          </a:prstGeom>
        </p:spPr>
      </p:pic>
      <p:pic>
        <p:nvPicPr>
          <p:cNvPr id="4" name="Picture 3">
            <a:extLst>
              <a:ext uri="{FF2B5EF4-FFF2-40B4-BE49-F238E27FC236}">
                <a16:creationId xmlns:a16="http://schemas.microsoft.com/office/drawing/2014/main" id="{4FDBBB28-6965-4037-3802-1CBB07D6DA97}"/>
              </a:ext>
            </a:extLst>
          </p:cNvPr>
          <p:cNvPicPr>
            <a:picLocks noChangeAspect="1"/>
          </p:cNvPicPr>
          <p:nvPr/>
        </p:nvPicPr>
        <p:blipFill>
          <a:blip r:embed="rId4"/>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28564478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Detailed Design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Use case diagram</a:t>
            </a:r>
            <a:endParaRPr lang="en-US" sz="3600" b="1" i="0" u="none" strike="noStrike" cap="none" dirty="0">
              <a:solidFill>
                <a:schemeClr val="bg1"/>
              </a:solidFill>
              <a:latin typeface="Calibri" panose="020F0502020204030204" pitchFamily="34" charset="0"/>
              <a:cs typeface="Calibri" panose="020F0502020204030204" pitchFamily="34" charset="0"/>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 name="Picture 9">
            <a:extLst>
              <a:ext uri="{FF2B5EF4-FFF2-40B4-BE49-F238E27FC236}">
                <a16:creationId xmlns:a16="http://schemas.microsoft.com/office/drawing/2014/main" id="{A0927F7B-6FC2-B3F4-E470-991FD4A5B2A1}"/>
              </a:ext>
            </a:extLst>
          </p:cNvPr>
          <p:cNvPicPr>
            <a:picLocks noChangeAspect="1"/>
          </p:cNvPicPr>
          <p:nvPr/>
        </p:nvPicPr>
        <p:blipFill>
          <a:blip r:embed="rId3"/>
          <a:stretch>
            <a:fillRect/>
          </a:stretch>
        </p:blipFill>
        <p:spPr>
          <a:xfrm>
            <a:off x="6929222" y="714583"/>
            <a:ext cx="9895055" cy="8853470"/>
          </a:xfrm>
          <a:prstGeom prst="rect">
            <a:avLst/>
          </a:prstGeom>
        </p:spPr>
      </p:pic>
      <p:pic>
        <p:nvPicPr>
          <p:cNvPr id="3" name="Picture 2">
            <a:extLst>
              <a:ext uri="{FF2B5EF4-FFF2-40B4-BE49-F238E27FC236}">
                <a16:creationId xmlns:a16="http://schemas.microsoft.com/office/drawing/2014/main" id="{41E0907D-CFDB-A0D7-716D-A38665F6CBA3}"/>
              </a:ext>
            </a:extLst>
          </p:cNvPr>
          <p:cNvPicPr>
            <a:picLocks noChangeAspect="1"/>
          </p:cNvPicPr>
          <p:nvPr/>
        </p:nvPicPr>
        <p:blipFill>
          <a:blip r:embed="rId4"/>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13431933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Detailed Design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Class Diagram</a:t>
            </a:r>
            <a:endParaRPr lang="en-US" sz="3600" b="1" i="0" u="none" strike="noStrike" cap="none" dirty="0">
              <a:solidFill>
                <a:schemeClr val="bg1"/>
              </a:solidFill>
              <a:latin typeface="Calibri" panose="020F0502020204030204" pitchFamily="34" charset="0"/>
              <a:cs typeface="Calibri" panose="020F0502020204030204" pitchFamily="34" charset="0"/>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a:extLst>
              <a:ext uri="{FF2B5EF4-FFF2-40B4-BE49-F238E27FC236}">
                <a16:creationId xmlns:a16="http://schemas.microsoft.com/office/drawing/2014/main" id="{ED68F3C0-25EC-588D-098F-05EC40B8B170}"/>
              </a:ext>
            </a:extLst>
          </p:cNvPr>
          <p:cNvPicPr>
            <a:picLocks noChangeAspect="1"/>
          </p:cNvPicPr>
          <p:nvPr/>
        </p:nvPicPr>
        <p:blipFill>
          <a:blip r:embed="rId3"/>
          <a:stretch>
            <a:fillRect/>
          </a:stretch>
        </p:blipFill>
        <p:spPr>
          <a:xfrm>
            <a:off x="6674760" y="2430509"/>
            <a:ext cx="10177326" cy="7537820"/>
          </a:xfrm>
          <a:prstGeom prst="rect">
            <a:avLst/>
          </a:prstGeom>
        </p:spPr>
      </p:pic>
      <p:pic>
        <p:nvPicPr>
          <p:cNvPr id="3" name="Picture 2">
            <a:extLst>
              <a:ext uri="{FF2B5EF4-FFF2-40B4-BE49-F238E27FC236}">
                <a16:creationId xmlns:a16="http://schemas.microsoft.com/office/drawing/2014/main" id="{1AB4DD77-1FA1-8885-C28F-147E9256A2F2}"/>
              </a:ext>
            </a:extLst>
          </p:cNvPr>
          <p:cNvPicPr>
            <a:picLocks noChangeAspect="1"/>
          </p:cNvPicPr>
          <p:nvPr/>
        </p:nvPicPr>
        <p:blipFill>
          <a:blip r:embed="rId4"/>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37336834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Detailed Design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Activity Diagram</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7" name="Picture 6">
            <a:extLst>
              <a:ext uri="{FF2B5EF4-FFF2-40B4-BE49-F238E27FC236}">
                <a16:creationId xmlns:a16="http://schemas.microsoft.com/office/drawing/2014/main" id="{D343ACEC-75BE-BC73-8FFD-932703DA7C0D}"/>
              </a:ext>
            </a:extLst>
          </p:cNvPr>
          <p:cNvPicPr>
            <a:picLocks noChangeAspect="1"/>
          </p:cNvPicPr>
          <p:nvPr/>
        </p:nvPicPr>
        <p:blipFill>
          <a:blip r:embed="rId3"/>
          <a:stretch>
            <a:fillRect/>
          </a:stretch>
        </p:blipFill>
        <p:spPr>
          <a:xfrm>
            <a:off x="7182459" y="313113"/>
            <a:ext cx="9000969" cy="9765862"/>
          </a:xfrm>
          <a:prstGeom prst="rect">
            <a:avLst/>
          </a:prstGeom>
        </p:spPr>
      </p:pic>
      <p:sp>
        <p:nvSpPr>
          <p:cNvPr id="4" name="Rectangle 3">
            <a:extLst>
              <a:ext uri="{FF2B5EF4-FFF2-40B4-BE49-F238E27FC236}">
                <a16:creationId xmlns:a16="http://schemas.microsoft.com/office/drawing/2014/main" id="{8D70C92A-772D-3BBC-CA6C-48DD59F539AF}"/>
              </a:ext>
            </a:extLst>
          </p:cNvPr>
          <p:cNvSpPr/>
          <p:nvPr/>
        </p:nvSpPr>
        <p:spPr>
          <a:xfrm>
            <a:off x="16459200" y="159657"/>
            <a:ext cx="2535125" cy="28593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29915656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Detailed Design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Document Structure</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aphicFrame>
        <p:nvGraphicFramePr>
          <p:cNvPr id="3" name="Table 2">
            <a:extLst>
              <a:ext uri="{FF2B5EF4-FFF2-40B4-BE49-F238E27FC236}">
                <a16:creationId xmlns:a16="http://schemas.microsoft.com/office/drawing/2014/main" id="{4EB6175B-97D0-BEDB-0A08-58F6E54F6C25}"/>
              </a:ext>
            </a:extLst>
          </p:cNvPr>
          <p:cNvGraphicFramePr>
            <a:graphicFrameLocks noGrp="1"/>
          </p:cNvGraphicFramePr>
          <p:nvPr>
            <p:extLst>
              <p:ext uri="{D42A27DB-BD31-4B8C-83A1-F6EECF244321}">
                <p14:modId xmlns:p14="http://schemas.microsoft.com/office/powerpoint/2010/main" val="694231569"/>
              </p:ext>
            </p:extLst>
          </p:nvPr>
        </p:nvGraphicFramePr>
        <p:xfrm>
          <a:off x="1761570" y="3181806"/>
          <a:ext cx="2583180" cy="3566160"/>
        </p:xfrm>
        <a:graphic>
          <a:graphicData uri="http://schemas.openxmlformats.org/drawingml/2006/table">
            <a:tbl>
              <a:tblPr firstRow="1" bandRow="1">
                <a:tableStyleId>{7E9639D4-E3E2-4D34-9284-5A2195B3D0D7}</a:tableStyleId>
              </a:tblPr>
              <a:tblGrid>
                <a:gridCol w="1431902">
                  <a:extLst>
                    <a:ext uri="{9D8B030D-6E8A-4147-A177-3AD203B41FA5}">
                      <a16:colId xmlns:a16="http://schemas.microsoft.com/office/drawing/2014/main" val="2742514924"/>
                    </a:ext>
                  </a:extLst>
                </a:gridCol>
                <a:gridCol w="1151278">
                  <a:extLst>
                    <a:ext uri="{9D8B030D-6E8A-4147-A177-3AD203B41FA5}">
                      <a16:colId xmlns:a16="http://schemas.microsoft.com/office/drawing/2014/main" val="1481921329"/>
                    </a:ext>
                  </a:extLst>
                </a:gridCol>
              </a:tblGrid>
              <a:tr h="370840">
                <a:tc gridSpan="2">
                  <a:txBody>
                    <a:bodyPr/>
                    <a:lstStyle/>
                    <a:p>
                      <a:pPr algn="ctr"/>
                      <a:r>
                        <a:rPr lang="en-US" sz="2000" dirty="0">
                          <a:latin typeface="Microsoft Sans Serif" panose="020B0604020202020204" pitchFamily="34" charset="0"/>
                          <a:ea typeface="Microsoft Sans Serif" panose="020B0604020202020204" pitchFamily="34" charset="0"/>
                          <a:cs typeface="Microsoft Sans Serif" panose="020B0604020202020204" pitchFamily="34" charset="0"/>
                        </a:rPr>
                        <a:t>User</a:t>
                      </a:r>
                    </a:p>
                  </a:txBody>
                  <a:tcPr>
                    <a:lnB w="12700" cap="flat" cmpd="sng" algn="ctr">
                      <a:solidFill>
                        <a:schemeClr val="tx1"/>
                      </a:solidFill>
                      <a:prstDash val="solid"/>
                      <a:round/>
                      <a:headEnd type="none" w="med" len="med"/>
                      <a:tailEnd type="none" w="med" len="med"/>
                    </a:lnB>
                  </a:tcPr>
                </a:tc>
                <a:tc hMerge="1">
                  <a:txBody>
                    <a:bodyPr/>
                    <a:lstStyle/>
                    <a:p>
                      <a:endParaRPr lang="en-US" dirty="0"/>
                    </a:p>
                  </a:txBody>
                  <a:tcPr/>
                </a:tc>
                <a:extLst>
                  <a:ext uri="{0D108BD9-81ED-4DB2-BD59-A6C34878D82A}">
                    <a16:rowId xmlns:a16="http://schemas.microsoft.com/office/drawing/2014/main" val="3271576001"/>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Username</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0081080"/>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Email</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713916"/>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Password</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0931107"/>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Img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1120352"/>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Location</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223625"/>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Phone</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5333023"/>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Desc</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32949271"/>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isSeller</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Boolean</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69564174"/>
                  </a:ext>
                </a:extLst>
              </a:tr>
            </a:tbl>
          </a:graphicData>
        </a:graphic>
      </p:graphicFrame>
      <p:graphicFrame>
        <p:nvGraphicFramePr>
          <p:cNvPr id="5" name="Table 4">
            <a:extLst>
              <a:ext uri="{FF2B5EF4-FFF2-40B4-BE49-F238E27FC236}">
                <a16:creationId xmlns:a16="http://schemas.microsoft.com/office/drawing/2014/main" id="{162B55A6-7330-92DA-E6C8-A4FFF1350048}"/>
              </a:ext>
            </a:extLst>
          </p:cNvPr>
          <p:cNvGraphicFramePr>
            <a:graphicFrameLocks noGrp="1"/>
          </p:cNvGraphicFramePr>
          <p:nvPr>
            <p:extLst>
              <p:ext uri="{D42A27DB-BD31-4B8C-83A1-F6EECF244321}">
                <p14:modId xmlns:p14="http://schemas.microsoft.com/office/powerpoint/2010/main" val="1892180925"/>
              </p:ext>
            </p:extLst>
          </p:nvPr>
        </p:nvGraphicFramePr>
        <p:xfrm>
          <a:off x="6641745" y="3122298"/>
          <a:ext cx="3472537" cy="5943600"/>
        </p:xfrm>
        <a:graphic>
          <a:graphicData uri="http://schemas.openxmlformats.org/drawingml/2006/table">
            <a:tbl>
              <a:tblPr firstRow="1" bandRow="1">
                <a:tableStyleId>{7E9639D4-E3E2-4D34-9284-5A2195B3D0D7}</a:tableStyleId>
              </a:tblPr>
              <a:tblGrid>
                <a:gridCol w="1924888">
                  <a:extLst>
                    <a:ext uri="{9D8B030D-6E8A-4147-A177-3AD203B41FA5}">
                      <a16:colId xmlns:a16="http://schemas.microsoft.com/office/drawing/2014/main" val="2742514924"/>
                    </a:ext>
                  </a:extLst>
                </a:gridCol>
                <a:gridCol w="1547649">
                  <a:extLst>
                    <a:ext uri="{9D8B030D-6E8A-4147-A177-3AD203B41FA5}">
                      <a16:colId xmlns:a16="http://schemas.microsoft.com/office/drawing/2014/main" val="1481921329"/>
                    </a:ext>
                  </a:extLst>
                </a:gridCol>
              </a:tblGrid>
              <a:tr h="0">
                <a:tc gridSpan="2">
                  <a:txBody>
                    <a:bodyPr/>
                    <a:lstStyle/>
                    <a:p>
                      <a:pPr algn="ctr"/>
                      <a:r>
                        <a:rPr lang="en-US" sz="2000">
                          <a:latin typeface="Microsoft Sans Serif" panose="020B0604020202020204" pitchFamily="34" charset="0"/>
                          <a:ea typeface="Microsoft Sans Serif" panose="020B0604020202020204" pitchFamily="34" charset="0"/>
                          <a:cs typeface="Microsoft Sans Serif" panose="020B0604020202020204" pitchFamily="34" charset="0"/>
                        </a:rPr>
                        <a:t>Item</a:t>
                      </a:r>
                      <a:endParaRPr lang="en-US" sz="20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lnB w="12700" cap="flat" cmpd="sng" algn="ctr">
                      <a:solidFill>
                        <a:schemeClr val="tx1"/>
                      </a:solidFill>
                      <a:prstDash val="solid"/>
                      <a:round/>
                      <a:headEnd type="none" w="med" len="med"/>
                      <a:tailEnd type="none" w="med" len="med"/>
                    </a:lnB>
                  </a:tcPr>
                </a:tc>
                <a:tc hMerge="1">
                  <a:txBody>
                    <a:bodyPr/>
                    <a:lstStyle/>
                    <a:p>
                      <a:endParaRPr lang="en-US" dirty="0"/>
                    </a:p>
                  </a:txBody>
                  <a:tcPr/>
                </a:tc>
                <a:extLst>
                  <a:ext uri="{0D108BD9-81ED-4DB2-BD59-A6C34878D82A}">
                    <a16:rowId xmlns:a16="http://schemas.microsoft.com/office/drawing/2014/main" val="3271576001"/>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userId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0081080"/>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Title</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713916"/>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Desc</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0931107"/>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totalStars</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Number</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1120352"/>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starNumber</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Number</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223625"/>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Cat</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5333023"/>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Price</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Number</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32949271"/>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Cover</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69564174"/>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Images</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53203273"/>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shortTitle</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91644447"/>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shortDesc</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0260727"/>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deliveryTime</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Number</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7582552"/>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Featrues</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0533475"/>
                  </a:ext>
                </a:extLst>
              </a:tr>
              <a:tr h="370840">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Sales</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Number</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0862197"/>
                  </a:ext>
                </a:extLst>
              </a:tr>
            </a:tbl>
          </a:graphicData>
        </a:graphic>
      </p:graphicFrame>
      <p:graphicFrame>
        <p:nvGraphicFramePr>
          <p:cNvPr id="6" name="Table 5">
            <a:extLst>
              <a:ext uri="{FF2B5EF4-FFF2-40B4-BE49-F238E27FC236}">
                <a16:creationId xmlns:a16="http://schemas.microsoft.com/office/drawing/2014/main" id="{0F11FE69-CD11-820D-2640-049FFB8EC79C}"/>
              </a:ext>
            </a:extLst>
          </p:cNvPr>
          <p:cNvGraphicFramePr>
            <a:graphicFrameLocks noGrp="1"/>
          </p:cNvGraphicFramePr>
          <p:nvPr>
            <p:extLst>
              <p:ext uri="{D42A27DB-BD31-4B8C-83A1-F6EECF244321}">
                <p14:modId xmlns:p14="http://schemas.microsoft.com/office/powerpoint/2010/main" val="1137214577"/>
              </p:ext>
            </p:extLst>
          </p:nvPr>
        </p:nvGraphicFramePr>
        <p:xfrm>
          <a:off x="12915904" y="3122298"/>
          <a:ext cx="3833582" cy="3625668"/>
        </p:xfrm>
        <a:graphic>
          <a:graphicData uri="http://schemas.openxmlformats.org/drawingml/2006/table">
            <a:tbl>
              <a:tblPr firstRow="1" bandRow="1">
                <a:tableStyleId>{7E9639D4-E3E2-4D34-9284-5A2195B3D0D7}</a:tableStyleId>
              </a:tblPr>
              <a:tblGrid>
                <a:gridCol w="2125022">
                  <a:extLst>
                    <a:ext uri="{9D8B030D-6E8A-4147-A177-3AD203B41FA5}">
                      <a16:colId xmlns:a16="http://schemas.microsoft.com/office/drawing/2014/main" val="2742514924"/>
                    </a:ext>
                  </a:extLst>
                </a:gridCol>
                <a:gridCol w="1708560">
                  <a:extLst>
                    <a:ext uri="{9D8B030D-6E8A-4147-A177-3AD203B41FA5}">
                      <a16:colId xmlns:a16="http://schemas.microsoft.com/office/drawing/2014/main" val="1481921329"/>
                    </a:ext>
                  </a:extLst>
                </a:gridCol>
              </a:tblGrid>
              <a:tr h="0">
                <a:tc gridSpan="2">
                  <a:txBody>
                    <a:bodyPr/>
                    <a:lstStyle/>
                    <a:p>
                      <a:pPr algn="ctr"/>
                      <a:r>
                        <a:rPr lang="en-US" sz="2000" dirty="0">
                          <a:latin typeface="Microsoft Sans Serif" panose="020B0604020202020204" pitchFamily="34" charset="0"/>
                          <a:ea typeface="Microsoft Sans Serif" panose="020B0604020202020204" pitchFamily="34" charset="0"/>
                          <a:cs typeface="Microsoft Sans Serif" panose="020B0604020202020204" pitchFamily="34" charset="0"/>
                        </a:rPr>
                        <a:t>Order</a:t>
                      </a:r>
                    </a:p>
                  </a:txBody>
                  <a:tcPr>
                    <a:lnB w="12700" cap="flat" cmpd="sng" algn="ctr">
                      <a:solidFill>
                        <a:schemeClr val="tx1"/>
                      </a:solidFill>
                      <a:prstDash val="solid"/>
                      <a:round/>
                      <a:headEnd type="none" w="med" len="med"/>
                      <a:tailEnd type="none" w="med" len="med"/>
                    </a:lnB>
                  </a:tcPr>
                </a:tc>
                <a:tc hMerge="1">
                  <a:txBody>
                    <a:bodyPr/>
                    <a:lstStyle/>
                    <a:p>
                      <a:endParaRPr lang="en-US" dirty="0"/>
                    </a:p>
                  </a:txBody>
                  <a:tcPr/>
                </a:tc>
                <a:extLst>
                  <a:ext uri="{0D108BD9-81ED-4DB2-BD59-A6C34878D82A}">
                    <a16:rowId xmlns:a16="http://schemas.microsoft.com/office/drawing/2014/main" val="3271576001"/>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itemId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0081080"/>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Img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713916"/>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Title</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0931107"/>
                  </a:ext>
                </a:extLst>
              </a:tr>
              <a:tr h="455748">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Price</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1120352"/>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sellerId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223625"/>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buyerId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5333023"/>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isCompleted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Boolean</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32949271"/>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Payment_intent</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69564174"/>
                  </a:ext>
                </a:extLst>
              </a:tr>
            </a:tbl>
          </a:graphicData>
        </a:graphic>
      </p:graphicFrame>
      <p:pic>
        <p:nvPicPr>
          <p:cNvPr id="4" name="Picture 3">
            <a:extLst>
              <a:ext uri="{FF2B5EF4-FFF2-40B4-BE49-F238E27FC236}">
                <a16:creationId xmlns:a16="http://schemas.microsoft.com/office/drawing/2014/main" id="{1484CCD9-9810-6408-D98E-2CE35CC38D0C}"/>
              </a:ext>
            </a:extLst>
          </p:cNvPr>
          <p:cNvPicPr>
            <a:picLocks noChangeAspect="1"/>
          </p:cNvPicPr>
          <p:nvPr/>
        </p:nvPicPr>
        <p:blipFill>
          <a:blip r:embed="rId3"/>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21466968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Detailed Design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Document Structure</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aphicFrame>
        <p:nvGraphicFramePr>
          <p:cNvPr id="3" name="Table 2">
            <a:extLst>
              <a:ext uri="{FF2B5EF4-FFF2-40B4-BE49-F238E27FC236}">
                <a16:creationId xmlns:a16="http://schemas.microsoft.com/office/drawing/2014/main" id="{4EB6175B-97D0-BEDB-0A08-58F6E54F6C25}"/>
              </a:ext>
            </a:extLst>
          </p:cNvPr>
          <p:cNvGraphicFramePr>
            <a:graphicFrameLocks noGrp="1"/>
          </p:cNvGraphicFramePr>
          <p:nvPr>
            <p:extLst>
              <p:ext uri="{D42A27DB-BD31-4B8C-83A1-F6EECF244321}">
                <p14:modId xmlns:p14="http://schemas.microsoft.com/office/powerpoint/2010/main" val="847186381"/>
              </p:ext>
            </p:extLst>
          </p:nvPr>
        </p:nvGraphicFramePr>
        <p:xfrm>
          <a:off x="2296097" y="3132094"/>
          <a:ext cx="2583180" cy="1981200"/>
        </p:xfrm>
        <a:graphic>
          <a:graphicData uri="http://schemas.openxmlformats.org/drawingml/2006/table">
            <a:tbl>
              <a:tblPr firstRow="1" bandRow="1">
                <a:tableStyleId>{7E9639D4-E3E2-4D34-9284-5A2195B3D0D7}</a:tableStyleId>
              </a:tblPr>
              <a:tblGrid>
                <a:gridCol w="1431902">
                  <a:extLst>
                    <a:ext uri="{9D8B030D-6E8A-4147-A177-3AD203B41FA5}">
                      <a16:colId xmlns:a16="http://schemas.microsoft.com/office/drawing/2014/main" val="2742514924"/>
                    </a:ext>
                  </a:extLst>
                </a:gridCol>
                <a:gridCol w="1151278">
                  <a:extLst>
                    <a:ext uri="{9D8B030D-6E8A-4147-A177-3AD203B41FA5}">
                      <a16:colId xmlns:a16="http://schemas.microsoft.com/office/drawing/2014/main" val="1481921329"/>
                    </a:ext>
                  </a:extLst>
                </a:gridCol>
              </a:tblGrid>
              <a:tr h="370840">
                <a:tc gridSpan="2">
                  <a:txBody>
                    <a:bodyPr/>
                    <a:lstStyle/>
                    <a:p>
                      <a:pPr algn="ctr"/>
                      <a:r>
                        <a:rPr lang="en-US" sz="2000" dirty="0">
                          <a:latin typeface="Microsoft Sans Serif" panose="020B0604020202020204" pitchFamily="34" charset="0"/>
                          <a:ea typeface="Microsoft Sans Serif" panose="020B0604020202020204" pitchFamily="34" charset="0"/>
                          <a:cs typeface="Microsoft Sans Serif" panose="020B0604020202020204" pitchFamily="34" charset="0"/>
                        </a:rPr>
                        <a:t>Review</a:t>
                      </a:r>
                    </a:p>
                  </a:txBody>
                  <a:tcPr>
                    <a:lnB w="12700" cap="flat" cmpd="sng" algn="ctr">
                      <a:solidFill>
                        <a:schemeClr val="tx1"/>
                      </a:solidFill>
                      <a:prstDash val="solid"/>
                      <a:round/>
                      <a:headEnd type="none" w="med" len="med"/>
                      <a:tailEnd type="none" w="med" len="med"/>
                    </a:lnB>
                  </a:tcPr>
                </a:tc>
                <a:tc hMerge="1">
                  <a:txBody>
                    <a:bodyPr/>
                    <a:lstStyle/>
                    <a:p>
                      <a:endParaRPr lang="en-US" dirty="0"/>
                    </a:p>
                  </a:txBody>
                  <a:tcPr/>
                </a:tc>
                <a:extLst>
                  <a:ext uri="{0D108BD9-81ED-4DB2-BD59-A6C34878D82A}">
                    <a16:rowId xmlns:a16="http://schemas.microsoft.com/office/drawing/2014/main" val="3271576001"/>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itemId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0081080"/>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userId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713916"/>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Star</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Number</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0931107"/>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desc</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1120352"/>
                  </a:ext>
                </a:extLst>
              </a:tr>
            </a:tbl>
          </a:graphicData>
        </a:graphic>
      </p:graphicFrame>
      <p:graphicFrame>
        <p:nvGraphicFramePr>
          <p:cNvPr id="5" name="Table 4">
            <a:extLst>
              <a:ext uri="{FF2B5EF4-FFF2-40B4-BE49-F238E27FC236}">
                <a16:creationId xmlns:a16="http://schemas.microsoft.com/office/drawing/2014/main" id="{162B55A6-7330-92DA-E6C8-A4FFF1350048}"/>
              </a:ext>
            </a:extLst>
          </p:cNvPr>
          <p:cNvGraphicFramePr>
            <a:graphicFrameLocks noGrp="1"/>
          </p:cNvGraphicFramePr>
          <p:nvPr>
            <p:extLst>
              <p:ext uri="{D42A27DB-BD31-4B8C-83A1-F6EECF244321}">
                <p14:modId xmlns:p14="http://schemas.microsoft.com/office/powerpoint/2010/main" val="3962274543"/>
              </p:ext>
            </p:extLst>
          </p:nvPr>
        </p:nvGraphicFramePr>
        <p:xfrm>
          <a:off x="6641745" y="3122298"/>
          <a:ext cx="3472537" cy="2773680"/>
        </p:xfrm>
        <a:graphic>
          <a:graphicData uri="http://schemas.openxmlformats.org/drawingml/2006/table">
            <a:tbl>
              <a:tblPr firstRow="1" bandRow="1">
                <a:tableStyleId>{7E9639D4-E3E2-4D34-9284-5A2195B3D0D7}</a:tableStyleId>
              </a:tblPr>
              <a:tblGrid>
                <a:gridCol w="1924888">
                  <a:extLst>
                    <a:ext uri="{9D8B030D-6E8A-4147-A177-3AD203B41FA5}">
                      <a16:colId xmlns:a16="http://schemas.microsoft.com/office/drawing/2014/main" val="2742514924"/>
                    </a:ext>
                  </a:extLst>
                </a:gridCol>
                <a:gridCol w="1547649">
                  <a:extLst>
                    <a:ext uri="{9D8B030D-6E8A-4147-A177-3AD203B41FA5}">
                      <a16:colId xmlns:a16="http://schemas.microsoft.com/office/drawing/2014/main" val="1481921329"/>
                    </a:ext>
                  </a:extLst>
                </a:gridCol>
              </a:tblGrid>
              <a:tr h="0">
                <a:tc gridSpan="2">
                  <a:txBody>
                    <a:bodyPr/>
                    <a:lstStyle/>
                    <a:p>
                      <a:pPr algn="ctr"/>
                      <a:r>
                        <a:rPr lang="en-US" sz="2000" dirty="0">
                          <a:latin typeface="Microsoft Sans Serif" panose="020B0604020202020204" pitchFamily="34" charset="0"/>
                          <a:ea typeface="Microsoft Sans Serif" panose="020B0604020202020204" pitchFamily="34" charset="0"/>
                          <a:cs typeface="Microsoft Sans Serif" panose="020B0604020202020204" pitchFamily="34" charset="0"/>
                        </a:rPr>
                        <a:t>Conversation</a:t>
                      </a:r>
                    </a:p>
                  </a:txBody>
                  <a:tcPr>
                    <a:lnB w="12700" cap="flat" cmpd="sng" algn="ctr">
                      <a:solidFill>
                        <a:schemeClr val="tx1"/>
                      </a:solidFill>
                      <a:prstDash val="solid"/>
                      <a:round/>
                      <a:headEnd type="none" w="med" len="med"/>
                      <a:tailEnd type="none" w="med" len="med"/>
                    </a:lnB>
                  </a:tcPr>
                </a:tc>
                <a:tc hMerge="1">
                  <a:txBody>
                    <a:bodyPr/>
                    <a:lstStyle/>
                    <a:p>
                      <a:endParaRPr lang="en-US" dirty="0"/>
                    </a:p>
                  </a:txBody>
                  <a:tcPr/>
                </a:tc>
                <a:extLst>
                  <a:ext uri="{0D108BD9-81ED-4DB2-BD59-A6C34878D82A}">
                    <a16:rowId xmlns:a16="http://schemas.microsoft.com/office/drawing/2014/main" val="3271576001"/>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Id</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0081080"/>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sellerId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713916"/>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buyerId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0931107"/>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readBySeller</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Boolean</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1120352"/>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readByBuyer</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Boolean</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223625"/>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lastMessage</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5333023"/>
                  </a:ext>
                </a:extLst>
              </a:tr>
            </a:tbl>
          </a:graphicData>
        </a:graphic>
      </p:graphicFrame>
      <p:graphicFrame>
        <p:nvGraphicFramePr>
          <p:cNvPr id="6" name="Table 5">
            <a:extLst>
              <a:ext uri="{FF2B5EF4-FFF2-40B4-BE49-F238E27FC236}">
                <a16:creationId xmlns:a16="http://schemas.microsoft.com/office/drawing/2014/main" id="{0F11FE69-CD11-820D-2640-049FFB8EC79C}"/>
              </a:ext>
            </a:extLst>
          </p:cNvPr>
          <p:cNvGraphicFramePr>
            <a:graphicFrameLocks noGrp="1"/>
          </p:cNvGraphicFramePr>
          <p:nvPr>
            <p:extLst>
              <p:ext uri="{D42A27DB-BD31-4B8C-83A1-F6EECF244321}">
                <p14:modId xmlns:p14="http://schemas.microsoft.com/office/powerpoint/2010/main" val="2768352070"/>
              </p:ext>
            </p:extLst>
          </p:nvPr>
        </p:nvGraphicFramePr>
        <p:xfrm>
          <a:off x="11876750" y="3122298"/>
          <a:ext cx="3833582" cy="1584960"/>
        </p:xfrm>
        <a:graphic>
          <a:graphicData uri="http://schemas.openxmlformats.org/drawingml/2006/table">
            <a:tbl>
              <a:tblPr firstRow="1" bandRow="1">
                <a:tableStyleId>{7E9639D4-E3E2-4D34-9284-5A2195B3D0D7}</a:tableStyleId>
              </a:tblPr>
              <a:tblGrid>
                <a:gridCol w="2125022">
                  <a:extLst>
                    <a:ext uri="{9D8B030D-6E8A-4147-A177-3AD203B41FA5}">
                      <a16:colId xmlns:a16="http://schemas.microsoft.com/office/drawing/2014/main" val="2742514924"/>
                    </a:ext>
                  </a:extLst>
                </a:gridCol>
                <a:gridCol w="1708560">
                  <a:extLst>
                    <a:ext uri="{9D8B030D-6E8A-4147-A177-3AD203B41FA5}">
                      <a16:colId xmlns:a16="http://schemas.microsoft.com/office/drawing/2014/main" val="1481921329"/>
                    </a:ext>
                  </a:extLst>
                </a:gridCol>
              </a:tblGrid>
              <a:tr h="0">
                <a:tc gridSpan="2">
                  <a:txBody>
                    <a:bodyPr/>
                    <a:lstStyle/>
                    <a:p>
                      <a:pPr algn="ctr"/>
                      <a:r>
                        <a:rPr lang="en-US" sz="2000" dirty="0">
                          <a:latin typeface="Microsoft Sans Serif" panose="020B0604020202020204" pitchFamily="34" charset="0"/>
                          <a:ea typeface="Microsoft Sans Serif" panose="020B0604020202020204" pitchFamily="34" charset="0"/>
                          <a:cs typeface="Microsoft Sans Serif" panose="020B0604020202020204" pitchFamily="34" charset="0"/>
                        </a:rPr>
                        <a:t>Message</a:t>
                      </a:r>
                    </a:p>
                  </a:txBody>
                  <a:tcPr>
                    <a:lnB w="12700" cap="flat" cmpd="sng" algn="ctr">
                      <a:solidFill>
                        <a:schemeClr val="tx1"/>
                      </a:solidFill>
                      <a:prstDash val="solid"/>
                      <a:round/>
                      <a:headEnd type="none" w="med" len="med"/>
                      <a:tailEnd type="none" w="med" len="med"/>
                    </a:lnB>
                  </a:tcPr>
                </a:tc>
                <a:tc hMerge="1">
                  <a:txBody>
                    <a:bodyPr/>
                    <a:lstStyle/>
                    <a:p>
                      <a:endParaRPr lang="en-US" dirty="0"/>
                    </a:p>
                  </a:txBody>
                  <a:tcPr/>
                </a:tc>
                <a:extLst>
                  <a:ext uri="{0D108BD9-81ED-4DB2-BD59-A6C34878D82A}">
                    <a16:rowId xmlns:a16="http://schemas.microsoft.com/office/drawing/2014/main" val="3271576001"/>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conversationId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0081080"/>
                  </a:ext>
                </a:extLst>
              </a:tr>
              <a:tr h="370840">
                <a:tc>
                  <a:txBody>
                    <a:bodyPr/>
                    <a:lstStyle/>
                    <a:p>
                      <a:pPr rtl="0" fontAlgn="b"/>
                      <a:r>
                        <a:rPr lang="en-US" sz="200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userId</a:t>
                      </a:r>
                      <a:endPar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713916"/>
                  </a:ext>
                </a:extLst>
              </a:tr>
              <a:tr h="370840">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desc</a:t>
                      </a:r>
                    </a:p>
                  </a:txBody>
                  <a:tcPr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fontAlgn="b"/>
                      <a:r>
                        <a:rPr lang="en-US" sz="20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String</a:t>
                      </a:r>
                    </a:p>
                  </a:txBody>
                  <a:tcPr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0931107"/>
                  </a:ext>
                </a:extLst>
              </a:tr>
            </a:tbl>
          </a:graphicData>
        </a:graphic>
      </p:graphicFrame>
      <p:pic>
        <p:nvPicPr>
          <p:cNvPr id="4" name="Picture 3">
            <a:extLst>
              <a:ext uri="{FF2B5EF4-FFF2-40B4-BE49-F238E27FC236}">
                <a16:creationId xmlns:a16="http://schemas.microsoft.com/office/drawing/2014/main" id="{04555EC4-EC73-8B60-37DB-81892B85FA67}"/>
              </a:ext>
            </a:extLst>
          </p:cNvPr>
          <p:cNvPicPr>
            <a:picLocks noChangeAspect="1"/>
          </p:cNvPicPr>
          <p:nvPr/>
        </p:nvPicPr>
        <p:blipFill>
          <a:blip r:embed="rId3"/>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37311002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PSEUDO CODE</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SIGN UP PAGE</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1AAACB07-84A2-6F89-1E3C-3484C01BF61C}"/>
              </a:ext>
            </a:extLst>
          </p:cNvPr>
          <p:cNvSpPr txBox="1"/>
          <p:nvPr/>
        </p:nvSpPr>
        <p:spPr>
          <a:xfrm>
            <a:off x="420130" y="2916195"/>
            <a:ext cx="13543005" cy="5509200"/>
          </a:xfrm>
          <a:prstGeom prst="rect">
            <a:avLst/>
          </a:prstGeom>
          <a:noFill/>
        </p:spPr>
        <p:txBody>
          <a:bodyPr wrap="square" rtlCol="0">
            <a:spAutoFit/>
          </a:bodyPr>
          <a:lstStyle/>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If full username, email, password upload is empty then</a:t>
            </a: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Display error message </a:t>
            </a:r>
            <a:r>
              <a:rPr lang="en-US" sz="3200" b="1" dirty="0">
                <a:latin typeface="Microsoft Sans Serif" panose="020B0604020202020204" pitchFamily="34" charset="0"/>
                <a:ea typeface="Microsoft Sans Serif" panose="020B0604020202020204" pitchFamily="34" charset="0"/>
                <a:cs typeface="Microsoft Sans Serif" panose="020B0604020202020204" pitchFamily="34" charset="0"/>
              </a:rPr>
              <a:t>“All fields are required”</a:t>
            </a:r>
          </a:p>
          <a:p>
            <a:endPar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If email or user is duplicate then</a:t>
            </a: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Display error message </a:t>
            </a:r>
            <a:r>
              <a:rPr lang="en-US" sz="3200" b="1" dirty="0">
                <a:latin typeface="Microsoft Sans Serif" panose="020B0604020202020204" pitchFamily="34" charset="0"/>
                <a:ea typeface="Microsoft Sans Serif" panose="020B0604020202020204" pitchFamily="34" charset="0"/>
                <a:cs typeface="Microsoft Sans Serif" panose="020B0604020202020204" pitchFamily="34" charset="0"/>
              </a:rPr>
              <a:t>“User already exist”</a:t>
            </a:r>
          </a:p>
          <a:p>
            <a:endPar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Else</a:t>
            </a: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Save User details is saved to database</a:t>
            </a: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Display success message </a:t>
            </a:r>
            <a:r>
              <a:rPr lang="en-US" sz="3200" b="1" dirty="0">
                <a:latin typeface="Microsoft Sans Serif" panose="020B0604020202020204" pitchFamily="34" charset="0"/>
                <a:ea typeface="Microsoft Sans Serif" panose="020B0604020202020204" pitchFamily="34" charset="0"/>
                <a:cs typeface="Microsoft Sans Serif" panose="020B0604020202020204" pitchFamily="34" charset="0"/>
              </a:rPr>
              <a:t>"User registered successfully!"</a:t>
            </a: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End</a:t>
            </a:r>
          </a:p>
          <a:p>
            <a:endPar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pic>
        <p:nvPicPr>
          <p:cNvPr id="7" name="Picture 6">
            <a:extLst>
              <a:ext uri="{FF2B5EF4-FFF2-40B4-BE49-F238E27FC236}">
                <a16:creationId xmlns:a16="http://schemas.microsoft.com/office/drawing/2014/main" id="{7D758C11-8BC6-4154-4E62-DF3A3993F03B}"/>
              </a:ext>
            </a:extLst>
          </p:cNvPr>
          <p:cNvPicPr>
            <a:picLocks noChangeAspect="1"/>
          </p:cNvPicPr>
          <p:nvPr/>
        </p:nvPicPr>
        <p:blipFill>
          <a:blip r:embed="rId3"/>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22665102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PSEUDO CODE</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LOG IN PAGE</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1AAACB07-84A2-6F89-1E3C-3484C01BF61C}"/>
              </a:ext>
            </a:extLst>
          </p:cNvPr>
          <p:cNvSpPr txBox="1"/>
          <p:nvPr/>
        </p:nvSpPr>
        <p:spPr>
          <a:xfrm>
            <a:off x="420130" y="2916195"/>
            <a:ext cx="16459200" cy="5016758"/>
          </a:xfrm>
          <a:prstGeom prst="rect">
            <a:avLst/>
          </a:prstGeom>
          <a:noFill/>
        </p:spPr>
        <p:txBody>
          <a:bodyPr wrap="square" rtlCol="0">
            <a:spAutoFit/>
          </a:bodyPr>
          <a:lstStyle/>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If username or password is empty then</a:t>
            </a: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Display error message </a:t>
            </a:r>
            <a:r>
              <a:rPr lang="en-US" sz="3200" b="1" dirty="0">
                <a:latin typeface="Microsoft Sans Serif" panose="020B0604020202020204" pitchFamily="34" charset="0"/>
                <a:ea typeface="Microsoft Sans Serif" panose="020B0604020202020204" pitchFamily="34" charset="0"/>
                <a:cs typeface="Microsoft Sans Serif" panose="020B0604020202020204" pitchFamily="34" charset="0"/>
              </a:rPr>
              <a:t>“Username or password cannot be empty“</a:t>
            </a: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Else</a:t>
            </a: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If username and password match entries in database then</a:t>
            </a: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Display success message </a:t>
            </a:r>
            <a:r>
              <a:rPr lang="en-US" sz="3200" b="1" dirty="0">
                <a:latin typeface="Microsoft Sans Serif" panose="020B0604020202020204" pitchFamily="34" charset="0"/>
                <a:ea typeface="Microsoft Sans Serif" panose="020B0604020202020204" pitchFamily="34" charset="0"/>
                <a:cs typeface="Microsoft Sans Serif" panose="020B0604020202020204" pitchFamily="34" charset="0"/>
              </a:rPr>
              <a:t>"User Login successfully!"</a:t>
            </a: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Else</a:t>
            </a: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Display error message </a:t>
            </a:r>
            <a:r>
              <a:rPr lang="en-US" sz="3200" b="1" dirty="0">
                <a:latin typeface="Microsoft Sans Serif" panose="020B0604020202020204" pitchFamily="34" charset="0"/>
                <a:ea typeface="Microsoft Sans Serif" panose="020B0604020202020204" pitchFamily="34" charset="0"/>
                <a:cs typeface="Microsoft Sans Serif" panose="020B0604020202020204" pitchFamily="34" charset="0"/>
              </a:rPr>
              <a:t>"Invalid username or password"</a:t>
            </a:r>
          </a:p>
          <a:p>
            <a:r>
              <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rPr>
              <a:t>	</a:t>
            </a:r>
          </a:p>
          <a:p>
            <a:endPar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endParaRPr lang="en-US" sz="3200"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pic>
        <p:nvPicPr>
          <p:cNvPr id="3" name="Picture 2">
            <a:extLst>
              <a:ext uri="{FF2B5EF4-FFF2-40B4-BE49-F238E27FC236}">
                <a16:creationId xmlns:a16="http://schemas.microsoft.com/office/drawing/2014/main" id="{91F33FCA-D3BF-EFB0-9C88-5873F9557AE4}"/>
              </a:ext>
            </a:extLst>
          </p:cNvPr>
          <p:cNvPicPr>
            <a:picLocks noChangeAspect="1"/>
          </p:cNvPicPr>
          <p:nvPr/>
        </p:nvPicPr>
        <p:blipFill>
          <a:blip r:embed="rId3"/>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16045899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PSEUDO CODE</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HOME PAGE (Users)</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1AAACB07-84A2-6F89-1E3C-3484C01BF61C}"/>
              </a:ext>
            </a:extLst>
          </p:cNvPr>
          <p:cNvSpPr txBox="1"/>
          <p:nvPr/>
        </p:nvSpPr>
        <p:spPr>
          <a:xfrm>
            <a:off x="420130" y="2916195"/>
            <a:ext cx="16459200" cy="5509200"/>
          </a:xfrm>
          <a:prstGeom prst="rect">
            <a:avLst/>
          </a:prstGeom>
          <a:noFill/>
        </p:spPr>
        <p:txBody>
          <a:bodyPr wrap="square" rtlCol="0">
            <a:spAutoFit/>
          </a:bodyPr>
          <a:lstStyle/>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If user is logged in then                                                                   </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Prompt user to:</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I) View Items</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II) View Orders	</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III) Buy Items</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IV) Message Provider </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V)  Rate and Review Item</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VI) Search and filter item	</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a:t>
            </a:r>
          </a:p>
          <a:p>
            <a:endPar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endPar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pic>
        <p:nvPicPr>
          <p:cNvPr id="3" name="Picture 2">
            <a:extLst>
              <a:ext uri="{FF2B5EF4-FFF2-40B4-BE49-F238E27FC236}">
                <a16:creationId xmlns:a16="http://schemas.microsoft.com/office/drawing/2014/main" id="{91F33FCA-D3BF-EFB0-9C88-5873F9557AE4}"/>
              </a:ext>
            </a:extLst>
          </p:cNvPr>
          <p:cNvPicPr>
            <a:picLocks noChangeAspect="1"/>
          </p:cNvPicPr>
          <p:nvPr/>
        </p:nvPicPr>
        <p:blipFill>
          <a:blip r:embed="rId3"/>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1886537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PSEUDO CODE</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7054" y="1877400"/>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HOME PAGE (Food Producer)</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1AAACB07-84A2-6F89-1E3C-3484C01BF61C}"/>
              </a:ext>
            </a:extLst>
          </p:cNvPr>
          <p:cNvSpPr txBox="1"/>
          <p:nvPr/>
        </p:nvSpPr>
        <p:spPr>
          <a:xfrm>
            <a:off x="420130" y="2916195"/>
            <a:ext cx="16459200" cy="6001643"/>
          </a:xfrm>
          <a:prstGeom prst="rect">
            <a:avLst/>
          </a:prstGeom>
          <a:noFill/>
        </p:spPr>
        <p:txBody>
          <a:bodyPr wrap="square" rtlCol="0">
            <a:spAutoFit/>
          </a:bodyPr>
          <a:lstStyle/>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If user is logged in then                                                                   </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Prompt user to:</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I) View Items</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II) Add Items</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III) View Orders	</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IV) Buy Items</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V) Message Provider </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VI)  Rate and Review Item</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VII) Search and filter item	</a:t>
            </a:r>
          </a:p>
          <a:p>
            <a:r>
              <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rPr>
              <a:t>            </a:t>
            </a:r>
          </a:p>
          <a:p>
            <a:endPar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endParaRPr lang="en-IN" sz="3200"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pic>
        <p:nvPicPr>
          <p:cNvPr id="3" name="Picture 2">
            <a:extLst>
              <a:ext uri="{FF2B5EF4-FFF2-40B4-BE49-F238E27FC236}">
                <a16:creationId xmlns:a16="http://schemas.microsoft.com/office/drawing/2014/main" id="{91F33FCA-D3BF-EFB0-9C88-5873F9557AE4}"/>
              </a:ext>
            </a:extLst>
          </p:cNvPr>
          <p:cNvPicPr>
            <a:picLocks noChangeAspect="1"/>
          </p:cNvPicPr>
          <p:nvPr/>
        </p:nvPicPr>
        <p:blipFill>
          <a:blip r:embed="rId3"/>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16262067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IMPLEMENTATION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7054" y="1877400"/>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SCREENSHOTS</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91F33FCA-D3BF-EFB0-9C88-5873F9557AE4}"/>
              </a:ext>
            </a:extLst>
          </p:cNvPr>
          <p:cNvPicPr>
            <a:picLocks noChangeAspect="1"/>
          </p:cNvPicPr>
          <p:nvPr/>
        </p:nvPicPr>
        <p:blipFill>
          <a:blip r:embed="rId3"/>
          <a:stretch>
            <a:fillRect/>
          </a:stretch>
        </p:blipFill>
        <p:spPr>
          <a:xfrm>
            <a:off x="14621553" y="219835"/>
            <a:ext cx="4231706" cy="2456303"/>
          </a:xfrm>
          <a:prstGeom prst="rect">
            <a:avLst/>
          </a:prstGeom>
        </p:spPr>
      </p:pic>
      <p:pic>
        <p:nvPicPr>
          <p:cNvPr id="6" name="Picture 5">
            <a:extLst>
              <a:ext uri="{FF2B5EF4-FFF2-40B4-BE49-F238E27FC236}">
                <a16:creationId xmlns:a16="http://schemas.microsoft.com/office/drawing/2014/main" id="{7BEAADA3-3CF0-872F-E0C4-120F82A388F0}"/>
              </a:ext>
            </a:extLst>
          </p:cNvPr>
          <p:cNvPicPr>
            <a:picLocks noChangeAspect="1"/>
          </p:cNvPicPr>
          <p:nvPr/>
        </p:nvPicPr>
        <p:blipFill>
          <a:blip r:embed="rId4"/>
          <a:stretch>
            <a:fillRect/>
          </a:stretch>
        </p:blipFill>
        <p:spPr>
          <a:xfrm>
            <a:off x="503304" y="2773592"/>
            <a:ext cx="14903231" cy="7593102"/>
          </a:xfrm>
          <a:prstGeom prst="rect">
            <a:avLst/>
          </a:prstGeom>
        </p:spPr>
      </p:pic>
    </p:spTree>
    <p:extLst>
      <p:ext uri="{BB962C8B-B14F-4D97-AF65-F5344CB8AC3E}">
        <p14:creationId xmlns:p14="http://schemas.microsoft.com/office/powerpoint/2010/main" val="717595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IMPLEMENTATION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7054" y="1877400"/>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SCREENSHOTS</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91F33FCA-D3BF-EFB0-9C88-5873F9557AE4}"/>
              </a:ext>
            </a:extLst>
          </p:cNvPr>
          <p:cNvPicPr>
            <a:picLocks noChangeAspect="1"/>
          </p:cNvPicPr>
          <p:nvPr/>
        </p:nvPicPr>
        <p:blipFill>
          <a:blip r:embed="rId3"/>
          <a:stretch>
            <a:fillRect/>
          </a:stretch>
        </p:blipFill>
        <p:spPr>
          <a:xfrm>
            <a:off x="14621553" y="219835"/>
            <a:ext cx="4231706" cy="2456303"/>
          </a:xfrm>
          <a:prstGeom prst="rect">
            <a:avLst/>
          </a:prstGeom>
        </p:spPr>
      </p:pic>
      <p:pic>
        <p:nvPicPr>
          <p:cNvPr id="8" name="Picture 7">
            <a:extLst>
              <a:ext uri="{FF2B5EF4-FFF2-40B4-BE49-F238E27FC236}">
                <a16:creationId xmlns:a16="http://schemas.microsoft.com/office/drawing/2014/main" id="{AA850141-CB72-1C18-A226-B4DE6BA51F87}"/>
              </a:ext>
            </a:extLst>
          </p:cNvPr>
          <p:cNvPicPr>
            <a:picLocks noChangeAspect="1"/>
          </p:cNvPicPr>
          <p:nvPr/>
        </p:nvPicPr>
        <p:blipFill>
          <a:blip r:embed="rId4"/>
          <a:stretch>
            <a:fillRect/>
          </a:stretch>
        </p:blipFill>
        <p:spPr>
          <a:xfrm>
            <a:off x="499629" y="2878936"/>
            <a:ext cx="14121924" cy="7202330"/>
          </a:xfrm>
          <a:prstGeom prst="rect">
            <a:avLst/>
          </a:prstGeom>
        </p:spPr>
      </p:pic>
    </p:spTree>
    <p:extLst>
      <p:ext uri="{BB962C8B-B14F-4D97-AF65-F5344CB8AC3E}">
        <p14:creationId xmlns:p14="http://schemas.microsoft.com/office/powerpoint/2010/main" val="383467020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IMPLEMENTATION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7054" y="1877400"/>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SCREENSHOTS</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91F33FCA-D3BF-EFB0-9C88-5873F9557AE4}"/>
              </a:ext>
            </a:extLst>
          </p:cNvPr>
          <p:cNvPicPr>
            <a:picLocks noChangeAspect="1"/>
          </p:cNvPicPr>
          <p:nvPr/>
        </p:nvPicPr>
        <p:blipFill>
          <a:blip r:embed="rId3"/>
          <a:stretch>
            <a:fillRect/>
          </a:stretch>
        </p:blipFill>
        <p:spPr>
          <a:xfrm>
            <a:off x="14621553" y="219835"/>
            <a:ext cx="4231706" cy="2456303"/>
          </a:xfrm>
          <a:prstGeom prst="rect">
            <a:avLst/>
          </a:prstGeom>
        </p:spPr>
      </p:pic>
      <p:pic>
        <p:nvPicPr>
          <p:cNvPr id="5" name="Picture 4">
            <a:extLst>
              <a:ext uri="{FF2B5EF4-FFF2-40B4-BE49-F238E27FC236}">
                <a16:creationId xmlns:a16="http://schemas.microsoft.com/office/drawing/2014/main" id="{71CDAC80-7217-B32C-68E7-852458771B62}"/>
              </a:ext>
            </a:extLst>
          </p:cNvPr>
          <p:cNvPicPr>
            <a:picLocks noChangeAspect="1"/>
          </p:cNvPicPr>
          <p:nvPr/>
        </p:nvPicPr>
        <p:blipFill>
          <a:blip r:embed="rId4"/>
          <a:stretch>
            <a:fillRect/>
          </a:stretch>
        </p:blipFill>
        <p:spPr>
          <a:xfrm>
            <a:off x="469434" y="2941382"/>
            <a:ext cx="13764104" cy="7001771"/>
          </a:xfrm>
          <a:prstGeom prst="rect">
            <a:avLst/>
          </a:prstGeom>
        </p:spPr>
      </p:pic>
    </p:spTree>
    <p:extLst>
      <p:ext uri="{BB962C8B-B14F-4D97-AF65-F5344CB8AC3E}">
        <p14:creationId xmlns:p14="http://schemas.microsoft.com/office/powerpoint/2010/main" val="30661310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IMPLEMENTATION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7054" y="1877400"/>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SCREENSHOTS</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91F33FCA-D3BF-EFB0-9C88-5873F9557AE4}"/>
              </a:ext>
            </a:extLst>
          </p:cNvPr>
          <p:cNvPicPr>
            <a:picLocks noChangeAspect="1"/>
          </p:cNvPicPr>
          <p:nvPr/>
        </p:nvPicPr>
        <p:blipFill>
          <a:blip r:embed="rId3"/>
          <a:stretch>
            <a:fillRect/>
          </a:stretch>
        </p:blipFill>
        <p:spPr>
          <a:xfrm>
            <a:off x="14621553" y="219835"/>
            <a:ext cx="4231706" cy="2456303"/>
          </a:xfrm>
          <a:prstGeom prst="rect">
            <a:avLst/>
          </a:prstGeom>
        </p:spPr>
      </p:pic>
      <p:pic>
        <p:nvPicPr>
          <p:cNvPr id="5" name="Picture 4">
            <a:extLst>
              <a:ext uri="{FF2B5EF4-FFF2-40B4-BE49-F238E27FC236}">
                <a16:creationId xmlns:a16="http://schemas.microsoft.com/office/drawing/2014/main" id="{2C099B0B-1941-FC69-5B2E-A5D4CDA31256}"/>
              </a:ext>
            </a:extLst>
          </p:cNvPr>
          <p:cNvPicPr>
            <a:picLocks noChangeAspect="1"/>
          </p:cNvPicPr>
          <p:nvPr/>
        </p:nvPicPr>
        <p:blipFill>
          <a:blip r:embed="rId4"/>
          <a:stretch>
            <a:fillRect/>
          </a:stretch>
        </p:blipFill>
        <p:spPr>
          <a:xfrm>
            <a:off x="522547" y="2724138"/>
            <a:ext cx="14099006" cy="7198857"/>
          </a:xfrm>
          <a:prstGeom prst="rect">
            <a:avLst/>
          </a:prstGeom>
        </p:spPr>
      </p:pic>
    </p:spTree>
    <p:extLst>
      <p:ext uri="{BB962C8B-B14F-4D97-AF65-F5344CB8AC3E}">
        <p14:creationId xmlns:p14="http://schemas.microsoft.com/office/powerpoint/2010/main" val="6268971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IMPLEMENTATION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7054" y="1877400"/>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SCREENSHOTS</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91F33FCA-D3BF-EFB0-9C88-5873F9557AE4}"/>
              </a:ext>
            </a:extLst>
          </p:cNvPr>
          <p:cNvPicPr>
            <a:picLocks noChangeAspect="1"/>
          </p:cNvPicPr>
          <p:nvPr/>
        </p:nvPicPr>
        <p:blipFill>
          <a:blip r:embed="rId3"/>
          <a:stretch>
            <a:fillRect/>
          </a:stretch>
        </p:blipFill>
        <p:spPr>
          <a:xfrm>
            <a:off x="14621553" y="219835"/>
            <a:ext cx="4231706" cy="2456303"/>
          </a:xfrm>
          <a:prstGeom prst="rect">
            <a:avLst/>
          </a:prstGeom>
        </p:spPr>
      </p:pic>
      <p:pic>
        <p:nvPicPr>
          <p:cNvPr id="5" name="Picture 4">
            <a:extLst>
              <a:ext uri="{FF2B5EF4-FFF2-40B4-BE49-F238E27FC236}">
                <a16:creationId xmlns:a16="http://schemas.microsoft.com/office/drawing/2014/main" id="{2C099B0B-1941-FC69-5B2E-A5D4CDA31256}"/>
              </a:ext>
            </a:extLst>
          </p:cNvPr>
          <p:cNvPicPr>
            <a:picLocks noChangeAspect="1"/>
          </p:cNvPicPr>
          <p:nvPr/>
        </p:nvPicPr>
        <p:blipFill>
          <a:blip r:embed="rId4"/>
          <a:stretch>
            <a:fillRect/>
          </a:stretch>
        </p:blipFill>
        <p:spPr>
          <a:xfrm>
            <a:off x="522547" y="2724138"/>
            <a:ext cx="14099006" cy="7198857"/>
          </a:xfrm>
          <a:prstGeom prst="rect">
            <a:avLst/>
          </a:prstGeom>
        </p:spPr>
      </p:pic>
    </p:spTree>
    <p:extLst>
      <p:ext uri="{BB962C8B-B14F-4D97-AF65-F5344CB8AC3E}">
        <p14:creationId xmlns:p14="http://schemas.microsoft.com/office/powerpoint/2010/main" val="217642033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IMPLEMENTATION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7054" y="1877400"/>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SCREENSHOTS</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91F33FCA-D3BF-EFB0-9C88-5873F9557AE4}"/>
              </a:ext>
            </a:extLst>
          </p:cNvPr>
          <p:cNvPicPr>
            <a:picLocks noChangeAspect="1"/>
          </p:cNvPicPr>
          <p:nvPr/>
        </p:nvPicPr>
        <p:blipFill>
          <a:blip r:embed="rId3"/>
          <a:stretch>
            <a:fillRect/>
          </a:stretch>
        </p:blipFill>
        <p:spPr>
          <a:xfrm>
            <a:off x="14621553" y="219835"/>
            <a:ext cx="4231706" cy="2456303"/>
          </a:xfrm>
          <a:prstGeom prst="rect">
            <a:avLst/>
          </a:prstGeom>
        </p:spPr>
      </p:pic>
      <p:pic>
        <p:nvPicPr>
          <p:cNvPr id="6" name="Picture 5">
            <a:extLst>
              <a:ext uri="{FF2B5EF4-FFF2-40B4-BE49-F238E27FC236}">
                <a16:creationId xmlns:a16="http://schemas.microsoft.com/office/drawing/2014/main" id="{EB90F8A2-42BC-E844-79D5-3086A216459A}"/>
              </a:ext>
            </a:extLst>
          </p:cNvPr>
          <p:cNvPicPr>
            <a:picLocks noChangeAspect="1"/>
          </p:cNvPicPr>
          <p:nvPr/>
        </p:nvPicPr>
        <p:blipFill>
          <a:blip r:embed="rId4"/>
          <a:stretch>
            <a:fillRect/>
          </a:stretch>
        </p:blipFill>
        <p:spPr>
          <a:xfrm>
            <a:off x="657914" y="2748791"/>
            <a:ext cx="13550545" cy="6965569"/>
          </a:xfrm>
          <a:prstGeom prst="rect">
            <a:avLst/>
          </a:prstGeom>
        </p:spPr>
      </p:pic>
    </p:spTree>
    <p:extLst>
      <p:ext uri="{BB962C8B-B14F-4D97-AF65-F5344CB8AC3E}">
        <p14:creationId xmlns:p14="http://schemas.microsoft.com/office/powerpoint/2010/main" val="4404023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IMPLEMENTATION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7054" y="1877400"/>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SCREENSHOTS</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91F33FCA-D3BF-EFB0-9C88-5873F9557AE4}"/>
              </a:ext>
            </a:extLst>
          </p:cNvPr>
          <p:cNvPicPr>
            <a:picLocks noChangeAspect="1"/>
          </p:cNvPicPr>
          <p:nvPr/>
        </p:nvPicPr>
        <p:blipFill>
          <a:blip r:embed="rId3"/>
          <a:stretch>
            <a:fillRect/>
          </a:stretch>
        </p:blipFill>
        <p:spPr>
          <a:xfrm>
            <a:off x="14621553" y="219835"/>
            <a:ext cx="4231706" cy="2456303"/>
          </a:xfrm>
          <a:prstGeom prst="rect">
            <a:avLst/>
          </a:prstGeom>
        </p:spPr>
      </p:pic>
      <p:pic>
        <p:nvPicPr>
          <p:cNvPr id="5" name="Picture 4">
            <a:extLst>
              <a:ext uri="{FF2B5EF4-FFF2-40B4-BE49-F238E27FC236}">
                <a16:creationId xmlns:a16="http://schemas.microsoft.com/office/drawing/2014/main" id="{FA9D33D5-796D-0762-69B3-F89578FA9201}"/>
              </a:ext>
            </a:extLst>
          </p:cNvPr>
          <p:cNvPicPr>
            <a:picLocks noChangeAspect="1"/>
          </p:cNvPicPr>
          <p:nvPr/>
        </p:nvPicPr>
        <p:blipFill>
          <a:blip r:embed="rId4"/>
          <a:stretch>
            <a:fillRect/>
          </a:stretch>
        </p:blipFill>
        <p:spPr>
          <a:xfrm>
            <a:off x="841461" y="2920099"/>
            <a:ext cx="13780092" cy="7046226"/>
          </a:xfrm>
          <a:prstGeom prst="rect">
            <a:avLst/>
          </a:prstGeom>
        </p:spPr>
      </p:pic>
    </p:spTree>
    <p:extLst>
      <p:ext uri="{BB962C8B-B14F-4D97-AF65-F5344CB8AC3E}">
        <p14:creationId xmlns:p14="http://schemas.microsoft.com/office/powerpoint/2010/main" val="177948800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2" y="839520"/>
            <a:ext cx="8180175" cy="1477328"/>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58580" y="965763"/>
            <a:ext cx="7783560" cy="1120719"/>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3600" b="1" i="0" u="none" strike="noStrike" cap="none" dirty="0">
                <a:solidFill>
                  <a:srgbClr val="FFFFFF"/>
                </a:solidFill>
                <a:latin typeface="Calibri" panose="020F0502020204030204" pitchFamily="34" charset="0"/>
                <a:ea typeface="Calibri" panose="020F0502020204030204" pitchFamily="34" charset="0"/>
                <a:cs typeface="Calibri" panose="020F0502020204030204" pitchFamily="34" charset="0"/>
                <a:sym typeface="Calibri"/>
              </a:rPr>
              <a:t>Identifying and listing of targeted Conferences/Journals</a:t>
            </a:r>
            <a:endParaRPr sz="3600" b="0" i="0" u="none" strike="noStrike" cap="none" dirty="0">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3600">
              <a:latin typeface="Calibri" panose="020F0502020204030204" pitchFamily="34" charset="0"/>
              <a:ea typeface="Calibri" panose="020F0502020204030204" pitchFamily="34" charset="0"/>
              <a:cs typeface="Calibri" panose="020F0502020204030204" pitchFamily="34" charset="0"/>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3600">
              <a:latin typeface="Calibri" panose="020F0502020204030204" pitchFamily="34" charset="0"/>
              <a:ea typeface="Calibri" panose="020F0502020204030204" pitchFamily="34" charset="0"/>
              <a:cs typeface="Calibri" panose="020F0502020204030204" pitchFamily="34" charset="0"/>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600" b="1">
                <a:solidFill>
                  <a:schemeClr val="lt1"/>
                </a:solidFill>
                <a:latin typeface="Calibri" panose="020F0502020204030204" pitchFamily="34" charset="0"/>
                <a:ea typeface="Calibri" panose="020F0502020204030204" pitchFamily="34" charset="0"/>
                <a:cs typeface="Calibri" panose="020F0502020204030204" pitchFamily="34" charset="0"/>
                <a:sym typeface="Calibri"/>
              </a:rPr>
              <a:t>    Semester III</a:t>
            </a:r>
            <a:endParaRPr sz="3600" b="1">
              <a:solidFill>
                <a:schemeClr val="lt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2" name="Rectangle 1">
            <a:extLst>
              <a:ext uri="{FF2B5EF4-FFF2-40B4-BE49-F238E27FC236}">
                <a16:creationId xmlns:a16="http://schemas.microsoft.com/office/drawing/2014/main" id="{DC6FE588-58B4-3A0D-8DF5-0107D6290594}"/>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3600">
              <a:latin typeface="Calibri" panose="020F0502020204030204" pitchFamily="34" charset="0"/>
              <a:ea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8DE2E100-2806-225D-B3EB-26C7C011C6CD}"/>
              </a:ext>
            </a:extLst>
          </p:cNvPr>
          <p:cNvSpPr txBox="1"/>
          <p:nvPr/>
        </p:nvSpPr>
        <p:spPr>
          <a:xfrm>
            <a:off x="532924" y="3167331"/>
            <a:ext cx="16089001" cy="6555641"/>
          </a:xfrm>
          <a:prstGeom prst="rect">
            <a:avLst/>
          </a:prstGeom>
          <a:noFill/>
        </p:spPr>
        <p:txBody>
          <a:bodyPr wrap="square" rtlCol="0">
            <a:spAutoFit/>
          </a:bodyPr>
          <a:lstStyle/>
          <a:p>
            <a:r>
              <a:rPr lang="en-IN" sz="3000" b="1" dirty="0">
                <a:latin typeface="Microsoft Sans Serif" panose="020B0604020202020204" pitchFamily="34" charset="0"/>
                <a:ea typeface="Microsoft Sans Serif" panose="020B0604020202020204" pitchFamily="34" charset="0"/>
                <a:cs typeface="Microsoft Sans Serif" panose="020B0604020202020204" pitchFamily="34" charset="0"/>
              </a:rPr>
              <a:t>Journal of Cleaner Production</a:t>
            </a:r>
          </a:p>
          <a:p>
            <a:r>
              <a:rPr lang="en-IN" sz="3000" b="1" dirty="0">
                <a:latin typeface="Microsoft Sans Serif" panose="020B0604020202020204" pitchFamily="34" charset="0"/>
                <a:ea typeface="Microsoft Sans Serif" panose="020B0604020202020204" pitchFamily="34" charset="0"/>
                <a:cs typeface="Microsoft Sans Serif" panose="020B0604020202020204" pitchFamily="34" charset="0"/>
              </a:rPr>
              <a:t>Link</a:t>
            </a: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hlinkClick r:id="rId3"/>
              </a:rPr>
              <a:t>https://www2.cloud.editorialmanager.com/jclepro/default2.aspx</a:t>
            </a:r>
            <a:endPar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endPar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3000" b="1" dirty="0">
                <a:latin typeface="Microsoft Sans Serif" panose="020B0604020202020204" pitchFamily="34" charset="0"/>
                <a:ea typeface="Microsoft Sans Serif" panose="020B0604020202020204" pitchFamily="34" charset="0"/>
                <a:cs typeface="Microsoft Sans Serif" panose="020B0604020202020204" pitchFamily="34" charset="0"/>
              </a:rPr>
              <a:t>Trends in Food Science and Technology</a:t>
            </a:r>
            <a:endPar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3000" b="1" dirty="0">
                <a:latin typeface="Microsoft Sans Serif" panose="020B0604020202020204" pitchFamily="34" charset="0"/>
                <a:ea typeface="Microsoft Sans Serif" panose="020B0604020202020204" pitchFamily="34" charset="0"/>
                <a:cs typeface="Microsoft Sans Serif" panose="020B0604020202020204" pitchFamily="34" charset="0"/>
              </a:rPr>
              <a:t>Link</a:t>
            </a: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hlinkClick r:id="rId4"/>
              </a:rPr>
              <a:t>https://www2.cloud.editorialmanager.com/tifs/default2.aspx</a:t>
            </a:r>
            <a:endPar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endPar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3000" b="1" dirty="0">
                <a:latin typeface="Microsoft Sans Serif" panose="020B0604020202020204" pitchFamily="34" charset="0"/>
                <a:ea typeface="Microsoft Sans Serif" panose="020B0604020202020204" pitchFamily="34" charset="0"/>
                <a:cs typeface="Microsoft Sans Serif" panose="020B0604020202020204" pitchFamily="34" charset="0"/>
              </a:rPr>
              <a:t>Waste Management</a:t>
            </a:r>
            <a:endPar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3000" b="1" dirty="0">
                <a:latin typeface="Microsoft Sans Serif" panose="020B0604020202020204" pitchFamily="34" charset="0"/>
                <a:ea typeface="Microsoft Sans Serif" panose="020B0604020202020204" pitchFamily="34" charset="0"/>
                <a:cs typeface="Microsoft Sans Serif" panose="020B0604020202020204" pitchFamily="34" charset="0"/>
              </a:rPr>
              <a:t>Link:</a:t>
            </a: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hlinkClick r:id="rId5"/>
              </a:rPr>
              <a:t>https://www2.cloud.editorialmanager.com/wm/default2.aspx</a:t>
            </a:r>
            <a:endPar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endPar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3000" b="1" dirty="0">
                <a:latin typeface="Microsoft Sans Serif" panose="020B0604020202020204" pitchFamily="34" charset="0"/>
                <a:ea typeface="Microsoft Sans Serif" panose="020B0604020202020204" pitchFamily="34" charset="0"/>
                <a:cs typeface="Microsoft Sans Serif" panose="020B0604020202020204" pitchFamily="34" charset="0"/>
              </a:rPr>
              <a:t>Innovative Food Science and emerging Technologies</a:t>
            </a:r>
          </a:p>
          <a:p>
            <a:r>
              <a:rPr lang="en-IN" sz="3000" b="1" dirty="0">
                <a:latin typeface="Microsoft Sans Serif" panose="020B0604020202020204" pitchFamily="34" charset="0"/>
                <a:ea typeface="Microsoft Sans Serif" panose="020B0604020202020204" pitchFamily="34" charset="0"/>
                <a:cs typeface="Microsoft Sans Serif" panose="020B0604020202020204" pitchFamily="34" charset="0"/>
              </a:rPr>
              <a:t>Link: </a:t>
            </a: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hlinkClick r:id="rId6"/>
              </a:rPr>
              <a:t>https://www2.cloud.editorialmanager.com/ifset/default2.aspx</a:t>
            </a:r>
            <a:endPar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endPar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3000" b="1" dirty="0">
                <a:latin typeface="Microsoft Sans Serif" panose="020B0604020202020204" pitchFamily="34" charset="0"/>
                <a:ea typeface="Microsoft Sans Serif" panose="020B0604020202020204" pitchFamily="34" charset="0"/>
                <a:cs typeface="Microsoft Sans Serif" panose="020B0604020202020204" pitchFamily="34" charset="0"/>
              </a:rPr>
              <a:t>Journal of Future Foods</a:t>
            </a:r>
          </a:p>
          <a:p>
            <a:r>
              <a:rPr lang="en-IN" sz="3000" b="1" dirty="0">
                <a:latin typeface="Microsoft Sans Serif" panose="020B0604020202020204" pitchFamily="34" charset="0"/>
                <a:ea typeface="Microsoft Sans Serif" panose="020B0604020202020204" pitchFamily="34" charset="0"/>
                <a:cs typeface="Microsoft Sans Serif" panose="020B0604020202020204" pitchFamily="34" charset="0"/>
              </a:rPr>
              <a:t>Link</a:t>
            </a: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 https://www2.cloud.editorialmanager.com/jfutfo/default2.aspx</a:t>
            </a:r>
          </a:p>
        </p:txBody>
      </p:sp>
      <p:pic>
        <p:nvPicPr>
          <p:cNvPr id="3" name="Picture 2">
            <a:extLst>
              <a:ext uri="{FF2B5EF4-FFF2-40B4-BE49-F238E27FC236}">
                <a16:creationId xmlns:a16="http://schemas.microsoft.com/office/drawing/2014/main" id="{B58F4E75-502B-31A9-9513-40A72F1B2B62}"/>
              </a:ext>
            </a:extLst>
          </p:cNvPr>
          <p:cNvPicPr>
            <a:picLocks noChangeAspect="1"/>
          </p:cNvPicPr>
          <p:nvPr/>
        </p:nvPicPr>
        <p:blipFill>
          <a:blip r:embed="rId7"/>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34034226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1" y="839520"/>
            <a:ext cx="7218947"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58580" y="965763"/>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Arial"/>
                <a:cs typeface="Calibri"/>
                <a:sym typeface="Calibri"/>
              </a:rPr>
              <a:t>Application in Real World</a:t>
            </a:r>
            <a:endParaRPr sz="4400" b="0" i="0" u="none" strike="noStrike" cap="none" dirty="0">
              <a:latin typeface="Arial"/>
              <a:ea typeface="Arial"/>
              <a:cs typeface="Arial"/>
              <a:sym typeface="Arial"/>
            </a:endParaRPr>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u="none" strike="noStrike" cap="none" dirty="0">
                <a:solidFill>
                  <a:schemeClr val="bg1"/>
                </a:solidFill>
                <a:latin typeface="Calibri" panose="020F0502020204030204" pitchFamily="34" charset="0"/>
                <a:cs typeface="Calibri" panose="020F0502020204030204" pitchFamily="34" charset="0"/>
                <a:sym typeface="Arial"/>
              </a:rPr>
              <a:t>0 level D</a:t>
            </a:r>
            <a:r>
              <a:rPr lang="en-IN" sz="3600" b="1" u="none" strike="noStrike" cap="none" dirty="0">
                <a:solidFill>
                  <a:schemeClr val="bg1"/>
                </a:solidFill>
                <a:latin typeface="Calibri" panose="020F0502020204030204" pitchFamily="34" charset="0"/>
                <a:cs typeface="Calibri" panose="020F0502020204030204" pitchFamily="34" charset="0"/>
                <a:sym typeface="Arial"/>
              </a:rPr>
              <a:t>FD</a:t>
            </a:r>
            <a:endParaRPr lang="en-US" sz="3600" b="1" i="0" u="none" strike="noStrike" cap="none" dirty="0">
              <a:solidFill>
                <a:schemeClr val="bg1"/>
              </a:solidFill>
              <a:latin typeface="Calibri" panose="020F0502020204030204" pitchFamily="34" charset="0"/>
              <a:cs typeface="Calibri" panose="020F0502020204030204" pitchFamily="34" charset="0"/>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DC6FE588-58B4-3A0D-8DF5-0107D6290594}"/>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D828C5FB-93BD-0969-0281-F7DC4308E1D8}"/>
              </a:ext>
            </a:extLst>
          </p:cNvPr>
          <p:cNvSpPr txBox="1"/>
          <p:nvPr/>
        </p:nvSpPr>
        <p:spPr>
          <a:xfrm>
            <a:off x="351692" y="2625969"/>
            <a:ext cx="17139139" cy="3539430"/>
          </a:xfrm>
          <a:prstGeom prst="rect">
            <a:avLst/>
          </a:prstGeom>
          <a:noFill/>
        </p:spPr>
        <p:txBody>
          <a:bodyPr wrap="square" rtlCol="0">
            <a:spAutoFit/>
          </a:bodyPr>
          <a:lstStyle/>
          <a:p>
            <a:pPr marL="571500" indent="-571500"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In the real world, </a:t>
            </a: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Taste of Home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provides a platform for discovering and sharing authentic homemade 	food, bringing the comfort of home-cooked meals to users.</a:t>
            </a:r>
          </a:p>
          <a:p>
            <a:pPr marL="571500" indent="-571500" algn="l">
              <a:buFont typeface="Arial" panose="020B0604020202020204" pitchFamily="34" charset="0"/>
              <a:buChar char="•"/>
            </a:pPr>
            <a:endParaRPr lang="en-IN" sz="3200" b="0" i="0" dirty="0">
              <a:solidFill>
                <a:srgbClr val="CECAC3"/>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571500" indent="-571500"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It </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c</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ontribute to a more sustainable and localized food supply chain, promoting environmental responsibility and reducing the carbon footprint associated with food production and distribution.</a:t>
            </a:r>
          </a:p>
          <a:p>
            <a:pPr marL="571500" indent="-571500">
              <a:buFont typeface="Arial" panose="020B0604020202020204" pitchFamily="34" charset="0"/>
              <a:buChar char="•"/>
            </a:pPr>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pic>
        <p:nvPicPr>
          <p:cNvPr id="4" name="Picture 3">
            <a:extLst>
              <a:ext uri="{FF2B5EF4-FFF2-40B4-BE49-F238E27FC236}">
                <a16:creationId xmlns:a16="http://schemas.microsoft.com/office/drawing/2014/main" id="{08AA84B8-E1E0-5CC1-C22E-1E33865C7779}"/>
              </a:ext>
            </a:extLst>
          </p:cNvPr>
          <p:cNvPicPr>
            <a:picLocks noChangeAspect="1"/>
          </p:cNvPicPr>
          <p:nvPr/>
        </p:nvPicPr>
        <p:blipFill>
          <a:blip r:embed="rId3"/>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195169644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Detailed Design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References</a:t>
            </a: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2181A116-867F-F4E9-5862-CD913A604EC8}"/>
              </a:ext>
            </a:extLst>
          </p:cNvPr>
          <p:cNvSpPr txBox="1"/>
          <p:nvPr/>
        </p:nvSpPr>
        <p:spPr>
          <a:xfrm>
            <a:off x="171360" y="2656114"/>
            <a:ext cx="17898926" cy="7417415"/>
          </a:xfrm>
          <a:prstGeom prst="rect">
            <a:avLst/>
          </a:prstGeom>
          <a:noFill/>
        </p:spPr>
        <p:txBody>
          <a:bodyPr wrap="square" rtlCol="0">
            <a:spAutoFit/>
          </a:bodyPr>
          <a:lstStyle/>
          <a:p>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rPr>
              <a:t>[1] A REAL TIME WEB SERVICE SYSTEM FOR FOOD DELIVERY | Journal of Data Acquisition and Processing | 2023 | </a:t>
            </a:r>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hlinkClick r:id="rId3"/>
              </a:rPr>
              <a:t>https://sjcjycl.cn/article/view-2023/pdf/02_1628.pdf</a:t>
            </a:r>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rPr>
              <a:t>[2] Causal analysis of factors contributing to food wastage in restaurants of India | International Conference on Computational Intelligence and Sustainable Engineering Solutions (CISES) | 2023-12-27 | </a:t>
            </a:r>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hlinkClick r:id="rId4"/>
              </a:rPr>
              <a:t>https://ieeexplore.ieee.org/document/10183615</a:t>
            </a:r>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rPr>
              <a:t>[3] Food Ordering website "Cooked with care" developed using MERN stack | IEEE Xplore | 2022 | </a:t>
            </a:r>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hlinkClick r:id="rId5"/>
              </a:rPr>
              <a:t>https://www.researchgate.net/publication/361178168_Food_Ordering_website_Cooked_with_care_developed_using_MERN_stack</a:t>
            </a:r>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rPr>
              <a:t>[4] Web Based Application for Ordering Food Raw Materials | 1st International Conference on Computer Science and Artificial Intelligence | 2021 | </a:t>
            </a:r>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hlinkClick r:id="rId6"/>
              </a:rPr>
              <a:t>https://ieeexplore.ieee.org/document/9609733</a:t>
            </a:r>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rPr>
              <a:t>[5] Design of Web App for Online Food Services | International Journal for Research in Applied Science &amp; Engineering Technology (IJRASET) | May 2022 | </a:t>
            </a:r>
            <a:r>
              <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hlinkClick r:id="rId7"/>
              </a:rPr>
              <a:t>https://www.ijraset.com/research-paper/design-of-web-app-for-online-food-services</a:t>
            </a:r>
            <a:endParaRPr lang="en-IN" sz="2800"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pic>
        <p:nvPicPr>
          <p:cNvPr id="4" name="Picture 3">
            <a:extLst>
              <a:ext uri="{FF2B5EF4-FFF2-40B4-BE49-F238E27FC236}">
                <a16:creationId xmlns:a16="http://schemas.microsoft.com/office/drawing/2014/main" id="{F051A2CB-4013-BEF8-08D0-6F2C2DE44D7C}"/>
              </a:ext>
            </a:extLst>
          </p:cNvPr>
          <p:cNvPicPr>
            <a:picLocks noChangeAspect="1"/>
          </p:cNvPicPr>
          <p:nvPr/>
        </p:nvPicPr>
        <p:blipFill>
          <a:blip r:embed="rId8"/>
          <a:stretch>
            <a:fillRect/>
          </a:stretch>
        </p:blipFill>
        <p:spPr>
          <a:xfrm>
            <a:off x="14621553" y="219835"/>
            <a:ext cx="4231706" cy="2456303"/>
          </a:xfrm>
          <a:prstGeom prst="rect">
            <a:avLst/>
          </a:prstGeom>
        </p:spPr>
      </p:pic>
    </p:spTree>
    <p:extLst>
      <p:ext uri="{BB962C8B-B14F-4D97-AF65-F5344CB8AC3E}">
        <p14:creationId xmlns:p14="http://schemas.microsoft.com/office/powerpoint/2010/main" val="116882310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84"/>
        <p:cNvGrpSpPr/>
        <p:nvPr/>
      </p:nvGrpSpPr>
      <p:grpSpPr>
        <a:xfrm>
          <a:off x="0" y="0"/>
          <a:ext cx="0" cy="0"/>
          <a:chOff x="0" y="0"/>
          <a:chExt cx="0" cy="0"/>
        </a:xfrm>
      </p:grpSpPr>
      <p:sp>
        <p:nvSpPr>
          <p:cNvPr id="785" name="Google Shape;785;p16"/>
          <p:cNvSpPr/>
          <p:nvPr/>
        </p:nvSpPr>
        <p:spPr>
          <a:xfrm>
            <a:off x="1920240" y="3647160"/>
            <a:ext cx="14812920" cy="1109880"/>
          </a:xfrm>
          <a:prstGeom prst="rect">
            <a:avLst/>
          </a:prstGeom>
          <a:noFill/>
          <a:ln>
            <a:noFill/>
          </a:ln>
        </p:spPr>
        <p:txBody>
          <a:bodyPr spcFirstLastPara="1" wrap="square" lIns="0" tIns="12600" rIns="0" bIns="0" anchor="t" anchorCtr="0">
            <a:spAutoFit/>
          </a:bodyPr>
          <a:lstStyle/>
          <a:p>
            <a:pPr marL="1222920" marR="0" lvl="0" indent="-1211040" algn="ctr" rtl="0">
              <a:lnSpc>
                <a:spcPct val="100000"/>
              </a:lnSpc>
              <a:spcBef>
                <a:spcPts val="0"/>
              </a:spcBef>
              <a:spcAft>
                <a:spcPts val="0"/>
              </a:spcAft>
              <a:buClr>
                <a:srgbClr val="00318B"/>
              </a:buClr>
              <a:buSzPts val="7200"/>
              <a:buFont typeface="Calibri"/>
              <a:buNone/>
            </a:pPr>
            <a:r>
              <a:rPr lang="en-US" sz="7200" b="0" i="0" u="none" strike="noStrike" cap="none" dirty="0">
                <a:solidFill>
                  <a:srgbClr val="00318B"/>
                </a:solidFill>
                <a:latin typeface="Calibri"/>
                <a:ea typeface="Calibri"/>
                <a:cs typeface="Calibri"/>
                <a:sym typeface="Calibri"/>
              </a:rPr>
              <a:t>Thank You !!</a:t>
            </a:r>
            <a:endParaRPr sz="7200" b="0" i="0" u="none" strike="noStrike" cap="none" dirty="0">
              <a:latin typeface="Arial"/>
              <a:ea typeface="Arial"/>
              <a:cs typeface="Arial"/>
              <a:sym typeface="Arial"/>
            </a:endParaRPr>
          </a:p>
        </p:txBody>
      </p:sp>
      <p:sp>
        <p:nvSpPr>
          <p:cNvPr id="786" name="Google Shape;786;p16"/>
          <p:cNvSpPr/>
          <p:nvPr/>
        </p:nvSpPr>
        <p:spPr>
          <a:xfrm rot="10800000" flipH="1">
            <a:off x="2651760" y="4740480"/>
            <a:ext cx="13807080" cy="273600"/>
          </a:xfrm>
          <a:custGeom>
            <a:avLst/>
            <a:gdLst/>
            <a:ahLst/>
            <a:cxnLst/>
            <a:rect l="l" t="t" r="r" b="b"/>
            <a:pathLst>
              <a:path w="4686300" h="120000" extrusionOk="0">
                <a:moveTo>
                  <a:pt x="0" y="0"/>
                </a:moveTo>
                <a:lnTo>
                  <a:pt x="4686300" y="0"/>
                </a:lnTo>
              </a:path>
            </a:pathLst>
          </a:custGeom>
          <a:noFill/>
          <a:ln w="9525" cap="flat" cmpd="sng">
            <a:solidFill>
              <a:srgbClr val="002E8E"/>
            </a:solidFill>
            <a:prstDash val="solid"/>
            <a:round/>
            <a:headEnd type="none" w="sm" len="sm"/>
            <a:tailEnd type="none" w="sm" len="sm"/>
          </a:ln>
        </p:spPr>
      </p:sp>
      <p:sp>
        <p:nvSpPr>
          <p:cNvPr id="787" name="Google Shape;787;p16"/>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16"/>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16"/>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90" name="Google Shape;790;p16"/>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E0E84962-1964-DB2A-BD92-F06962832C05}"/>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D87683AF-D1BB-DA26-1F22-24E75F0A90AC}"/>
              </a:ext>
            </a:extLst>
          </p:cNvPr>
          <p:cNvPicPr>
            <a:picLocks noChangeAspect="1"/>
          </p:cNvPicPr>
          <p:nvPr/>
        </p:nvPicPr>
        <p:blipFill>
          <a:blip r:embed="rId3"/>
          <a:stretch>
            <a:fillRect/>
          </a:stretch>
        </p:blipFill>
        <p:spPr>
          <a:xfrm>
            <a:off x="14621553" y="219835"/>
            <a:ext cx="4231706" cy="245630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7.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9.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3083</TotalTime>
  <Words>3012</Words>
  <Application>Microsoft Office PowerPoint</Application>
  <PresentationFormat>Custom</PresentationFormat>
  <Paragraphs>456</Paragraphs>
  <Slides>41</Slides>
  <Notes>41</Notes>
  <HiddenSlides>1</HiddenSlides>
  <MMClips>0</MMClips>
  <ScaleCrop>false</ScaleCrop>
  <HeadingPairs>
    <vt:vector size="6" baseType="variant">
      <vt:variant>
        <vt:lpstr>Fonts Used</vt:lpstr>
      </vt:variant>
      <vt:variant>
        <vt:i4>5</vt:i4>
      </vt:variant>
      <vt:variant>
        <vt:lpstr>Theme</vt:lpstr>
      </vt:variant>
      <vt:variant>
        <vt:i4>8</vt:i4>
      </vt:variant>
      <vt:variant>
        <vt:lpstr>Slide Titles</vt:lpstr>
      </vt:variant>
      <vt:variant>
        <vt:i4>41</vt:i4>
      </vt:variant>
    </vt:vector>
  </HeadingPairs>
  <TitlesOfParts>
    <vt:vector size="54" baseType="lpstr">
      <vt:lpstr>Arial</vt:lpstr>
      <vt:lpstr>Calibri</vt:lpstr>
      <vt:lpstr>Microsoft Sans Serif</vt:lpstr>
      <vt:lpstr>Symbol</vt:lpstr>
      <vt:lpstr>Times New Roman</vt:lpstr>
      <vt:lpstr>Office Theme</vt:lpstr>
      <vt:lpstr>Office Theme</vt:lpstr>
      <vt:lpstr>Office Theme</vt:lpstr>
      <vt:lpstr>Office Theme</vt:lpstr>
      <vt:lpstr>Office Theme</vt:lpstr>
      <vt:lpstr>Office Theme</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Nisarg Gandhi</dc:creator>
  <cp:lastModifiedBy>Nisarg Gandhi</cp:lastModifiedBy>
  <cp:revision>33</cp:revision>
  <dcterms:created xsi:type="dcterms:W3CDTF">2022-03-06T10:12:11Z</dcterms:created>
  <dcterms:modified xsi:type="dcterms:W3CDTF">2024-03-14T17:05:34Z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vt:i4>
  </property>
  <property fmtid="{D5CDD505-2E9C-101B-9397-08002B2CF9AE}" pid="3" name="PresentationFormat">
    <vt:lpwstr>Custom</vt:lpwstr>
  </property>
  <property fmtid="{D5CDD505-2E9C-101B-9397-08002B2CF9AE}" pid="4" name="Slides">
    <vt:i4>11</vt:i4>
  </property>
</Properties>
</file>